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2937"/>
    <a:srgbClr val="2B384B"/>
    <a:srgbClr val="0B1220"/>
    <a:srgbClr val="000000"/>
    <a:srgbClr val="213953"/>
    <a:srgbClr val="1118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5" autoAdjust="0"/>
    <p:restoredTop sz="92017" autoAdjust="0"/>
  </p:normalViewPr>
  <p:slideViewPr>
    <p:cSldViewPr snapToGrid="0">
      <p:cViewPr varScale="1">
        <p:scale>
          <a:sx n="109" d="100"/>
          <a:sy n="109" d="100"/>
        </p:scale>
        <p:origin x="210"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各位评委、老师，大家好。我们是来自太原理工大学的MyGO!!!!!团队。</a:t>
            </a:r>
          </a:p>
          <a:p>
            <a:pPr marL="0" indent="0" algn="l">
              <a:lnSpc>
                <a:spcPct val="100000"/>
              </a:lnSpc>
            </a:pPr>
            <a:r>
              <a:rPr lang="en-US" sz="1400" b="0" i="0" u="none" strike="noStrike">
                <a:solidFill>
                  <a:srgbClr val="000000"/>
                </a:solidFill>
              </a:rPr>
              <a:t>今天我们汇报的项目是MyGO!!!!! OS，这是我们为参加2026年全国大学生计算机系统能力大赛操作系统设计赛而开发的内核项目。</a:t>
            </a:r>
          </a:p>
          <a:p>
            <a:pPr marL="0" indent="0" algn="l">
              <a:lnSpc>
                <a:spcPct val="100000"/>
              </a:lnSpc>
            </a:pPr>
            <a:r>
              <a:rPr lang="en-US" sz="1400" b="0" i="0" u="none" strike="noStrike">
                <a:solidFill>
                  <a:srgbClr val="000000"/>
                </a:solidFill>
              </a:rPr>
              <a:t>接下来我将从架构设计、核心机制及创新点三个方面展开介绍。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50789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本页为项目概述，主要展示了 MyGO!!!!! OS 的核心定位与架构设计。</a:t>
            </a:r>
          </a:p>
          <a:p>
            <a:pPr marL="0" indent="0" algn="l">
              <a:lnSpc>
                <a:spcPct val="100000"/>
              </a:lnSpc>
            </a:pPr>
            <a:r>
              <a:rPr lang="en-US" sz="1400" b="0" i="0" u="none" strike="noStrike">
                <a:solidFill>
                  <a:srgbClr val="000000"/>
                </a:solidFill>
              </a:rPr>
              <a:t>首先，项目简介部分明确了这是一款基于 Rust 语言的双架构内核，强调了工程化与架构设计的严谨性。</a:t>
            </a:r>
          </a:p>
          <a:p>
            <a:pPr marL="0" indent="0" algn="l">
              <a:lnSpc>
                <a:spcPct val="100000"/>
              </a:lnSpc>
            </a:pPr>
            <a:r>
              <a:rPr lang="en-US" sz="1400" b="0" i="0" u="none" strike="noStrike">
                <a:solidFill>
                  <a:srgbClr val="000000"/>
                </a:solidFill>
              </a:rPr>
              <a:t>左侧下方的关键数据展示了项目的技术深度：采用 Rust 与 C 混合开发，支持 RISC-V64 和 LoongArch64 主流架构，实现了超过 160 个系统调用，并兼容 DTB 与 ACPI 固件协议。</a:t>
            </a:r>
          </a:p>
          <a:p>
            <a:pPr marL="0" indent="0" algn="l">
              <a:lnSpc>
                <a:spcPct val="100000"/>
              </a:lnSpc>
            </a:pPr>
            <a:r>
              <a:rPr lang="en-US" sz="1400" b="0" i="0" u="none" strike="noStrike">
                <a:solidFill>
                  <a:srgbClr val="000000"/>
                </a:solidFill>
              </a:rPr>
              <a:t>右侧展示了核心的五层分层架构，从底层的 Libs 基础库到顶层的 Kernel 策略集成，每一层职责清晰，通过单向依赖保证了系统的稳定性与可维护性。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67630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这一页展示了系统的总体架构设计，采用了分层解耦的经典设计模式。</a:t>
            </a:r>
          </a:p>
          <a:p>
            <a:pPr marL="0" indent="0" algn="l">
              <a:lnSpc>
                <a:spcPct val="100000"/>
              </a:lnSpc>
            </a:pPr>
            <a:r>
              <a:rPr lang="en-US" sz="1400" b="0" i="0" u="none" strike="noStrike">
                <a:solidFill>
                  <a:srgbClr val="000000"/>
                </a:solidFill>
              </a:rPr>
              <a:t>1. 架构分层：系统从下至上分为 libs、general、arch、hal、kernel 五层。每一层都有明确的职责边界，libs 提供基础算法，general 定义标准接口，arch 处理硬件适配，hal 统一接口，kernel 负责策略编排。</a:t>
            </a:r>
          </a:p>
          <a:p>
            <a:pPr marL="0" indent="0" algn="l">
              <a:lnSpc>
                <a:spcPct val="100000"/>
              </a:lnSpc>
            </a:pPr>
            <a:r>
              <a:rPr lang="en-US" sz="1400" b="0" i="0" u="none" strike="noStrike">
                <a:solidFill>
                  <a:srgbClr val="000000"/>
                </a:solidFill>
              </a:rPr>
              <a:t>2. 核心约束：最关键的规则是 kernel 不直接依赖 arch 层，而是通过 hal 层进行交互，这保证了系统在更换硬件架构时，上层逻辑无需修改。</a:t>
            </a:r>
          </a:p>
          <a:p>
            <a:pPr marL="0" indent="0" algn="l">
              <a:lnSpc>
                <a:spcPct val="100000"/>
              </a:lnSpc>
            </a:pPr>
            <a:r>
              <a:rPr lang="en-US" sz="1400" b="0" i="0" u="none" strike="noStrike">
                <a:solidFill>
                  <a:srgbClr val="000000"/>
                </a:solidFill>
              </a:rPr>
              <a:t>3. 依赖规则：表格详细列出了各层的依赖关系，确保依赖单向流动，避免循环依赖。</a:t>
            </a:r>
          </a:p>
          <a:p>
            <a:pPr marL="0" indent="0" algn="l">
              <a:lnSpc>
                <a:spcPct val="100000"/>
              </a:lnSpc>
            </a:pPr>
            <a:r>
              <a:rPr lang="en-US" sz="1400" b="0" i="0" u="none" strike="noStrike">
                <a:solidFill>
                  <a:srgbClr val="000000"/>
                </a:solidFill>
              </a:rPr>
              <a:t>4. 动态注入：右侧补充了能力注入机制，通过原子指针实现运行期的动态挂载，提升了系统的灵活性。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65677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本页展示了系统的启动控制流设计。</a:t>
            </a:r>
          </a:p>
          <a:p>
            <a:pPr marL="0" indent="0" algn="l">
              <a:lnSpc>
                <a:spcPct val="100000"/>
              </a:lnSpc>
            </a:pPr>
            <a:r>
              <a:rPr lang="en-US" sz="1400" b="0" i="0" u="none" strike="noStrike">
                <a:solidFill>
                  <a:srgbClr val="000000"/>
                </a:solidFill>
              </a:rPr>
              <a:t>1. 核心流程采用了线性的流水线设计，从固件入口开始，经历早期环境搭建、架构加载器初始化，最终通过 StartContext 交接给平台无关的核心启动层。</a:t>
            </a:r>
          </a:p>
          <a:p>
            <a:pPr marL="0" indent="0" algn="l">
              <a:lnSpc>
                <a:spcPct val="100000"/>
              </a:lnSpc>
            </a:pPr>
            <a:r>
              <a:rPr lang="en-US" sz="1400" b="0" i="0" u="none" strike="noStrike">
                <a:solidFill>
                  <a:srgbClr val="000000"/>
                </a:solidFill>
              </a:rPr>
              <a:t>2. 重点强调了 StartContext 的作用：它是架构层与核心层之间唯一的“一次性事务边界”，所有架构相关的差异信息都收敛在这个上下文中。</a:t>
            </a:r>
          </a:p>
          <a:p>
            <a:pPr marL="0" indent="0" algn="l">
              <a:lnSpc>
                <a:spcPct val="100000"/>
              </a:lnSpc>
            </a:pPr>
            <a:r>
              <a:rPr lang="en-US" sz="1400" b="0" i="0" u="none" strike="noStrike">
                <a:solidFill>
                  <a:srgbClr val="000000"/>
                </a:solidFill>
              </a:rPr>
              <a:t>3. 左下角的职责矩阵详细列出了每个阶段的核心动作和产出，确保逻辑闭环。</a:t>
            </a:r>
          </a:p>
          <a:p>
            <a:pPr marL="0" indent="0" algn="l">
              <a:lnSpc>
                <a:spcPct val="100000"/>
              </a:lnSpc>
            </a:pPr>
            <a:r>
              <a:rPr lang="en-US" sz="1400" b="0" i="0" u="none" strike="noStrike">
                <a:solidFill>
                  <a:srgbClr val="000000"/>
                </a:solidFill>
              </a:rPr>
              <a:t>4. 右下角的关键决策体现了系统设计的鲁棒性和可维护性，特别是固件枚举、能力回调和电源前置等设计，保证了系统的稳定性和可扩展性。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57407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本页重点展示内存管理子系统的核心架构与设计细节</a:t>
            </a:r>
            <a:r>
              <a:rPr lang="en-US" sz="1400" b="0" i="0" u="none" strike="noStrike" dirty="0">
                <a:solidFill>
                  <a:srgbClr val="000000"/>
                </a:solidFill>
              </a:rPr>
              <a:t>。</a:t>
            </a:r>
          </a:p>
          <a:p>
            <a:pPr marL="0" indent="0" algn="l">
              <a:lnSpc>
                <a:spcPct val="100000"/>
              </a:lnSpc>
            </a:pPr>
            <a:r>
              <a:rPr lang="en-US" sz="1400" b="0" i="0" u="none" strike="noStrike" dirty="0" err="1">
                <a:solidFill>
                  <a:srgbClr val="000000"/>
                </a:solidFill>
              </a:rPr>
              <a:t>左侧展示了从用户空间到底层物理页的五层内存架构，涵盖了用户空间、对象分配层（Slab</a:t>
            </a:r>
            <a:r>
              <a:rPr lang="en-US" sz="1400" b="0" i="0" u="none" strike="noStrike" dirty="0">
                <a:solidFill>
                  <a:srgbClr val="000000"/>
                </a:solidFill>
              </a:rPr>
              <a:t>/Heap）、</a:t>
            </a:r>
            <a:r>
              <a:rPr lang="en-US" sz="1400" b="0" i="0" u="none" strike="noStrike" dirty="0" err="1">
                <a:solidFill>
                  <a:srgbClr val="000000"/>
                </a:solidFill>
              </a:rPr>
              <a:t>内核地址空间、物理页伙伴系统以及底层的启动分配层，层次分明</a:t>
            </a:r>
            <a:r>
              <a:rPr lang="en-US" sz="1400" b="0" i="0" u="none" strike="noStrike" dirty="0">
                <a:solidFill>
                  <a:srgbClr val="000000"/>
                </a:solidFill>
              </a:rPr>
              <a:t>。</a:t>
            </a:r>
          </a:p>
          <a:p>
            <a:pPr marL="0" indent="0" algn="l">
              <a:lnSpc>
                <a:spcPct val="100000"/>
              </a:lnSpc>
            </a:pPr>
            <a:r>
              <a:rPr lang="en-US" sz="1400" b="0" i="0" u="none" strike="noStrike" dirty="0" err="1">
                <a:solidFill>
                  <a:srgbClr val="000000"/>
                </a:solidFill>
              </a:rPr>
              <a:t>右上部分详细列出了分配器的锁顺序约束，这是保证系统并发安全的关键，强调了从初始化到运行期的锁获取层级</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右下部分总结了核心设计特性，包括伙伴系统的延迟合并策略、Slab的尺寸分类以及Per-CPU缓存的优化手段，这些都是提升内存分配效率的关键技术点。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33280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本页重点展示了设备模型的层级架构与驱动框架的核心设计。</a:t>
            </a:r>
          </a:p>
          <a:p>
            <a:pPr marL="0" indent="0" algn="l">
              <a:lnSpc>
                <a:spcPct val="100000"/>
              </a:lnSpc>
            </a:pPr>
            <a:r>
              <a:rPr lang="en-US" sz="1400" b="0" i="0" u="none" strike="noStrike">
                <a:solidFill>
                  <a:srgbClr val="000000"/>
                </a:solidFill>
              </a:rPr>
              <a:t>1. 上部展示了以 DeviceFunction 为中心的五层金字塔模型，从底层的硬件发现到顶层的用户态投影，实现了硬件资源的逐层抽象与标准化。特别需要注意的是右侧的 PnP 状态机，它规范了设备从发现到销毁的全生命周期管理。</a:t>
            </a:r>
          </a:p>
          <a:p>
            <a:pPr marL="0" indent="0" algn="l">
              <a:lnSpc>
                <a:spcPct val="100000"/>
              </a:lnSpc>
            </a:pPr>
            <a:r>
              <a:rPr lang="en-US" sz="1400" b="0" i="0" u="none" strike="noStrike">
                <a:solidFill>
                  <a:srgbClr val="000000"/>
                </a:solidFill>
              </a:rPr>
              <a:t>2. 下部的“设备功能四轨”详细列出了内核中最核心的四类设备类型：字符、块、网络和 RTC。通过统一的类型化对象和核心语义契约，内核子系统（如 VFS、协议栈）可以透明地访问硬件，而无需关心具体的硬件实现细节。</a:t>
            </a:r>
          </a:p>
          <a:p>
            <a:pPr marL="0" indent="0" algn="l">
              <a:lnSpc>
                <a:spcPct val="100000"/>
              </a:lnSpc>
            </a:pPr>
            <a:r>
              <a:rPr lang="en-US" sz="1400" b="0" i="0" u="none" strike="noStrike">
                <a:solidFill>
                  <a:srgbClr val="000000"/>
                </a:solidFill>
              </a:rPr>
              <a:t>3. 全局注册表机制确保了设备命名空间的唯一性，而 DriverControl 接口则统一了设备的控制面交互。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54981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这一页我们深入探讨Linux虚拟文件系统（VFS）的核心架构。</a:t>
            </a:r>
          </a:p>
          <a:p>
            <a:pPr marL="0" indent="0" algn="l">
              <a:lnSpc>
                <a:spcPct val="100000"/>
              </a:lnSpc>
            </a:pPr>
            <a:r>
              <a:rPr lang="en-US" sz="1400" b="0" i="0" u="none" strike="noStrike">
                <a:solidFill>
                  <a:srgbClr val="000000"/>
                </a:solidFill>
              </a:rPr>
              <a:t>首先看上部分的五层架构，VFS通过POSIX系统调用层提供了统一的接口，向下通过进程状态管理、核心对象抽象、具体文件系统驱动，最终对接到底层的存储设备。这种分层设计屏蔽了底层硬件和文件系统的差异。</a:t>
            </a:r>
          </a:p>
          <a:p>
            <a:pPr marL="0" indent="0" algn="l">
              <a:lnSpc>
                <a:spcPct val="100000"/>
              </a:lnSpc>
            </a:pPr>
            <a:r>
              <a:rPr lang="en-US" sz="1400" b="0" i="0" u="none" strike="noStrike">
                <a:solidFill>
                  <a:srgbClr val="000000"/>
                </a:solidFill>
              </a:rPr>
              <a:t>左下角的表格展示了VFS的核心对象模型。其中，Inode代表文件的元数据，Dentry负责路径解析，File代表进程打开的文件实例，Superblock代表文件系统实例，Mount管理挂载点。这种“三层分离”的模型（目录项、索引节点、文件对象）是VFS设计的精髓。</a:t>
            </a:r>
          </a:p>
          <a:p>
            <a:pPr marL="0" indent="0" algn="l">
              <a:lnSpc>
                <a:spcPct val="100000"/>
              </a:lnSpc>
            </a:pPr>
            <a:r>
              <a:rPr lang="en-US" sz="1400" b="0" i="0" u="none" strike="noStrike">
                <a:solidFill>
                  <a:srgbClr val="000000"/>
                </a:solidFill>
              </a:rPr>
              <a:t>右下角是关键的设计亮点。特别值得注意的是“能力冻结”机制，通过在打开文件时进行凭据快照，有效解决了时间检查与时间使用（TOCTOU）的安全漏洞。同时，Dentry缓存机制和挂载命名空间的设计，保证了系统的高效性和隔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36889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这一页PPT展示了内核中进程与线程管理的核心架构</a:t>
            </a:r>
            <a:r>
              <a:rPr lang="en-US" sz="1400" b="0" i="0" u="none" strike="noStrike" dirty="0">
                <a:solidFill>
                  <a:srgbClr val="000000"/>
                </a:solidFill>
              </a:rPr>
              <a:t>。</a:t>
            </a:r>
          </a:p>
          <a:p>
            <a:pPr marL="0" indent="0" algn="l">
              <a:lnSpc>
                <a:spcPct val="100000"/>
              </a:lnSpc>
            </a:pPr>
            <a:r>
              <a:rPr lang="en-US" sz="1400" b="0" i="0" u="none" strike="noStrike" dirty="0" err="1">
                <a:solidFill>
                  <a:srgbClr val="000000"/>
                </a:solidFill>
              </a:rPr>
              <a:t>首先，在设计理念上，我们采用了统一的</a:t>
            </a:r>
            <a:r>
              <a:rPr lang="en-US" sz="1400" b="0" i="0" u="none" strike="noStrike" dirty="0">
                <a:solidFill>
                  <a:srgbClr val="000000"/>
                </a:solidFill>
              </a:rPr>
              <a:t> Task </a:t>
            </a:r>
            <a:r>
              <a:rPr lang="en-US" sz="1400" b="0" i="0" u="none" strike="noStrike" dirty="0" err="1">
                <a:solidFill>
                  <a:srgbClr val="000000"/>
                </a:solidFill>
              </a:rPr>
              <a:t>对象模型。这意味着，在操作系统内核层面，进程和线程不再是截然不同的实体，它们的区别仅仅在于创建时</a:t>
            </a:r>
            <a:r>
              <a:rPr lang="en-US" sz="1400" b="0" i="0" u="none" strike="noStrike" dirty="0">
                <a:solidFill>
                  <a:srgbClr val="000000"/>
                </a:solidFill>
              </a:rPr>
              <a:t> clone </a:t>
            </a:r>
            <a:r>
              <a:rPr lang="en-US" sz="1400" b="0" i="0" u="none" strike="noStrike" dirty="0" err="1">
                <a:solidFill>
                  <a:srgbClr val="000000"/>
                </a:solidFill>
              </a:rPr>
              <a:t>标志位的设置（即哪些资源是共享的，哪些是独立的</a:t>
            </a:r>
            <a:r>
              <a:rPr lang="en-US" sz="1400" b="0" i="0" u="none" strike="noStrike" dirty="0">
                <a:solidFill>
                  <a:srgbClr val="000000"/>
                </a:solidFill>
              </a:rPr>
              <a:t>）。PID </a:t>
            </a:r>
            <a:r>
              <a:rPr lang="en-US" sz="1400" b="0" i="0" u="none" strike="noStrike" dirty="0" err="1">
                <a:solidFill>
                  <a:srgbClr val="000000"/>
                </a:solidFill>
              </a:rPr>
              <a:t>也不再是核心调度的关键，而是降级为了</a:t>
            </a:r>
            <a:r>
              <a:rPr lang="en-US" sz="1400" b="0" i="0" u="none" strike="noStrike" dirty="0">
                <a:solidFill>
                  <a:srgbClr val="000000"/>
                </a:solidFill>
              </a:rPr>
              <a:t> ABI </a:t>
            </a:r>
            <a:r>
              <a:rPr lang="en-US" sz="1400" b="0" i="0" u="none" strike="noStrike" dirty="0" err="1">
                <a:solidFill>
                  <a:srgbClr val="000000"/>
                </a:solidFill>
              </a:rPr>
              <a:t>兼容层的概念</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在 Task </a:t>
            </a:r>
            <a:r>
              <a:rPr lang="en-US" sz="1400" b="0" i="0" u="none" strike="noStrike" dirty="0" err="1">
                <a:solidFill>
                  <a:srgbClr val="000000"/>
                </a:solidFill>
              </a:rPr>
              <a:t>对象的内部结构中，我们将其分为了几个关键部分</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1. </a:t>
            </a:r>
            <a:r>
              <a:rPr lang="en-US" sz="1400" b="0" i="0" u="none" strike="noStrike" dirty="0" err="1">
                <a:solidFill>
                  <a:srgbClr val="000000"/>
                </a:solidFill>
              </a:rPr>
              <a:t>调度实体（SchedEntity</a:t>
            </a:r>
            <a:r>
              <a:rPr lang="en-US" sz="1400" b="0" i="0" u="none" strike="noStrike" dirty="0">
                <a:solidFill>
                  <a:srgbClr val="000000"/>
                </a:solidFill>
              </a:rPr>
              <a:t>）：</a:t>
            </a:r>
            <a:r>
              <a:rPr lang="en-US" sz="1400" b="0" i="0" u="none" strike="noStrike" dirty="0" err="1">
                <a:solidFill>
                  <a:srgbClr val="000000"/>
                </a:solidFill>
              </a:rPr>
              <a:t>负责优先级、时间片等调度相关的数据</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2. </a:t>
            </a:r>
            <a:r>
              <a:rPr lang="en-US" sz="1400" b="0" i="0" u="none" strike="noStrike" dirty="0" err="1">
                <a:solidFill>
                  <a:srgbClr val="000000"/>
                </a:solidFill>
              </a:rPr>
              <a:t>状态管理（TaskState</a:t>
            </a:r>
            <a:r>
              <a:rPr lang="en-US" sz="1400" b="0" i="0" u="none" strike="noStrike" dirty="0">
                <a:solidFill>
                  <a:srgbClr val="000000"/>
                </a:solidFill>
              </a:rPr>
              <a:t>）：</a:t>
            </a:r>
            <a:r>
              <a:rPr lang="en-US" sz="1400" b="0" i="0" u="none" strike="noStrike" dirty="0" err="1">
                <a:solidFill>
                  <a:srgbClr val="000000"/>
                </a:solidFill>
              </a:rPr>
              <a:t>原子化的状态标识，控制任务的生命周期流转</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3. </a:t>
            </a:r>
            <a:r>
              <a:rPr lang="en-US" sz="1400" b="0" i="0" u="none" strike="noStrike" dirty="0" err="1">
                <a:solidFill>
                  <a:srgbClr val="000000"/>
                </a:solidFill>
              </a:rPr>
              <a:t>关系网络（Relations</a:t>
            </a:r>
            <a:r>
              <a:rPr lang="en-US" sz="1400" b="0" i="0" u="none" strike="noStrike" dirty="0">
                <a:solidFill>
                  <a:srgbClr val="000000"/>
                </a:solidFill>
              </a:rPr>
              <a:t>）：</a:t>
            </a:r>
            <a:r>
              <a:rPr lang="en-US" sz="1400" b="0" i="0" u="none" strike="noStrike" dirty="0" err="1">
                <a:solidFill>
                  <a:srgbClr val="000000"/>
                </a:solidFill>
              </a:rPr>
              <a:t>维护父子进程关系和进程组归属</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4. </a:t>
            </a:r>
            <a:r>
              <a:rPr lang="en-US" sz="1400" b="0" i="0" u="none" strike="noStrike" dirty="0" err="1">
                <a:solidFill>
                  <a:srgbClr val="000000"/>
                </a:solidFill>
              </a:rPr>
              <a:t>安全凭据（Credentials</a:t>
            </a:r>
            <a:r>
              <a:rPr lang="en-US" sz="1400" b="0" i="0" u="none" strike="noStrike" dirty="0">
                <a:solidFill>
                  <a:srgbClr val="000000"/>
                </a:solidFill>
              </a:rPr>
              <a:t>）：</a:t>
            </a:r>
            <a:r>
              <a:rPr lang="en-US" sz="1400" b="0" i="0" u="none" strike="noStrike" dirty="0" err="1">
                <a:solidFill>
                  <a:srgbClr val="000000"/>
                </a:solidFill>
              </a:rPr>
              <a:t>采用不可变快照的设计，确保权限管理的安全性</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5. </a:t>
            </a:r>
            <a:r>
              <a:rPr lang="en-US" sz="1400" b="0" i="0" u="none" strike="noStrike" dirty="0" err="1">
                <a:solidFill>
                  <a:srgbClr val="000000"/>
                </a:solidFill>
              </a:rPr>
              <a:t>资源扩展（HotTaskExt</a:t>
            </a:r>
            <a:r>
              <a:rPr lang="en-US" sz="1400" b="0" i="0" u="none" strike="noStrike" dirty="0">
                <a:solidFill>
                  <a:srgbClr val="000000"/>
                </a:solidFill>
              </a:rPr>
              <a:t>）：</a:t>
            </a:r>
            <a:r>
              <a:rPr lang="en-US" sz="1400" b="0" i="0" u="none" strike="noStrike" dirty="0" err="1">
                <a:solidFill>
                  <a:srgbClr val="000000"/>
                </a:solidFill>
              </a:rPr>
              <a:t>挂载</a:t>
            </a:r>
            <a:r>
              <a:rPr lang="en-US" sz="1400" b="0" i="0" u="none" strike="noStrike" dirty="0">
                <a:solidFill>
                  <a:srgbClr val="000000"/>
                </a:solidFill>
              </a:rPr>
              <a:t> </a:t>
            </a:r>
            <a:r>
              <a:rPr lang="en-US" sz="1400" b="0" i="0" u="none" strike="noStrike" dirty="0" err="1">
                <a:solidFill>
                  <a:srgbClr val="000000"/>
                </a:solidFill>
              </a:rPr>
              <a:t>VFS、文件描述符表和虚拟内存空间等核心资源</a:t>
            </a:r>
            <a:r>
              <a:rPr lang="en-US" sz="1400" b="0" i="0" u="none" strike="noStrike" dirty="0">
                <a:solidFill>
                  <a:srgbClr val="000000"/>
                </a:solidFill>
              </a:rPr>
              <a:t>。</a:t>
            </a:r>
          </a:p>
          <a:p>
            <a:pPr marL="0" indent="0" algn="l">
              <a:lnSpc>
                <a:spcPct val="100000"/>
              </a:lnSpc>
            </a:pPr>
            <a:r>
              <a:rPr lang="en-US" sz="1400" b="0" i="0" u="none" strike="noStrike" dirty="0">
                <a:solidFill>
                  <a:srgbClr val="000000"/>
                </a:solidFill>
              </a:rPr>
              <a:t>6. </a:t>
            </a:r>
            <a:r>
              <a:rPr lang="en-US" sz="1400" b="0" i="0" u="none" strike="noStrike" dirty="0" err="1">
                <a:solidFill>
                  <a:srgbClr val="000000"/>
                </a:solidFill>
              </a:rPr>
              <a:t>动态扩展向量（ExtVector</a:t>
            </a:r>
            <a:r>
              <a:rPr lang="en-US" sz="1400" b="0" i="0" u="none" strike="noStrike" dirty="0">
                <a:solidFill>
                  <a:srgbClr val="000000"/>
                </a:solidFill>
              </a:rPr>
              <a:t>）：</a:t>
            </a:r>
            <a:r>
              <a:rPr lang="en-US" sz="1400" b="0" i="0" u="none" strike="noStrike" dirty="0" err="1">
                <a:solidFill>
                  <a:srgbClr val="000000"/>
                </a:solidFill>
              </a:rPr>
              <a:t>提供了灵活的子系统挂载点</a:t>
            </a:r>
            <a:r>
              <a:rPr lang="en-US" sz="1400" b="0" i="0" u="none" strike="noStrike" dirty="0">
                <a:solidFill>
                  <a:srgbClr val="000000"/>
                </a:solidFill>
              </a:rPr>
              <a:t>。</a:t>
            </a:r>
          </a:p>
          <a:p>
            <a:pPr marL="0" indent="0" algn="l">
              <a:lnSpc>
                <a:spcPct val="100000"/>
              </a:lnSpc>
            </a:pPr>
            <a:r>
              <a:rPr lang="en-US" sz="1400" b="0" i="0" u="none" strike="noStrike" dirty="0" err="1">
                <a:solidFill>
                  <a:srgbClr val="000000"/>
                </a:solidFill>
              </a:rPr>
              <a:t>在页面下方，我们列出了任务的状态机流转和核心设计策略，强调了通过</a:t>
            </a:r>
            <a:r>
              <a:rPr lang="en-US" sz="1400" b="0" i="0" u="none" strike="noStrike" dirty="0">
                <a:solidFill>
                  <a:srgbClr val="000000"/>
                </a:solidFill>
              </a:rPr>
              <a:t> Arc </a:t>
            </a:r>
            <a:r>
              <a:rPr lang="en-US" sz="1400" b="0" i="0" u="none" strike="noStrike" dirty="0" err="1">
                <a:solidFill>
                  <a:srgbClr val="000000"/>
                </a:solidFill>
              </a:rPr>
              <a:t>智能指针管理对象生命周期、通过钩子机制解耦核心与子系统、以及通过不可变凭据确保安全的设计思路</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870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本页重点阐述了并发编程中核心的同步原语及其适用边界，以及关键的上下文限制与锁序规则。</a:t>
            </a:r>
          </a:p>
          <a:p>
            <a:pPr marL="0" indent="0" algn="l">
              <a:lnSpc>
                <a:spcPct val="100000"/>
              </a:lnSpc>
            </a:pPr>
            <a:r>
              <a:rPr lang="en-US" sz="1400" b="0" i="0" u="none" strike="noStrike">
                <a:solidFill>
                  <a:srgbClr val="000000"/>
                </a:solidFill>
              </a:rPr>
              <a:t>1. 同步原语对比：</a:t>
            </a:r>
          </a:p>
          <a:p>
            <a:pPr marL="0" indent="0" algn="l">
              <a:lnSpc>
                <a:spcPct val="100000"/>
              </a:lnSpc>
            </a:pPr>
            <a:r>
              <a:rPr lang="en-US" sz="1400" b="0" i="0" u="none" strike="noStrike">
                <a:solidFill>
                  <a:srgbClr val="000000"/>
                </a:solidFill>
              </a:rPr>
              <a:t>- 自旋锁（Spinlock）：适用于极短临界区，如中断上下文，禁止睡眠。</a:t>
            </a:r>
          </a:p>
          <a:p>
            <a:pPr marL="0" indent="0" algn="l">
              <a:lnSpc>
                <a:spcPct val="100000"/>
              </a:lnSpc>
            </a:pPr>
            <a:r>
              <a:rPr lang="en-US" sz="1400" b="0" i="0" u="none" strike="noStrike">
                <a:solidFill>
                  <a:srgbClr val="000000"/>
                </a:solidFill>
              </a:rPr>
              <a:t>- 互斥锁（Mutex）：适用于较长临界区，仅进程上下文可用，支持睡眠。</a:t>
            </a:r>
          </a:p>
          <a:p>
            <a:pPr marL="0" indent="0" algn="l">
              <a:lnSpc>
                <a:spcPct val="100000"/>
              </a:lnSpc>
            </a:pPr>
            <a:r>
              <a:rPr lang="en-US" sz="1400" b="0" i="0" u="none" strike="noStrike">
                <a:solidFill>
                  <a:srgbClr val="000000"/>
                </a:solidFill>
              </a:rPr>
              <a:t>- 等待队列（WaitQueue）：用于事件等待，必须配合锁使用。</a:t>
            </a:r>
          </a:p>
          <a:p>
            <a:pPr marL="0" indent="0" algn="l">
              <a:lnSpc>
                <a:spcPct val="100000"/>
              </a:lnSpc>
            </a:pPr>
            <a:r>
              <a:rPr lang="en-US" sz="1400" b="0" i="0" u="none" strike="noStrike">
                <a:solidFill>
                  <a:srgbClr val="000000"/>
                </a:solidFill>
              </a:rPr>
              <a:t>2. 关键实现细节：</a:t>
            </a:r>
          </a:p>
          <a:p>
            <a:pPr marL="0" indent="0" algn="l">
              <a:lnSpc>
                <a:spcPct val="100000"/>
              </a:lnSpc>
            </a:pPr>
            <a:r>
              <a:rPr lang="en-US" sz="1400" b="0" i="0" u="none" strike="noStrike">
                <a:solidFill>
                  <a:srgbClr val="000000"/>
                </a:solidFill>
              </a:rPr>
              <a:t>- 自旋锁使用TTAS策略减少总线竞争；互斥锁采用快速路径CAS和慢路径队列结合的方式。</a:t>
            </a:r>
          </a:p>
          <a:p>
            <a:pPr marL="0" indent="0" algn="l">
              <a:lnSpc>
                <a:spcPct val="100000"/>
              </a:lnSpc>
            </a:pPr>
            <a:r>
              <a:rPr lang="en-US" sz="1400" b="0" i="0" u="none" strike="noStrike">
                <a:solidFill>
                  <a:srgbClr val="000000"/>
                </a:solidFill>
              </a:rPr>
              <a:t>3. 核心规则：</a:t>
            </a:r>
          </a:p>
          <a:p>
            <a:pPr marL="0" indent="0" algn="l">
              <a:lnSpc>
                <a:spcPct val="100000"/>
              </a:lnSpc>
            </a:pPr>
            <a:r>
              <a:rPr lang="en-US" sz="1400" b="0" i="0" u="none" strike="noStrike">
                <a:solidFill>
                  <a:srgbClr val="000000"/>
                </a:solidFill>
              </a:rPr>
              <a:t>- 严格遵守锁序，防止嵌套死锁；特别是运行队列锁和可睡眠锁的顺序。</a:t>
            </a:r>
          </a:p>
          <a:p>
            <a:pPr marL="0" indent="0" algn="l">
              <a:lnSpc>
                <a:spcPct val="100000"/>
              </a:lnSpc>
            </a:pPr>
            <a:r>
              <a:rPr lang="en-US" sz="1400" b="0" i="0" u="none" strike="noStrike">
                <a:solidFill>
                  <a:srgbClr val="000000"/>
                </a:solidFill>
              </a:rPr>
              <a:t>- 遵循“锁内摘取，锁外释放”原则，避免在持有锁期间执行可能阻塞的操作。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3618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这一页PPT主要介绍了系统的异常处理机制，采用了深色主题以突出技术细节。</a:t>
            </a:r>
          </a:p>
          <a:p>
            <a:pPr marL="0" indent="0" algn="l">
              <a:lnSpc>
                <a:spcPct val="100000"/>
              </a:lnSpc>
            </a:pPr>
            <a:r>
              <a:rPr lang="en-US" sz="1400" b="0" i="0" u="none" strike="noStrike">
                <a:solidFill>
                  <a:srgbClr val="000000"/>
                </a:solidFill>
              </a:rPr>
              <a:t>1. 上部展示了双架构统一的异常处理框架，从硬件入口到分发层，再到具体的分支处理，最后汇聚到返回前的安全点。这个安全点非常关键，负责信号投递和调度让出。</a:t>
            </a:r>
          </a:p>
          <a:p>
            <a:pPr marL="0" indent="0" algn="l">
              <a:lnSpc>
                <a:spcPct val="100000"/>
              </a:lnSpc>
            </a:pPr>
            <a:r>
              <a:rPr lang="en-US" sz="1400" b="0" i="0" u="none" strike="noStrike">
                <a:solidFill>
                  <a:srgbClr val="000000"/>
                </a:solidFill>
              </a:rPr>
              <a:t>2. 下部左侧详细列出了异常类型的分类，包括系统调用、缺页、中断等，明确了各自的来源和处理策略，特别是区分了用户态和内核态的不同处理逻辑。</a:t>
            </a:r>
          </a:p>
          <a:p>
            <a:pPr marL="0" indent="0" algn="l">
              <a:lnSpc>
                <a:spcPct val="100000"/>
              </a:lnSpc>
            </a:pPr>
            <a:r>
              <a:rPr lang="en-US" sz="1400" b="0" i="0" u="none" strike="noStrike">
                <a:solidFill>
                  <a:srgbClr val="000000"/>
                </a:solidFill>
              </a:rPr>
              <a:t>3. 下部右侧总结了关键的设计决策，重点在于“快速路径与完整路径分离”以提升性能，以及“返回前安全点”的统一设计，确保了系统的安全性和一致性。同时，通过显式用户访问窗口和错误转换机制，增强了系统的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64424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本页重点介绍用户态执行环境的构建过程，主要包含ELF装载的阶段化流程和用户地址空间的布局。</a:t>
            </a:r>
          </a:p>
          <a:p>
            <a:pPr marL="0" indent="0" algn="l">
              <a:lnSpc>
                <a:spcPct val="100000"/>
              </a:lnSpc>
            </a:pPr>
            <a:r>
              <a:rPr lang="en-US" sz="1400" b="0" i="0" u="none" strike="noStrike">
                <a:solidFill>
                  <a:srgbClr val="000000"/>
                </a:solidFill>
              </a:rPr>
              <a:t>1. 阶段化ELF装载：采用事务性execve机制，分为请求、解析、加载完成三个阶段。只有当新的VmSpace完全构造成功后，才会替换旧的地址空间，避免系统不稳定。</a:t>
            </a:r>
          </a:p>
          <a:p>
            <a:pPr marL="0" indent="0" algn="l">
              <a:lnSpc>
                <a:spcPct val="100000"/>
              </a:lnSpc>
            </a:pPr>
            <a:r>
              <a:rPr lang="en-US" sz="1400" b="0" i="0" u="none" strike="noStrike">
                <a:solidFill>
                  <a:srgbClr val="000000"/>
                </a:solidFill>
              </a:rPr>
              <a:t>2. 用户地址空间布局：从低地址到高地址依次为保留区、程序映像、堆、MMap区、vDSO和用户栈。其中堆向上生长，栈向下生长，中间的MMap区用于动态库映射。</a:t>
            </a:r>
          </a:p>
          <a:p>
            <a:pPr marL="0" indent="0" algn="l">
              <a:lnSpc>
                <a:spcPct val="100000"/>
              </a:lnSpc>
            </a:pPr>
            <a:r>
              <a:rPr lang="en-US" sz="1400" b="0" i="0" u="none" strike="noStrike">
                <a:solidFill>
                  <a:srgbClr val="000000"/>
                </a:solidFill>
              </a:rPr>
              <a:t>3. 关键校验：内核在装载时会进行严格的合法性校验，包括文件头魔数、权限、段重叠等，任何一项失败都会返回对应的错误码。</a:t>
            </a:r>
          </a:p>
          <a:p>
            <a:pPr marL="0" indent="0" algn="l">
              <a:lnSpc>
                <a:spcPct val="100000"/>
              </a:lnSpc>
            </a:pPr>
            <a:r>
              <a:rPr lang="en-US" sz="1400" b="0" i="0" u="none" strike="noStrike">
                <a:solidFill>
                  <a:srgbClr val="000000"/>
                </a:solidFill>
              </a:rPr>
              <a:t>4. 辅助向量：内核通过辅助向量(auxv)向用户态传递关键信息，如程序头位置、入口地址、随机数种子等，是用户态程序启动的重要基石。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74919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本页PPT主要展示了Linux内核中信号的异步处理机制。</a:t>
            </a:r>
          </a:p>
          <a:p>
            <a:pPr marL="0" indent="0" algn="l">
              <a:lnSpc>
                <a:spcPct val="100000"/>
              </a:lnSpc>
            </a:pPr>
            <a:r>
              <a:rPr lang="en-US" sz="1400" b="0" i="0" u="none" strike="noStrike">
                <a:solidFill>
                  <a:srgbClr val="000000"/>
                </a:solidFill>
              </a:rPr>
              <a:t>1. 上半部分展示了信号从产生到恢复的完整生命周期。关键在于内核如何构造信号帧，修改用户栈，并安全地切换到用户态执行信号处理函数，最后通过rt_sigreturn系统调用恢复现场。</a:t>
            </a:r>
          </a:p>
          <a:p>
            <a:pPr marL="0" indent="0" algn="l">
              <a:lnSpc>
                <a:spcPct val="100000"/>
              </a:lnSpc>
            </a:pPr>
            <a:r>
              <a:rPr lang="en-US" sz="1400" b="0" i="0" u="none" strike="noStrike">
                <a:solidFill>
                  <a:srgbClr val="000000"/>
                </a:solidFill>
              </a:rPr>
              <a:t>2. 左下角的表格列出了主要的信号发送入口，强调了从kill到pidfd_send_signal的演进，特别是pidfd的引入解决了PID复用的经典竞态问题。</a:t>
            </a:r>
          </a:p>
          <a:p>
            <a:pPr marL="0" indent="0" algn="l">
              <a:lnSpc>
                <a:spcPct val="100000"/>
              </a:lnSpc>
            </a:pPr>
            <a:r>
              <a:rPr lang="en-US" sz="1400" b="0" i="0" u="none" strike="noStrike">
                <a:solidFill>
                  <a:srgbClr val="000000"/>
                </a:solidFill>
              </a:rPr>
              <a:t>3. 右下角分析了内核的状态管理模型，区分了线程私有状态和进程共享状态，并阐述了系统调用重启和备用栈等关键设计细节，保证了信号处理的健壮性。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29602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本页PPT主要展示了系统中日志控制台与网络子系统的核心架构。</a:t>
            </a:r>
          </a:p>
          <a:p>
            <a:pPr marL="0" indent="0" algn="l">
              <a:lnSpc>
                <a:spcPct val="100000"/>
              </a:lnSpc>
            </a:pPr>
            <a:r>
              <a:rPr lang="en-US" sz="1400" b="0" i="0" u="none" strike="noStrike">
                <a:solidFill>
                  <a:srgbClr val="000000"/>
                </a:solidFill>
              </a:rPr>
              <a:t>左侧聚焦日志与TTY输出链路：</a:t>
            </a:r>
          </a:p>
          <a:p>
            <a:pPr marL="0" indent="0" algn="l">
              <a:lnSpc>
                <a:spcPct val="100000"/>
              </a:lnSpc>
            </a:pPr>
            <a:r>
              <a:rPr lang="en-US" sz="1400" b="0" i="0" u="none" strike="noStrike">
                <a:solidFill>
                  <a:srgbClr val="000000"/>
                </a:solidFill>
              </a:rPr>
              <a:t>1. 早期阶段：使用 Early Printk，直接映射硬件寄存器，是系统最早期的输出手段。</a:t>
            </a:r>
          </a:p>
          <a:p>
            <a:pPr marL="0" indent="0" algn="l">
              <a:lnSpc>
                <a:spcPct val="100000"/>
              </a:lnSpc>
            </a:pPr>
            <a:r>
              <a:rPr lang="en-US" sz="1400" b="0" i="0" u="none" strike="noStrike">
                <a:solidFill>
                  <a:srgbClr val="000000"/>
                </a:solidFill>
              </a:rPr>
              <a:t>2. 中期阶段：设备模型就绪后，注册 CharDevice 字符设备，规范化管理 /dev/console。</a:t>
            </a:r>
          </a:p>
          <a:p>
            <a:pPr marL="0" indent="0" algn="l">
              <a:lnSpc>
                <a:spcPct val="100000"/>
              </a:lnSpc>
            </a:pPr>
            <a:r>
              <a:rPr lang="en-US" sz="1400" b="0" i="0" u="none" strike="noStrike">
                <a:solidFill>
                  <a:srgbClr val="000000"/>
                </a:solidFill>
              </a:rPr>
              <a:t>3. 用户态阶段：对接 getty 和 login 进程，实现终端会话管理。</a:t>
            </a:r>
          </a:p>
          <a:p>
            <a:pPr marL="0" indent="0" algn="l">
              <a:lnSpc>
                <a:spcPct val="100000"/>
              </a:lnSpc>
            </a:pPr>
            <a:r>
              <a:rPr lang="en-US" sz="1400" b="0" i="0" u="none" strike="noStrike">
                <a:solidFill>
                  <a:srgbClr val="000000"/>
                </a:solidFill>
              </a:rPr>
              <a:t>同时，TTY输入泵采用中断触发与内核线程结合的机制，确保了输入处理的原子性与稳定性，并提供了信号映射和行缓冲等关键特性。</a:t>
            </a:r>
          </a:p>
          <a:p>
            <a:pPr marL="0" indent="0" algn="l">
              <a:lnSpc>
                <a:spcPct val="100000"/>
              </a:lnSpc>
            </a:pPr>
            <a:r>
              <a:rPr lang="en-US" sz="1400" b="0" i="0" u="none" strike="noStrike">
                <a:solidFill>
                  <a:srgbClr val="000000"/>
                </a:solidFill>
              </a:rPr>
              <a:t>右侧展示了网络子系统的分层架构：</a:t>
            </a:r>
          </a:p>
          <a:p>
            <a:pPr marL="0" indent="0" algn="l">
              <a:lnSpc>
                <a:spcPct val="100000"/>
              </a:lnSpc>
            </a:pPr>
            <a:r>
              <a:rPr lang="en-US" sz="1400" b="0" i="0" u="none" strike="noStrike">
                <a:solidFill>
                  <a:srgbClr val="000000"/>
                </a:solidFill>
              </a:rPr>
              <a:t>1. 最上层是 POSIX 标准系统调用，提供统一接口。</a:t>
            </a:r>
          </a:p>
          <a:p>
            <a:pPr marL="0" indent="0" algn="l">
              <a:lnSpc>
                <a:spcPct val="100000"/>
              </a:lnSpc>
            </a:pPr>
            <a:r>
              <a:rPr lang="en-US" sz="1400" b="0" i="0" u="none" strike="noStrike">
                <a:solidFill>
                  <a:srgbClr val="000000"/>
                </a:solidFill>
              </a:rPr>
              <a:t>2. VFS 层将套接字抽象为文件描述符，复用了文件系统的基础设施。</a:t>
            </a:r>
          </a:p>
          <a:p>
            <a:pPr marL="0" indent="0" algn="l">
              <a:lnSpc>
                <a:spcPct val="100000"/>
              </a:lnSpc>
            </a:pPr>
            <a:r>
              <a:rPr lang="en-US" sz="1400" b="0" i="0" u="none" strike="noStrike">
                <a:solidFill>
                  <a:srgbClr val="000000"/>
                </a:solidFill>
              </a:rPr>
              <a:t>3. 核心是 NetStack 协议栈，集成 smoltcp 处理复杂的网络协议逻辑。</a:t>
            </a:r>
          </a:p>
          <a:p>
            <a:pPr marL="0" indent="0" algn="l">
              <a:lnSpc>
                <a:spcPct val="100000"/>
              </a:lnSpc>
            </a:pPr>
            <a:r>
              <a:rPr lang="en-US" sz="1400" b="0" i="0" u="none" strike="noStrike">
                <a:solidFill>
                  <a:srgbClr val="000000"/>
                </a:solidFill>
              </a:rPr>
              <a:t>4. 底层分为 ManagedInterface 逻辑接口层和 NetDriver 硬件驱动层，实现了软硬分离，适配 VirtIO 和物理网卡。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19385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本页重点展示了项目的工程总结与核心创新点，同时也客观分析了当前存在的不足。</a:t>
            </a:r>
          </a:p>
          <a:p>
            <a:pPr marL="0" indent="0" algn="l">
              <a:lnSpc>
                <a:spcPct val="100000"/>
              </a:lnSpc>
            </a:pPr>
            <a:r>
              <a:rPr lang="en-US" sz="1400" b="0" i="0" u="none" strike="noStrike">
                <a:solidFill>
                  <a:srgbClr val="000000"/>
                </a:solidFill>
              </a:rPr>
              <a:t>在创新点方面，我们主要实现了四个突破：</a:t>
            </a:r>
          </a:p>
          <a:p>
            <a:pPr marL="0" indent="0" algn="l">
              <a:lnSpc>
                <a:spcPct val="100000"/>
              </a:lnSpc>
            </a:pPr>
            <a:r>
              <a:rPr lang="en-US" sz="1400" b="0" i="0" u="none" strike="noStrike">
                <a:solidFill>
                  <a:srgbClr val="000000"/>
                </a:solidFill>
              </a:rPr>
              <a:t>1. 启动上下文：通过单次事务化处理，确保了启动过程的可验证性和状态可控性。</a:t>
            </a:r>
          </a:p>
          <a:p>
            <a:pPr marL="0" indent="0" algn="l">
              <a:lnSpc>
                <a:spcPct val="100000"/>
              </a:lnSpc>
            </a:pPr>
            <a:r>
              <a:rPr lang="en-US" sz="1400" b="0" i="0" u="none" strike="noStrike">
                <a:solidFill>
                  <a:srgbClr val="000000"/>
                </a:solidFill>
              </a:rPr>
              <a:t>2. 设备功能模块：重构了设备模型，以能力为核心，支持多轨并行开发，极大提升了扩展性。</a:t>
            </a:r>
          </a:p>
          <a:p>
            <a:pPr marL="0" indent="0" algn="l">
              <a:lnSpc>
                <a:spcPct val="100000"/>
              </a:lnSpc>
            </a:pPr>
            <a:r>
              <a:rPr lang="en-US" sz="1400" b="0" i="0" u="none" strike="noStrike">
                <a:solidFill>
                  <a:srgbClr val="000000"/>
                </a:solidFill>
              </a:rPr>
              <a:t>3. 内存分配链：建立了单向流动的内存管理体系，从根本上杜绝了内存越界和非法访问。</a:t>
            </a:r>
          </a:p>
          <a:p>
            <a:pPr marL="0" indent="0" algn="l">
              <a:lnSpc>
                <a:spcPct val="100000"/>
              </a:lnSpc>
            </a:pPr>
            <a:r>
              <a:rPr lang="en-US" sz="1400" b="0" i="0" u="none" strike="noStrike">
                <a:solidFill>
                  <a:srgbClr val="000000"/>
                </a:solidFill>
              </a:rPr>
              <a:t>4. 类型安全与POSIX兼容：在内核内部严格保证类型安全，同时在边界层兼容POSIX标准，兼顾了安全与易用性。</a:t>
            </a:r>
          </a:p>
          <a:p>
            <a:pPr marL="0" indent="0" algn="l">
              <a:lnSpc>
                <a:spcPct val="100000"/>
              </a:lnSpc>
            </a:pPr>
            <a:r>
              <a:rPr lang="en-US" sz="1400" b="0" i="0" u="none" strike="noStrike">
                <a:solidFill>
                  <a:srgbClr val="000000"/>
                </a:solidFill>
              </a:rPr>
              <a:t>当然，项目仍处于演进阶段，在设备驱动性能、多核调度、网络栈效率以及VFS兼容性方面，我们还识别出了明确的改进方向，这也是下一阶段的工作重点。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78047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各位老师、评委、同学，大家好。</a:t>
            </a:r>
          </a:p>
          <a:p>
            <a:pPr marL="0" indent="0" algn="l">
              <a:lnSpc>
                <a:spcPct val="100000"/>
              </a:lnSpc>
            </a:pPr>
            <a:r>
              <a:rPr lang="en-US" sz="1400" b="0" i="0" u="none" strike="noStrike">
                <a:solidFill>
                  <a:srgbClr val="000000"/>
                </a:solidFill>
              </a:rPr>
              <a:t>感谢大家的聆听。在这个项目中，我们不仅完成了内核核心功能的开发，更在实践中深入理解了操作系统的底层原理。</a:t>
            </a:r>
          </a:p>
          <a:p>
            <a:pPr marL="0" indent="0" algn="l">
              <a:lnSpc>
                <a:spcPct val="100000"/>
              </a:lnSpc>
            </a:pPr>
            <a:r>
              <a:rPr lang="en-US" sz="1400" b="0" i="0" u="none" strike="noStrike">
                <a:solidFill>
                  <a:srgbClr val="000000"/>
                </a:solidFill>
              </a:rPr>
              <a:t>首先，非常感谢李欣老师的指导，以及学校提供的资源支持。同时，我们在技术上参考了FreeBSD、Linux等成熟系统的优秀设计，并合理利用了AI工具辅助完成了部分基础代码和注释工作，极大提升了开发效率。</a:t>
            </a:r>
          </a:p>
          <a:p>
            <a:pPr marL="0" indent="0" algn="l">
              <a:lnSpc>
                <a:spcPct val="100000"/>
              </a:lnSpc>
            </a:pPr>
            <a:r>
              <a:rPr lang="en-US" sz="1400" b="0" i="0" u="none" strike="noStrike">
                <a:solidFill>
                  <a:srgbClr val="000000"/>
                </a:solidFill>
              </a:rPr>
              <a:t>接下来是问答环节，欢迎各位老师和同学提出宝贵的意见和建议。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96128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3.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0.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11.png"/><Relationship Id="rId10" Type="http://schemas.openxmlformats.org/officeDocument/2006/relationships/image" Target="../media/image30.svg"/><Relationship Id="rId4" Type="http://schemas.openxmlformats.org/officeDocument/2006/relationships/image" Target="../media/image26.sv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17.png"/><Relationship Id="rId4" Type="http://schemas.openxmlformats.org/officeDocument/2006/relationships/image" Target="../media/image32.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1A2E">
                <a:alpha val="100000"/>
              </a:srgbClr>
            </a:gs>
            <a:gs pos="100000">
              <a:srgbClr val="16213E">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350000" y="-2540000"/>
            <a:ext cx="7620000" cy="7620000"/>
          </a:xfrm>
          <a:prstGeom prst="ellipse">
            <a:avLst/>
          </a:prstGeom>
          <a:solidFill>
            <a:srgbClr val="00D9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905000" y="3810000"/>
            <a:ext cx="6350000" cy="6350000"/>
          </a:xfrm>
          <a:prstGeom prst="ellipse">
            <a:avLst/>
          </a:prstGeom>
          <a:solidFill>
            <a:srgbClr val="00D9FF">
              <a:alpha val="3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156718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dirty="0" err="1">
                <a:solidFill>
                  <a:srgbClr val="FFFFFF"/>
                </a:solidFill>
                <a:latin typeface="Inter"/>
                <a:ea typeface="Inter"/>
                <a:cs typeface="Inter"/>
                <a:sym typeface="Inter"/>
              </a:rPr>
              <a:t>MyGO</a:t>
            </a:r>
            <a:r>
              <a:rPr lang="en-US" sz="7200" b="1" i="0" u="none" strike="noStrike" dirty="0">
                <a:solidFill>
                  <a:srgbClr val="FFFFFF"/>
                </a:solidFill>
                <a:latin typeface="Inter"/>
                <a:ea typeface="Inter"/>
                <a:cs typeface="Inter"/>
                <a:sym typeface="Inter"/>
              </a:rPr>
              <a:t>!!!!!</a:t>
            </a:r>
            <a:endParaRPr lang="en-US" sz="1100" dirty="0"/>
          </a:p>
        </p:txBody>
      </p:sp>
      <p:sp>
        <p:nvSpPr>
          <p:cNvPr id="6" name="AutoShape 6"/>
          <p:cNvSpPr/>
          <p:nvPr/>
        </p:nvSpPr>
        <p:spPr>
          <a:xfrm>
            <a:off x="0" y="286004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800" b="0" i="0" u="none" strike="noStrike" spc="400" dirty="0" err="1">
                <a:solidFill>
                  <a:srgbClr val="FFFFFF">
                    <a:alpha val="90196"/>
                  </a:srgbClr>
                </a:solidFill>
                <a:latin typeface="Noto Sans SC"/>
                <a:ea typeface="Noto Sans SC"/>
                <a:cs typeface="Noto Sans SC"/>
                <a:sym typeface="Noto Sans SC"/>
              </a:rPr>
              <a:t>内核技术汇报</a:t>
            </a:r>
            <a:endParaRPr lang="en-US" sz="1100" dirty="0"/>
          </a:p>
        </p:txBody>
      </p:sp>
      <p:sp>
        <p:nvSpPr>
          <p:cNvPr id="7" name="AutoShape 7"/>
          <p:cNvSpPr/>
          <p:nvPr/>
        </p:nvSpPr>
        <p:spPr>
          <a:xfrm>
            <a:off x="762000" y="4121785"/>
            <a:ext cx="10668000" cy="1143000"/>
          </a:xfrm>
          <a:prstGeom prst="roundRect">
            <a:avLst>
              <a:gd name="adj" fmla="val 0"/>
            </a:avLst>
          </a:prstGeom>
          <a:solidFill>
            <a:srgbClr val="0F0F23">
              <a:alpha val="80000"/>
            </a:srgbClr>
          </a:solidFill>
          <a:ln w="12700" cap="flat" cmpd="sng">
            <a:solidFill>
              <a:srgbClr val="00D9FF">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4248785"/>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2000" b="0" i="0" u="none" strike="noStrike">
                <a:solidFill>
                  <a:srgbClr val="FFFFFF">
                    <a:alpha val="85098"/>
                  </a:srgbClr>
                </a:solidFill>
                <a:latin typeface="Noto Sans SC"/>
                <a:ea typeface="Noto Sans SC"/>
                <a:cs typeface="Noto Sans SC"/>
                <a:sym typeface="Noto Sans SC"/>
              </a:rPr>
              <a:t>2026年全国大学生计算机系统能力大赛</a:t>
            </a:r>
            <a:br>
              <a:rPr lang="en-US" sz="2000" b="0" i="0" u="none" strike="noStrike">
                <a:solidFill>
                  <a:srgbClr val="FFFFFF">
                    <a:alpha val="85098"/>
                  </a:srgbClr>
                </a:solidFill>
                <a:latin typeface="Noto Sans SC"/>
                <a:ea typeface="Noto Sans SC"/>
                <a:cs typeface="Noto Sans SC"/>
                <a:sym typeface="Noto Sans SC"/>
              </a:rPr>
            </a:br>
            <a:r>
              <a:rPr lang="en-US" sz="2000" b="0" i="0" u="none" strike="noStrike">
                <a:solidFill>
                  <a:srgbClr val="FFFFFF">
                    <a:alpha val="85098"/>
                  </a:srgbClr>
                </a:solidFill>
                <a:latin typeface="Noto Sans SC"/>
                <a:ea typeface="Noto Sans SC"/>
                <a:cs typeface="Noto Sans SC"/>
                <a:sym typeface="Noto Sans SC"/>
              </a:rPr>
              <a:t>操作系统设计赛（全国）OS 内核实现赛道</a:t>
            </a:r>
            <a:endParaRPr lang="en-US" sz="1100"/>
          </a:p>
        </p:txBody>
      </p:sp>
      <p:cxnSp>
        <p:nvCxnSpPr>
          <p:cNvPr id="9" name="Connector 9"/>
          <p:cNvCxnSpPr/>
          <p:nvPr/>
        </p:nvCxnSpPr>
        <p:spPr>
          <a:xfrm rot="-4092">
            <a:off x="762004" y="5512435"/>
            <a:ext cx="10668000" cy="12700"/>
          </a:xfrm>
          <a:prstGeom prst="straightConnector1">
            <a:avLst/>
          </a:prstGeom>
          <a:solidFill>
            <a:srgbClr val="DEE0E3">
              <a:alpha val="100000"/>
            </a:srgbClr>
          </a:solidFill>
          <a:ln w="12700" cap="flat" cmpd="sng">
            <a:solidFill>
              <a:srgbClr val="00D9FF">
                <a:alpha val="20000"/>
              </a:srgbClr>
            </a:solidFill>
            <a:prstDash val="solid"/>
            <a:round/>
            <a:headEnd type="none" w="med" len="med"/>
            <a:tailEnd type="none" w="med" len="med"/>
          </a:ln>
        </p:spPr>
      </p:cxnSp>
      <p:sp>
        <p:nvSpPr>
          <p:cNvPr id="10" name="AutoShape 10"/>
          <p:cNvSpPr/>
          <p:nvPr/>
        </p:nvSpPr>
        <p:spPr>
          <a:xfrm>
            <a:off x="762000" y="5645785"/>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70196"/>
                  </a:srgbClr>
                </a:solidFill>
                <a:latin typeface="Noto Sans SC"/>
                <a:ea typeface="Noto Sans SC"/>
                <a:cs typeface="Noto Sans SC"/>
                <a:sym typeface="Noto Sans SC"/>
              </a:rPr>
              <a:t>太原理工大学 · MyGO!!!!! 团队</a:t>
            </a:r>
            <a:endParaRPr lang="en-US" sz="1100"/>
          </a:p>
        </p:txBody>
      </p:sp>
      <p:cxnSp>
        <p:nvCxnSpPr>
          <p:cNvPr id="11" name="Connector 11"/>
          <p:cNvCxnSpPr/>
          <p:nvPr/>
        </p:nvCxnSpPr>
        <p:spPr>
          <a:xfrm rot="5301805">
            <a:off x="4260850" y="5861776"/>
            <a:ext cx="444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2" name="AutoShape 12"/>
          <p:cNvSpPr/>
          <p:nvPr/>
        </p:nvSpPr>
        <p:spPr>
          <a:xfrm>
            <a:off x="4610100" y="5645785"/>
            <a:ext cx="355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FFFFFF">
                    <a:alpha val="70196"/>
                  </a:srgbClr>
                </a:solidFill>
                <a:latin typeface="Noto Sans SC"/>
                <a:ea typeface="Noto Sans SC"/>
                <a:cs typeface="Noto Sans SC"/>
                <a:sym typeface="Noto Sans SC"/>
              </a:rPr>
              <a:t>成员：屈世荣、张润泽、岳浩宇</a:t>
            </a:r>
            <a:endParaRPr lang="en-US" sz="1100" dirty="0"/>
          </a:p>
        </p:txBody>
      </p:sp>
      <p:cxnSp>
        <p:nvCxnSpPr>
          <p:cNvPr id="13" name="Connector 13"/>
          <p:cNvCxnSpPr/>
          <p:nvPr/>
        </p:nvCxnSpPr>
        <p:spPr>
          <a:xfrm rot="5301805">
            <a:off x="7981950" y="5861776"/>
            <a:ext cx="444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4"/>
          <p:cNvSpPr/>
          <p:nvPr/>
        </p:nvSpPr>
        <p:spPr>
          <a:xfrm>
            <a:off x="8331200" y="5645785"/>
            <a:ext cx="342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FFFFFF">
                    <a:alpha val="70196"/>
                  </a:srgbClr>
                </a:solidFill>
                <a:latin typeface="Noto Sans SC"/>
                <a:ea typeface="Noto Sans SC"/>
                <a:cs typeface="Noto Sans SC"/>
                <a:sym typeface="Noto Sans SC"/>
              </a:rPr>
              <a:t>指导教师：李欣</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2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项目概述</a:t>
            </a:r>
            <a:endParaRPr lang="en-US" sz="1100"/>
          </a:p>
        </p:txBody>
      </p:sp>
      <p:sp>
        <p:nvSpPr>
          <p:cNvPr id="3" name="AutoShape 3"/>
          <p:cNvSpPr/>
          <p:nvPr/>
        </p:nvSpPr>
        <p:spPr>
          <a:xfrm>
            <a:off x="762000" y="1143000"/>
            <a:ext cx="1016000" cy="381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635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800" b="0" i="0" u="none" strike="noStrike">
                <a:solidFill>
                  <a:srgbClr val="FFFFFF">
                    <a:alpha val="90196"/>
                  </a:srgbClr>
                </a:solidFill>
                <a:latin typeface="Noto Sans SC"/>
                <a:ea typeface="Noto Sans SC"/>
                <a:cs typeface="Noto Sans SC"/>
                <a:sym typeface="Noto Sans SC"/>
              </a:rPr>
              <a:t>MyGO!!!!! OS 是一款面向 RISC-V64 与 LoongArch64 架构的 Rust 语言内核，作为参赛作品，核心目标是构建分层清晰、职责明确的内核工程结构。设计理念遵循单向依赖、显式边界、架构注入、类型安全四大原则，致力于探索现代系统内核的工程化最佳实践。</a:t>
            </a:r>
            <a:endParaRPr lang="en-US" sz="1100"/>
          </a:p>
        </p:txBody>
      </p:sp>
      <p:cxnSp>
        <p:nvCxnSpPr>
          <p:cNvPr id="5" name="Connector 5"/>
          <p:cNvCxnSpPr/>
          <p:nvPr/>
        </p:nvCxnSpPr>
        <p:spPr>
          <a:xfrm rot="-6875">
            <a:off x="762006" y="3676650"/>
            <a:ext cx="6350000" cy="12700"/>
          </a:xfrm>
          <a:prstGeom prst="line">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6" name="AutoShape 6"/>
          <p:cNvSpPr/>
          <p:nvPr/>
        </p:nvSpPr>
        <p:spPr>
          <a:xfrm>
            <a:off x="762000" y="3937000"/>
            <a:ext cx="3111500" cy="8255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3937000"/>
            <a:ext cx="50800" cy="8255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14400" y="4013200"/>
            <a:ext cx="285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开发语言选型</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Rust 为主，关键 EFI crate 采用 C 语言实现，兼顾安全与兼容性。</a:t>
            </a:r>
          </a:p>
        </p:txBody>
      </p:sp>
      <p:sp>
        <p:nvSpPr>
          <p:cNvPr id="9" name="AutoShape 9"/>
          <p:cNvSpPr/>
          <p:nvPr/>
        </p:nvSpPr>
        <p:spPr>
          <a:xfrm>
            <a:off x="4000500" y="3937000"/>
            <a:ext cx="3111500" cy="8255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000500" y="3937000"/>
            <a:ext cx="50800" cy="8255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152900" y="4013200"/>
            <a:ext cx="285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双架构原生支持</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完美适配 RISC-V64 与 LoongArch64 架构，统一抽象层屏蔽硬件差异。</a:t>
            </a:r>
          </a:p>
        </p:txBody>
      </p:sp>
      <p:sp>
        <p:nvSpPr>
          <p:cNvPr id="12" name="AutoShape 12"/>
          <p:cNvSpPr/>
          <p:nvPr/>
        </p:nvSpPr>
        <p:spPr>
          <a:xfrm>
            <a:off x="762000" y="4953000"/>
            <a:ext cx="2070100" cy="12700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953000"/>
            <a:ext cx="50800" cy="1270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14400" y="5080000"/>
            <a:ext cx="19177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FFFFF"/>
                </a:solidFill>
                <a:latin typeface="Noto Sans SC"/>
                <a:ea typeface="Noto Sans SC"/>
                <a:cs typeface="Noto Sans SC"/>
                <a:sym typeface="Noto Sans SC"/>
              </a:rPr>
              <a:t>200+ </a:t>
            </a:r>
            <a:r>
              <a:rPr lang="en-US" sz="1600" b="1" i="0" u="none" strike="noStrike" dirty="0" err="1">
                <a:solidFill>
                  <a:srgbClr val="FFFFFF"/>
                </a:solidFill>
                <a:latin typeface="Noto Sans SC"/>
                <a:ea typeface="Noto Sans SC"/>
                <a:cs typeface="Noto Sans SC"/>
                <a:sym typeface="Noto Sans SC"/>
              </a:rPr>
              <a:t>系统调用</a:t>
            </a:r>
            <a:endParaRPr lang="en-US" sz="1100" dirty="0"/>
          </a:p>
          <a:p>
            <a:pPr marL="0" indent="0" algn="l">
              <a:lnSpc>
                <a:spcPct val="108333"/>
              </a:lnSpc>
            </a:pPr>
            <a:r>
              <a:rPr lang="en-US" sz="1200" b="0" i="0" u="none" strike="noStrike" dirty="0" err="1">
                <a:solidFill>
                  <a:srgbClr val="FFFFFF">
                    <a:alpha val="70196"/>
                  </a:srgbClr>
                </a:solidFill>
                <a:latin typeface="Noto Sans SC"/>
                <a:ea typeface="Noto Sans SC"/>
                <a:cs typeface="Noto Sans SC"/>
                <a:sym typeface="Noto Sans SC"/>
              </a:rPr>
              <a:t>实现了</a:t>
            </a:r>
            <a:r>
              <a:rPr lang="zh-CN" altLang="en-US" sz="1200" b="0" i="0" u="none" strike="noStrike" dirty="0">
                <a:solidFill>
                  <a:srgbClr val="FFFFFF">
                    <a:alpha val="70196"/>
                  </a:srgbClr>
                </a:solidFill>
                <a:latin typeface="Noto Sans SC"/>
                <a:ea typeface="Noto Sans SC"/>
                <a:cs typeface="Noto Sans SC"/>
                <a:sym typeface="Noto Sans SC"/>
              </a:rPr>
              <a:t>较为</a:t>
            </a:r>
            <a:r>
              <a:rPr lang="en-US" sz="1200" b="0" i="0" u="none" strike="noStrike" dirty="0" err="1">
                <a:solidFill>
                  <a:srgbClr val="FFFFFF">
                    <a:alpha val="70196"/>
                  </a:srgbClr>
                </a:solidFill>
                <a:latin typeface="Noto Sans SC"/>
                <a:ea typeface="Noto Sans SC"/>
                <a:cs typeface="Noto Sans SC"/>
                <a:sym typeface="Noto Sans SC"/>
              </a:rPr>
              <a:t>完整的系统调用集，覆盖进程、内存、文件与外设管理核心功能</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5" name="AutoShape 15"/>
          <p:cNvSpPr/>
          <p:nvPr/>
        </p:nvSpPr>
        <p:spPr>
          <a:xfrm>
            <a:off x="2959100" y="4953000"/>
            <a:ext cx="2070100" cy="12700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2959100" y="4953000"/>
            <a:ext cx="50800" cy="12700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3086100" y="4953000"/>
            <a:ext cx="18669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FFFFFF"/>
                </a:solidFill>
                <a:latin typeface="Noto Sans SC"/>
                <a:ea typeface="Noto Sans SC"/>
                <a:cs typeface="Noto Sans SC"/>
                <a:sym typeface="Noto Sans SC"/>
              </a:rPr>
              <a:t>双固件协议栈</a:t>
            </a:r>
            <a:endParaRPr lang="en-US" sz="1100" dirty="0"/>
          </a:p>
          <a:p>
            <a:pPr marL="0" indent="0" algn="l">
              <a:lnSpc>
                <a:spcPct val="108333"/>
              </a:lnSpc>
            </a:pPr>
            <a:r>
              <a:rPr lang="en-US" sz="1200" i="0" u="none" strike="noStrike" dirty="0" err="1">
                <a:solidFill>
                  <a:srgbClr val="FFFFFF">
                    <a:alpha val="70196"/>
                  </a:srgbClr>
                </a:solidFill>
                <a:latin typeface="Noto Sans SC"/>
                <a:ea typeface="Noto Sans SC"/>
                <a:cs typeface="Noto Sans SC"/>
                <a:sym typeface="Noto Sans SC"/>
              </a:rPr>
              <a:t>同时兼容</a:t>
            </a:r>
            <a:r>
              <a:rPr lang="en-US" sz="1200" i="0" u="none" strike="noStrike" dirty="0">
                <a:solidFill>
                  <a:srgbClr val="FFFFFF">
                    <a:alpha val="70196"/>
                  </a:srgbClr>
                </a:solidFill>
                <a:latin typeface="Noto Sans SC"/>
                <a:ea typeface="Noto Sans SC"/>
                <a:cs typeface="Noto Sans SC"/>
                <a:sym typeface="Noto Sans SC"/>
              </a:rPr>
              <a:t> DTB </a:t>
            </a:r>
            <a:r>
              <a:rPr lang="en-US" sz="1200" b="0" i="0" u="none" strike="noStrike" dirty="0">
                <a:solidFill>
                  <a:srgbClr val="FFFFFF">
                    <a:alpha val="70196"/>
                  </a:srgbClr>
                </a:solidFill>
                <a:latin typeface="Noto Sans SC"/>
                <a:ea typeface="Noto Sans SC"/>
                <a:cs typeface="Noto Sans SC"/>
                <a:sym typeface="Noto Sans SC"/>
              </a:rPr>
              <a:t>与 </a:t>
            </a:r>
            <a:r>
              <a:rPr lang="en-US" sz="1200" b="0" i="0" u="none" strike="noStrike" dirty="0" err="1">
                <a:solidFill>
                  <a:srgbClr val="FFFFFF">
                    <a:alpha val="70196"/>
                  </a:srgbClr>
                </a:solidFill>
                <a:latin typeface="Noto Sans SC"/>
                <a:ea typeface="Noto Sans SC"/>
                <a:cs typeface="Noto Sans SC"/>
                <a:sym typeface="Noto Sans SC"/>
              </a:rPr>
              <a:t>ACPI，适配不同硬件生态环境</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8" name="AutoShape 18"/>
          <p:cNvSpPr/>
          <p:nvPr/>
        </p:nvSpPr>
        <p:spPr>
          <a:xfrm>
            <a:off x="5156200" y="4953000"/>
            <a:ext cx="2070100" cy="12700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156200" y="4953000"/>
            <a:ext cx="50800" cy="1270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308600" y="5080000"/>
            <a:ext cx="1816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FFFFFF"/>
                </a:solidFill>
                <a:latin typeface="Noto Sans SC"/>
                <a:ea typeface="Noto Sans SC"/>
                <a:cs typeface="Noto Sans SC"/>
                <a:sym typeface="Noto Sans SC"/>
              </a:rPr>
              <a:t>严格分层结构</a:t>
            </a:r>
            <a:endParaRPr lang="en-US" sz="1100" dirty="0"/>
          </a:p>
          <a:p>
            <a:pPr marL="0" indent="0" algn="l">
              <a:lnSpc>
                <a:spcPct val="108333"/>
              </a:lnSpc>
            </a:pPr>
            <a:r>
              <a:rPr lang="en-US" sz="1200" b="0" i="0" u="none" strike="noStrike" dirty="0" err="1">
                <a:solidFill>
                  <a:srgbClr val="FFFFFF">
                    <a:alpha val="70196"/>
                  </a:srgbClr>
                </a:solidFill>
                <a:latin typeface="Noto Sans SC"/>
                <a:ea typeface="Noto Sans SC"/>
                <a:cs typeface="Noto Sans SC"/>
                <a:sym typeface="Noto Sans SC"/>
              </a:rPr>
              <a:t>建立</a:t>
            </a:r>
            <a:r>
              <a:rPr lang="en-US" sz="1200" b="0" i="0" u="none" strike="noStrike" dirty="0">
                <a:solidFill>
                  <a:srgbClr val="FFFFFF">
                    <a:alpha val="70196"/>
                  </a:srgbClr>
                </a:solidFill>
                <a:latin typeface="Noto Sans SC"/>
                <a:ea typeface="Noto Sans SC"/>
                <a:cs typeface="Noto Sans SC"/>
                <a:sym typeface="Noto Sans SC"/>
              </a:rPr>
              <a:t>  libs / general / arch / </a:t>
            </a:r>
            <a:r>
              <a:rPr lang="en-US" sz="1200" b="0" i="0" u="none" strike="noStrike" dirty="0" err="1">
                <a:solidFill>
                  <a:srgbClr val="FFFFFF">
                    <a:alpha val="70196"/>
                  </a:srgbClr>
                </a:solidFill>
                <a:latin typeface="Noto Sans SC"/>
                <a:ea typeface="Noto Sans SC"/>
                <a:cs typeface="Noto Sans SC"/>
                <a:sym typeface="Noto Sans SC"/>
              </a:rPr>
              <a:t>hal</a:t>
            </a:r>
            <a:r>
              <a:rPr lang="en-US" sz="1200" b="0" i="0" u="none" strike="noStrike" dirty="0">
                <a:solidFill>
                  <a:srgbClr val="FFFFFF">
                    <a:alpha val="70196"/>
                  </a:srgbClr>
                </a:solidFill>
                <a:latin typeface="Noto Sans SC"/>
                <a:ea typeface="Noto Sans SC"/>
                <a:cs typeface="Noto Sans SC"/>
                <a:sym typeface="Noto Sans SC"/>
              </a:rPr>
              <a:t> / kernel </a:t>
            </a:r>
            <a:r>
              <a:rPr lang="en-US" sz="1200" b="0" i="0" u="none" strike="noStrike" dirty="0" err="1">
                <a:solidFill>
                  <a:srgbClr val="FFFFFF">
                    <a:alpha val="70196"/>
                  </a:srgbClr>
                </a:solidFill>
                <a:latin typeface="Noto Sans SC"/>
                <a:ea typeface="Noto Sans SC"/>
                <a:cs typeface="Noto Sans SC"/>
                <a:sym typeface="Noto Sans SC"/>
              </a:rPr>
              <a:t>五层单向依赖体系，确保架构解耦</a:t>
            </a:r>
            <a:r>
              <a:rPr lang="en-US" sz="1200" b="0" i="0" u="none" strike="noStrike" dirty="0">
                <a:solidFill>
                  <a:srgbClr val="FFFFFF">
                    <a:alpha val="70196"/>
                  </a:srgbClr>
                </a:solidFill>
                <a:latin typeface="Noto Sans SC"/>
                <a:ea typeface="Noto Sans SC"/>
                <a:cs typeface="Noto Sans SC"/>
                <a:sym typeface="Noto Sans SC"/>
              </a:rPr>
              <a:t>。</a:t>
            </a:r>
          </a:p>
        </p:txBody>
      </p:sp>
      <p:cxnSp>
        <p:nvCxnSpPr>
          <p:cNvPr id="21" name="Connector 21"/>
          <p:cNvCxnSpPr/>
          <p:nvPr/>
        </p:nvCxnSpPr>
        <p:spPr>
          <a:xfrm rot="5389889">
            <a:off x="5334000" y="4057659"/>
            <a:ext cx="4318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2" name="AutoShape 22"/>
          <p:cNvSpPr/>
          <p:nvPr/>
        </p:nvSpPr>
        <p:spPr>
          <a:xfrm>
            <a:off x="7747000" y="1778000"/>
            <a:ext cx="3683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a:ea typeface="Noto Sans SC"/>
                <a:cs typeface="Noto Sans SC"/>
                <a:sym typeface="Noto Sans SC"/>
              </a:rPr>
              <a:t>五层分层架构体系</a:t>
            </a:r>
            <a:endParaRPr lang="en-US" sz="1100"/>
          </a:p>
        </p:txBody>
      </p:sp>
      <p:sp>
        <p:nvSpPr>
          <p:cNvPr id="23" name="AutoShape 23"/>
          <p:cNvSpPr/>
          <p:nvPr/>
        </p:nvSpPr>
        <p:spPr>
          <a:xfrm>
            <a:off x="7747000" y="2667000"/>
            <a:ext cx="3683000" cy="6350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7874000" y="2768600"/>
            <a:ext cx="342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Kernel 策略集成层</a:t>
            </a:r>
            <a:r>
              <a:rPr lang="en-US" sz="1300" b="0" i="0" u="none" strike="noStrike">
                <a:solidFill>
                  <a:srgbClr val="FFFFFF">
                    <a:alpha val="80000"/>
                  </a:srgbClr>
                </a:solidFill>
                <a:latin typeface="Noto Sans SC"/>
                <a:ea typeface="Noto Sans SC"/>
                <a:cs typeface="Noto Sans SC"/>
                <a:sym typeface="Noto Sans SC"/>
              </a:rPr>
              <a:t>—— 核心调度与逻辑编排</a:t>
            </a:r>
            <a:endParaRPr lang="en-US" sz="1100"/>
          </a:p>
        </p:txBody>
      </p:sp>
      <p:sp>
        <p:nvSpPr>
          <p:cNvPr id="25" name="AutoShape 25"/>
          <p:cNvSpPr/>
          <p:nvPr/>
        </p:nvSpPr>
        <p:spPr>
          <a:xfrm>
            <a:off x="9334500" y="3429000"/>
            <a:ext cx="254000" cy="190500"/>
          </a:xfrm>
          <a:prstGeom prst="downArrow">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747000" y="3683000"/>
            <a:ext cx="3683000" cy="6350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7874000" y="3784600"/>
            <a:ext cx="342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HAL 统一接口层</a:t>
            </a:r>
            <a:r>
              <a:rPr lang="en-US" sz="1300" b="0" i="0" u="none" strike="noStrike">
                <a:solidFill>
                  <a:srgbClr val="FFFFFF">
                    <a:alpha val="80000"/>
                  </a:srgbClr>
                </a:solidFill>
                <a:latin typeface="Noto Sans SC"/>
                <a:ea typeface="Noto Sans SC"/>
                <a:cs typeface="Noto Sans SC"/>
                <a:sym typeface="Noto Sans SC"/>
              </a:rPr>
              <a:t>—— 屏蔽底层硬件差异</a:t>
            </a:r>
            <a:endParaRPr lang="en-US" sz="1100"/>
          </a:p>
        </p:txBody>
      </p:sp>
      <p:sp>
        <p:nvSpPr>
          <p:cNvPr id="28" name="AutoShape 28"/>
          <p:cNvSpPr/>
          <p:nvPr/>
        </p:nvSpPr>
        <p:spPr>
          <a:xfrm>
            <a:off x="9334500" y="4445000"/>
            <a:ext cx="254000" cy="190500"/>
          </a:xfrm>
          <a:prstGeom prst="downArrow">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7747000" y="4699000"/>
            <a:ext cx="11684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7810500" y="4826000"/>
            <a:ext cx="10414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Noto Sans SC"/>
                <a:ea typeface="Noto Sans SC"/>
                <a:cs typeface="Noto Sans SC"/>
                <a:sym typeface="Noto Sans SC"/>
              </a:rPr>
              <a:t>Arch</a:t>
            </a:r>
            <a:endParaRPr lang="en-US" sz="1100"/>
          </a:p>
          <a:p>
            <a:pPr marL="0" indent="0" algn="ctr">
              <a:lnSpc>
                <a:spcPct val="100000"/>
              </a:lnSpc>
            </a:pPr>
            <a:r>
              <a:rPr lang="en-US" sz="1100" b="0" i="0" u="none" strike="noStrike">
                <a:solidFill>
                  <a:srgbClr val="FFFFFF">
                    <a:alpha val="90196"/>
                  </a:srgbClr>
                </a:solidFill>
                <a:latin typeface="Noto Sans SC"/>
                <a:ea typeface="Noto Sans SC"/>
                <a:cs typeface="Noto Sans SC"/>
                <a:sym typeface="Noto Sans SC"/>
              </a:rPr>
              <a:t>架构实现层</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90196"/>
                  </a:srgbClr>
                </a:solidFill>
                <a:latin typeface="Noto Sans SC"/>
                <a:ea typeface="Noto Sans SC"/>
                <a:cs typeface="Noto Sans SC"/>
                <a:sym typeface="Noto Sans SC"/>
              </a:rPr>
              <a:t>指令集适配</a:t>
            </a:r>
          </a:p>
        </p:txBody>
      </p:sp>
      <p:sp>
        <p:nvSpPr>
          <p:cNvPr id="31" name="AutoShape 31"/>
          <p:cNvSpPr/>
          <p:nvPr/>
        </p:nvSpPr>
        <p:spPr>
          <a:xfrm>
            <a:off x="9017000" y="4699000"/>
            <a:ext cx="1168400" cy="14605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9080500" y="4826000"/>
            <a:ext cx="10414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Noto Sans SC"/>
                <a:ea typeface="Noto Sans SC"/>
                <a:cs typeface="Noto Sans SC"/>
                <a:sym typeface="Noto Sans SC"/>
              </a:rPr>
              <a:t>General</a:t>
            </a:r>
            <a:endParaRPr lang="en-US" sz="1100"/>
          </a:p>
          <a:p>
            <a:pPr marL="0" indent="0" algn="ctr">
              <a:lnSpc>
                <a:spcPct val="100000"/>
              </a:lnSpc>
            </a:pPr>
            <a:r>
              <a:rPr lang="en-US" sz="1100" b="0" i="0" u="none" strike="noStrike">
                <a:solidFill>
                  <a:srgbClr val="FFFFFF">
                    <a:alpha val="90196"/>
                  </a:srgbClr>
                </a:solidFill>
                <a:latin typeface="Noto Sans SC"/>
                <a:ea typeface="Noto Sans SC"/>
                <a:cs typeface="Noto Sans SC"/>
                <a:sym typeface="Noto Sans SC"/>
              </a:rPr>
              <a:t>通用基础层</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90196"/>
                  </a:srgbClr>
                </a:solidFill>
                <a:latin typeface="Noto Sans SC"/>
                <a:ea typeface="Noto Sans SC"/>
                <a:cs typeface="Noto Sans SC"/>
                <a:sym typeface="Noto Sans SC"/>
              </a:rPr>
              <a:t>平台无关逻辑</a:t>
            </a:r>
          </a:p>
        </p:txBody>
      </p:sp>
      <p:sp>
        <p:nvSpPr>
          <p:cNvPr id="33" name="AutoShape 33"/>
          <p:cNvSpPr/>
          <p:nvPr/>
        </p:nvSpPr>
        <p:spPr>
          <a:xfrm>
            <a:off x="10261600" y="4699000"/>
            <a:ext cx="1168400" cy="1460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10325100" y="4826000"/>
            <a:ext cx="10414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Noto Sans SC"/>
                <a:ea typeface="Noto Sans SC"/>
                <a:cs typeface="Noto Sans SC"/>
                <a:sym typeface="Noto Sans SC"/>
              </a:rPr>
              <a:t>Libs</a:t>
            </a:r>
            <a:endParaRPr lang="en-US" sz="1100"/>
          </a:p>
          <a:p>
            <a:pPr marL="0" indent="0" algn="ctr">
              <a:lnSpc>
                <a:spcPct val="100000"/>
              </a:lnSpc>
            </a:pPr>
            <a:r>
              <a:rPr lang="en-US" sz="1100" b="0" i="0" u="none" strike="noStrike">
                <a:solidFill>
                  <a:srgbClr val="FFFFFF">
                    <a:alpha val="90196"/>
                  </a:srgbClr>
                </a:solidFill>
                <a:latin typeface="Noto Sans SC"/>
                <a:ea typeface="Noto Sans SC"/>
                <a:cs typeface="Noto Sans SC"/>
                <a:sym typeface="Noto Sans SC"/>
              </a:rPr>
              <a:t>基础库层</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90196"/>
                  </a:srgbClr>
                </a:solidFill>
                <a:latin typeface="Noto Sans SC"/>
                <a:ea typeface="Noto Sans SC"/>
                <a:cs typeface="Noto Sans SC"/>
                <a:sym typeface="Noto Sans SC"/>
              </a:rPr>
              <a:t>核心工具支撑</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2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总体架构设计</a:t>
            </a:r>
            <a:endParaRPr lang="en-US" sz="1100"/>
          </a:p>
        </p:txBody>
      </p:sp>
      <p:sp>
        <p:nvSpPr>
          <p:cNvPr id="3" name="AutoShape 3"/>
          <p:cNvSpPr/>
          <p:nvPr/>
        </p:nvSpPr>
        <p:spPr>
          <a:xfrm>
            <a:off x="508000" y="1143000"/>
            <a:ext cx="1016000" cy="508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381274"/>
            <a:ext cx="2032000" cy="1143000"/>
          </a:xfrm>
          <a:prstGeom prst="roundRect">
            <a:avLst>
              <a:gd name="adj" fmla="val 0"/>
            </a:avLst>
          </a:prstGeom>
          <a:solidFill>
            <a:srgbClr val="F59E0B">
              <a:alpha val="20000"/>
            </a:srgbClr>
          </a:solidFill>
          <a:ln w="25400" cap="flat" cmpd="sng">
            <a:solidFill>
              <a:srgbClr val="F59E0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71500" y="1444774"/>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libs 层</a:t>
            </a:r>
            <a:endParaRPr lang="en-US" sz="1100"/>
          </a:p>
          <a:p>
            <a:pPr marL="0" indent="0" algn="ctr">
              <a:lnSpc>
                <a:spcPct val="100000"/>
              </a:lnSpc>
            </a:pPr>
            <a:r>
              <a:rPr lang="en-US" sz="1400" b="0" i="0" u="none" strike="noStrike">
                <a:solidFill>
                  <a:srgbClr val="FFFFFF">
                    <a:alpha val="70196"/>
                  </a:srgbClr>
                </a:solidFill>
                <a:latin typeface="Noto Sans SC"/>
                <a:ea typeface="Noto Sans SC"/>
                <a:cs typeface="Noto Sans SC"/>
                <a:sym typeface="Noto Sans SC"/>
              </a:rPr>
              <a:t>可复用算法库与基础工具集，提供无状态通用能力支持</a:t>
            </a:r>
          </a:p>
        </p:txBody>
      </p:sp>
      <p:cxnSp>
        <p:nvCxnSpPr>
          <p:cNvPr id="6" name="Connector 6"/>
          <p:cNvCxnSpPr/>
          <p:nvPr/>
        </p:nvCxnSpPr>
        <p:spPr>
          <a:xfrm rot="-171744">
            <a:off x="2603659" y="1946424"/>
            <a:ext cx="2540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7" name="AutoShape 7"/>
          <p:cNvSpPr/>
          <p:nvPr/>
        </p:nvSpPr>
        <p:spPr>
          <a:xfrm>
            <a:off x="2921000" y="1381274"/>
            <a:ext cx="2032000" cy="1143000"/>
          </a:xfrm>
          <a:prstGeom prst="roundRect">
            <a:avLst>
              <a:gd name="adj" fmla="val 0"/>
            </a:avLst>
          </a:prstGeom>
          <a:solidFill>
            <a:srgbClr val="84CC16">
              <a:alpha val="20000"/>
            </a:srgbClr>
          </a:solidFill>
          <a:ln w="25400" cap="flat" cmpd="sng">
            <a:solidFill>
              <a:srgbClr val="84CC16">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984500" y="1444774"/>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general 层</a:t>
            </a:r>
            <a:endParaRPr lang="en-US" sz="1100"/>
          </a:p>
          <a:p>
            <a:pPr marL="0" indent="0" algn="ctr">
              <a:lnSpc>
                <a:spcPct val="100000"/>
              </a:lnSpc>
            </a:pPr>
            <a:r>
              <a:rPr lang="en-US" sz="1400" b="0" i="0" u="none" strike="noStrike">
                <a:solidFill>
                  <a:srgbClr val="FFFFFF">
                    <a:alpha val="70196"/>
                  </a:srgbClr>
                </a:solidFill>
                <a:latin typeface="Noto Sans SC"/>
                <a:ea typeface="Noto Sans SC"/>
                <a:cs typeface="Noto Sans SC"/>
                <a:sym typeface="Noto Sans SC"/>
              </a:rPr>
              <a:t>定义平台无关的核心 Trait 接口，抽象业务与逻辑标准</a:t>
            </a:r>
          </a:p>
        </p:txBody>
      </p:sp>
      <p:cxnSp>
        <p:nvCxnSpPr>
          <p:cNvPr id="9" name="Connector 9"/>
          <p:cNvCxnSpPr/>
          <p:nvPr/>
        </p:nvCxnSpPr>
        <p:spPr>
          <a:xfrm rot="-171744">
            <a:off x="5016659" y="1946424"/>
            <a:ext cx="2540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0" name="AutoShape 10"/>
          <p:cNvSpPr/>
          <p:nvPr/>
        </p:nvSpPr>
        <p:spPr>
          <a:xfrm>
            <a:off x="5334000" y="1381274"/>
            <a:ext cx="2032000" cy="1143000"/>
          </a:xfrm>
          <a:prstGeom prst="roundRect">
            <a:avLst>
              <a:gd name="adj" fmla="val 0"/>
            </a:avLst>
          </a:prstGeom>
          <a:solidFill>
            <a:srgbClr val="10B981">
              <a:alpha val="20000"/>
            </a:srgbClr>
          </a:solidFill>
          <a:ln w="254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397500" y="1444774"/>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arch 层</a:t>
            </a:r>
            <a:endParaRPr lang="en-US" sz="1100"/>
          </a:p>
          <a:p>
            <a:pPr marL="0" indent="0" algn="ctr">
              <a:lnSpc>
                <a:spcPct val="100000"/>
              </a:lnSpc>
            </a:pPr>
            <a:r>
              <a:rPr lang="en-US" sz="1400" b="0" i="0" u="none" strike="noStrike">
                <a:solidFill>
                  <a:srgbClr val="FFFFFF">
                    <a:alpha val="70196"/>
                  </a:srgbClr>
                </a:solidFill>
                <a:latin typeface="Noto Sans SC"/>
                <a:ea typeface="Noto Sans SC"/>
                <a:cs typeface="Noto Sans SC"/>
                <a:sym typeface="Noto Sans SC"/>
              </a:rPr>
              <a:t>针对特定 ISA 指令集的底层硬件适配与功能实现</a:t>
            </a:r>
          </a:p>
        </p:txBody>
      </p:sp>
      <p:cxnSp>
        <p:nvCxnSpPr>
          <p:cNvPr id="12" name="Connector 12"/>
          <p:cNvCxnSpPr/>
          <p:nvPr/>
        </p:nvCxnSpPr>
        <p:spPr>
          <a:xfrm rot="-171744">
            <a:off x="7429659" y="1946424"/>
            <a:ext cx="2540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3" name="AutoShape 13"/>
          <p:cNvSpPr/>
          <p:nvPr/>
        </p:nvSpPr>
        <p:spPr>
          <a:xfrm>
            <a:off x="7747000" y="1381274"/>
            <a:ext cx="2032000" cy="1143000"/>
          </a:xfrm>
          <a:prstGeom prst="roundRect">
            <a:avLst>
              <a:gd name="adj" fmla="val 0"/>
            </a:avLst>
          </a:prstGeom>
          <a:solidFill>
            <a:srgbClr val="06B6D4">
              <a:alpha val="20000"/>
            </a:srgbClr>
          </a:solidFill>
          <a:ln w="25400" cap="flat" cmpd="sng">
            <a:solidFill>
              <a:srgbClr val="06B6D4">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810500" y="1444774"/>
            <a:ext cx="190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hal 层</a:t>
            </a:r>
            <a:endParaRPr lang="en-US" sz="1100"/>
          </a:p>
          <a:p>
            <a:pPr marL="0" indent="0" algn="ctr">
              <a:lnSpc>
                <a:spcPct val="100000"/>
              </a:lnSpc>
            </a:pPr>
            <a:r>
              <a:rPr lang="en-US" sz="1400" b="0" i="0" u="none" strike="noStrike">
                <a:solidFill>
                  <a:srgbClr val="FFFFFF">
                    <a:alpha val="70196"/>
                  </a:srgbClr>
                </a:solidFill>
                <a:latin typeface="Noto Sans SC"/>
                <a:ea typeface="Noto Sans SC"/>
                <a:cs typeface="Noto Sans SC"/>
                <a:sym typeface="Noto Sans SC"/>
              </a:rPr>
              <a:t>封装硬件差异，提供统一的硬件访问与控制接口层</a:t>
            </a:r>
          </a:p>
        </p:txBody>
      </p:sp>
      <p:cxnSp>
        <p:nvCxnSpPr>
          <p:cNvPr id="15" name="Connector 15"/>
          <p:cNvCxnSpPr/>
          <p:nvPr/>
        </p:nvCxnSpPr>
        <p:spPr>
          <a:xfrm rot="-228844">
            <a:off x="9842711" y="1946424"/>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6" name="AutoShape 16"/>
          <p:cNvSpPr/>
          <p:nvPr/>
        </p:nvSpPr>
        <p:spPr>
          <a:xfrm>
            <a:off x="10096500" y="1381274"/>
            <a:ext cx="1841500" cy="1143000"/>
          </a:xfrm>
          <a:prstGeom prst="roundRect">
            <a:avLst>
              <a:gd name="adj" fmla="val 0"/>
            </a:avLst>
          </a:prstGeom>
          <a:solidFill>
            <a:srgbClr val="8B5CF6">
              <a:alpha val="20000"/>
            </a:srgbClr>
          </a:solidFill>
          <a:ln w="25400" cap="flat" cmpd="sng">
            <a:solidFill>
              <a:srgbClr val="8B5CF6">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0" y="1444774"/>
            <a:ext cx="1714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kernel 层</a:t>
            </a:r>
            <a:endParaRPr lang="en-US" sz="1100"/>
          </a:p>
          <a:p>
            <a:pPr marL="0" indent="0" algn="ctr">
              <a:lnSpc>
                <a:spcPct val="100000"/>
              </a:lnSpc>
            </a:pPr>
            <a:r>
              <a:rPr lang="en-US" sz="1400" b="0" i="0" u="none" strike="noStrike">
                <a:solidFill>
                  <a:srgbClr val="FFFFFF">
                    <a:alpha val="70196"/>
                  </a:srgbClr>
                </a:solidFill>
                <a:latin typeface="Noto Sans SC"/>
                <a:ea typeface="Noto Sans SC"/>
                <a:cs typeface="Noto Sans SC"/>
                <a:sym typeface="Noto Sans SC"/>
              </a:rPr>
              <a:t>系统策略编排、资源管理与核心子系统集成中枢</a:t>
            </a:r>
          </a:p>
        </p:txBody>
      </p:sp>
      <p:sp>
        <p:nvSpPr>
          <p:cNvPr id="18" name="AutoShape 18"/>
          <p:cNvSpPr/>
          <p:nvPr/>
        </p:nvSpPr>
        <p:spPr>
          <a:xfrm>
            <a:off x="508000" y="2726266"/>
            <a:ext cx="11176000" cy="5842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08000" y="2802466"/>
            <a:ext cx="11176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00D9FF"/>
                </a:solidFill>
                <a:latin typeface="Noto Sans SC"/>
                <a:ea typeface="Noto Sans SC"/>
                <a:cs typeface="Noto Sans SC"/>
                <a:sym typeface="Noto Sans SC"/>
              </a:rPr>
              <a:t>关键约束：kernel 层严禁直接依赖 arch 层，仅通过标准化的 hal 接口交互，确保架构的高内聚低耦合。</a:t>
            </a:r>
            <a:endParaRPr lang="en-US" sz="1100"/>
          </a:p>
        </p:txBody>
      </p:sp>
      <p:cxnSp>
        <p:nvCxnSpPr>
          <p:cNvPr id="20" name="Connector 20"/>
          <p:cNvCxnSpPr/>
          <p:nvPr/>
        </p:nvCxnSpPr>
        <p:spPr>
          <a:xfrm rot="-3906">
            <a:off x="508004" y="3498246"/>
            <a:ext cx="11176000" cy="12700"/>
          </a:xfrm>
          <a:prstGeom prst="line">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graphicFrame>
        <p:nvGraphicFramePr>
          <p:cNvPr id="21" name="Table 21"/>
          <p:cNvGraphicFramePr>
            <a:graphicFrameLocks noGrp="1"/>
          </p:cNvGraphicFramePr>
          <p:nvPr>
            <p:extLst>
              <p:ext uri="{D42A27DB-BD31-4B8C-83A1-F6EECF244321}">
                <p14:modId xmlns:p14="http://schemas.microsoft.com/office/powerpoint/2010/main" val="203413266"/>
              </p:ext>
            </p:extLst>
          </p:nvPr>
        </p:nvGraphicFramePr>
        <p:xfrm>
          <a:off x="507999" y="3695096"/>
          <a:ext cx="8471505" cy="2844800"/>
        </p:xfrm>
        <a:graphic>
          <a:graphicData uri="http://schemas.openxmlformats.org/drawingml/2006/table">
            <a:tbl>
              <a:tblPr>
                <a:effectLst/>
              </a:tblPr>
              <a:tblGrid>
                <a:gridCol w="1229735">
                  <a:extLst>
                    <a:ext uri="{9D8B030D-6E8A-4147-A177-3AD203B41FA5}">
                      <a16:colId xmlns:a16="http://schemas.microsoft.com/office/drawing/2014/main" xmlns="" val="20000"/>
                    </a:ext>
                  </a:extLst>
                </a:gridCol>
                <a:gridCol w="2186195">
                  <a:extLst>
                    <a:ext uri="{9D8B030D-6E8A-4147-A177-3AD203B41FA5}">
                      <a16:colId xmlns:a16="http://schemas.microsoft.com/office/drawing/2014/main" xmlns="" val="20001"/>
                    </a:ext>
                  </a:extLst>
                </a:gridCol>
                <a:gridCol w="1912920">
                  <a:extLst>
                    <a:ext uri="{9D8B030D-6E8A-4147-A177-3AD203B41FA5}">
                      <a16:colId xmlns:a16="http://schemas.microsoft.com/office/drawing/2014/main" xmlns="" val="20002"/>
                    </a:ext>
                  </a:extLst>
                </a:gridCol>
                <a:gridCol w="3142655">
                  <a:extLst>
                    <a:ext uri="{9D8B030D-6E8A-4147-A177-3AD203B41FA5}">
                      <a16:colId xmlns:a16="http://schemas.microsoft.com/office/drawing/2014/main" xmlns="" val="20003"/>
                    </a:ext>
                  </a:extLst>
                </a:gridCol>
              </a:tblGrid>
              <a:tr h="381000">
                <a:tc>
                  <a:txBody>
                    <a:bodyPr/>
                    <a:lstStyle/>
                    <a:p>
                      <a:pPr marL="0" indent="0" algn="ctr">
                        <a:lnSpc>
                          <a:spcPct val="100000"/>
                        </a:lnSpc>
                        <a:defRPr/>
                      </a:pPr>
                      <a:r>
                        <a:rPr lang="en-US" sz="1600" b="1" i="0" u="none" strike="noStrike">
                          <a:solidFill>
                            <a:srgbClr val="FFFFFF"/>
                          </a:solidFill>
                          <a:latin typeface="Noto Sans SC"/>
                          <a:ea typeface="Noto Sans SC"/>
                          <a:cs typeface="Noto Sans SC"/>
                          <a:sym typeface="Noto Sans SC"/>
                        </a:rPr>
                        <a:t>层级</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600" b="1" i="0" u="none" strike="noStrike">
                          <a:solidFill>
                            <a:srgbClr val="FFFFFF"/>
                          </a:solidFill>
                          <a:latin typeface="Noto Sans SC"/>
                          <a:ea typeface="Noto Sans SC"/>
                          <a:cs typeface="Noto Sans SC"/>
                          <a:sym typeface="Noto Sans SC"/>
                        </a:rPr>
                        <a:t>允许依赖</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600" b="1" i="0" u="none" strike="noStrike">
                          <a:solidFill>
                            <a:srgbClr val="FFFFFF"/>
                          </a:solidFill>
                          <a:latin typeface="Noto Sans SC"/>
                          <a:ea typeface="Noto Sans SC"/>
                          <a:cs typeface="Noto Sans SC"/>
                          <a:sym typeface="Noto Sans SC"/>
                        </a:rPr>
                        <a:t>禁止依赖</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600" b="1" i="0" u="none" strike="noStrike">
                          <a:solidFill>
                            <a:srgbClr val="FFFFFF"/>
                          </a:solidFill>
                          <a:latin typeface="Noto Sans SC"/>
                          <a:ea typeface="Noto Sans SC"/>
                          <a:cs typeface="Noto Sans SC"/>
                          <a:sym typeface="Noto Sans SC"/>
                        </a:rPr>
                        <a:t>核心职责</a:t>
                      </a:r>
                      <a:endParaRPr lang="en-US" sz="1100"/>
                    </a:p>
                  </a:txBody>
                  <a:tcPr marL="101600" marR="101600" marT="101600" marB="101600" anchor="ctr">
                    <a:lnL>
                      <a:noFill/>
                    </a:lnL>
                    <a:lnR>
                      <a:noFill/>
                    </a:lnR>
                    <a:lnT>
                      <a:noFill/>
                    </a:lnT>
                    <a:lnB>
                      <a:noFill/>
                    </a:lnB>
                    <a:solidFill>
                      <a:srgbClr val="2A2A4A">
                        <a:alpha val="100000"/>
                      </a:srgbClr>
                    </a:solidFill>
                  </a:tcPr>
                </a:tc>
                <a:extLst>
                  <a:ext uri="{0D108BD9-81ED-4DB2-BD59-A6C34878D82A}">
                    <a16:rowId xmlns:a16="http://schemas.microsoft.com/office/drawing/2014/main" xmlns="" val="10000"/>
                  </a:ext>
                </a:extLst>
              </a:tr>
              <a:tr h="330200">
                <a:tc>
                  <a:txBody>
                    <a:bodyPr/>
                    <a:lstStyle/>
                    <a:p>
                      <a:pPr marL="0" indent="0" algn="ctr">
                        <a:lnSpc>
                          <a:spcPct val="100000"/>
                        </a:lnSpc>
                        <a:defRPr/>
                      </a:pPr>
                      <a:r>
                        <a:rPr lang="en-US" sz="1400" b="0" i="0" u="none" strike="noStrike">
                          <a:solidFill>
                            <a:srgbClr val="FFFFFF"/>
                          </a:solidFill>
                          <a:latin typeface="Noto Sans SC"/>
                          <a:ea typeface="Noto Sans SC"/>
                          <a:cs typeface="Noto Sans SC"/>
                          <a:sym typeface="Noto Sans SC"/>
                        </a:rPr>
                        <a:t>Kernel</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63500" indent="0" algn="ctr">
                        <a:lnSpc>
                          <a:spcPct val="100000"/>
                        </a:lnSpc>
                        <a:defRPr/>
                      </a:pPr>
                      <a:r>
                        <a:rPr lang="en-US" sz="1300" b="0" i="0" u="none" strike="noStrike">
                          <a:solidFill>
                            <a:srgbClr val="FFFFFF">
                              <a:alpha val="80000"/>
                            </a:srgbClr>
                          </a:solidFill>
                          <a:latin typeface="Noto Sans SC"/>
                          <a:ea typeface="Noto Sans SC"/>
                          <a:cs typeface="Noto Sans SC"/>
                          <a:sym typeface="Noto Sans SC"/>
                        </a:rPr>
                        <a:t>hal, general, libs</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F87171"/>
                          </a:solidFill>
                          <a:latin typeface="Noto Sans SC"/>
                          <a:ea typeface="Noto Sans SC"/>
                          <a:cs typeface="Noto Sans SC"/>
                          <a:sym typeface="Noto Sans SC"/>
                        </a:rPr>
                        <a:t>arch (硬件层)</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63500" indent="0" algn="l">
                        <a:lnSpc>
                          <a:spcPct val="100000"/>
                        </a:lnSpc>
                        <a:defRPr/>
                      </a:pPr>
                      <a:r>
                        <a:rPr lang="en-US" sz="1300" b="0" i="0" u="none" strike="noStrike" dirty="0" err="1">
                          <a:solidFill>
                            <a:srgbClr val="FFFFFF">
                              <a:alpha val="80000"/>
                            </a:srgbClr>
                          </a:solidFill>
                          <a:latin typeface="Noto Sans SC"/>
                          <a:ea typeface="Noto Sans SC"/>
                          <a:cs typeface="Noto Sans SC"/>
                          <a:sym typeface="Noto Sans SC"/>
                        </a:rPr>
                        <a:t>统筹系统策略，管理核心资源，集成各功能子系统</a:t>
                      </a:r>
                      <a:endParaRPr lang="en-US" sz="1100" dirty="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1"/>
                  </a:ext>
                </a:extLst>
              </a:tr>
              <a:tr h="330200">
                <a:tc>
                  <a:txBody>
                    <a:bodyPr/>
                    <a:lstStyle/>
                    <a:p>
                      <a:pPr marL="0" indent="0" algn="ctr">
                        <a:lnSpc>
                          <a:spcPct val="100000"/>
                        </a:lnSpc>
                        <a:defRPr/>
                      </a:pPr>
                      <a:r>
                        <a:rPr lang="en-US" sz="1400" b="0" i="0" u="none" strike="noStrike">
                          <a:solidFill>
                            <a:srgbClr val="FFFFFF"/>
                          </a:solidFill>
                          <a:latin typeface="Noto Sans SC"/>
                          <a:ea typeface="Noto Sans SC"/>
                          <a:cs typeface="Noto Sans SC"/>
                          <a:sym typeface="Noto Sans SC"/>
                        </a:rPr>
                        <a:t>HAL</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63500" indent="0" algn="ctr">
                        <a:lnSpc>
                          <a:spcPct val="100000"/>
                        </a:lnSpc>
                        <a:defRPr/>
                      </a:pPr>
                      <a:r>
                        <a:rPr lang="en-US" sz="1300" b="0" i="0" u="none" strike="noStrike">
                          <a:solidFill>
                            <a:srgbClr val="FFFFFF">
                              <a:alpha val="80000"/>
                            </a:srgbClr>
                          </a:solidFill>
                          <a:latin typeface="Noto Sans SC"/>
                          <a:ea typeface="Noto Sans SC"/>
                          <a:cs typeface="Noto Sans SC"/>
                          <a:sym typeface="Noto Sans SC"/>
                        </a:rPr>
                        <a:t>arch, general, libs</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0" indent="0" algn="ctr">
                        <a:lnSpc>
                          <a:spcPct val="100000"/>
                        </a:lnSpc>
                        <a:defRPr/>
                      </a:pPr>
                      <a:r>
                        <a:rPr lang="en-US" sz="1300" b="0" i="0" u="none" strike="noStrike">
                          <a:solidFill>
                            <a:srgbClr val="F87171"/>
                          </a:solidFill>
                          <a:latin typeface="Noto Sans SC"/>
                          <a:ea typeface="Noto Sans SC"/>
                          <a:cs typeface="Noto Sans SC"/>
                          <a:sym typeface="Noto Sans SC"/>
                        </a:rPr>
                        <a:t>kernel (上层)</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63500" indent="0" algn="l">
                        <a:lnSpc>
                          <a:spcPct val="100000"/>
                        </a:lnSpc>
                        <a:defRPr/>
                      </a:pPr>
                      <a:r>
                        <a:rPr lang="en-US" sz="1300" b="0" i="0" u="none" strike="noStrike">
                          <a:solidFill>
                            <a:srgbClr val="FFFFFF">
                              <a:alpha val="80000"/>
                            </a:srgbClr>
                          </a:solidFill>
                          <a:latin typeface="Noto Sans SC"/>
                          <a:ea typeface="Noto Sans SC"/>
                          <a:cs typeface="Noto Sans SC"/>
                          <a:sym typeface="Noto Sans SC"/>
                        </a:rPr>
                        <a:t>定义统一硬件访问接口，屏蔽底层硬件的异构差异</a:t>
                      </a:r>
                      <a:endParaRPr lang="en-US" sz="1100"/>
                    </a:p>
                  </a:txBody>
                  <a:tcPr marL="101600" marR="101600" marT="101600" marB="101600" anchor="ctr">
                    <a:lnL>
                      <a:noFill/>
                    </a:lnL>
                    <a:lnR>
                      <a:noFill/>
                    </a:lnR>
                    <a:lnT>
                      <a:noFill/>
                    </a:lnT>
                    <a:lnB>
                      <a:noFill/>
                    </a:lnB>
                    <a:solidFill>
                      <a:srgbClr val="252545">
                        <a:alpha val="100000"/>
                      </a:srgbClr>
                    </a:solidFill>
                  </a:tcPr>
                </a:tc>
                <a:extLst>
                  <a:ext uri="{0D108BD9-81ED-4DB2-BD59-A6C34878D82A}">
                    <a16:rowId xmlns:a16="http://schemas.microsoft.com/office/drawing/2014/main" xmlns="" val="10002"/>
                  </a:ext>
                </a:extLst>
              </a:tr>
              <a:tr h="330200">
                <a:tc>
                  <a:txBody>
                    <a:bodyPr/>
                    <a:lstStyle/>
                    <a:p>
                      <a:pPr marL="0" indent="0" algn="ctr">
                        <a:lnSpc>
                          <a:spcPct val="100000"/>
                        </a:lnSpc>
                        <a:defRPr/>
                      </a:pPr>
                      <a:r>
                        <a:rPr lang="en-US" sz="1400" b="0" i="0" u="none" strike="noStrike">
                          <a:solidFill>
                            <a:srgbClr val="FFFFFF"/>
                          </a:solidFill>
                          <a:latin typeface="Noto Sans SC"/>
                          <a:ea typeface="Noto Sans SC"/>
                          <a:cs typeface="Noto Sans SC"/>
                          <a:sym typeface="Noto Sans SC"/>
                        </a:rPr>
                        <a:t>Arch</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63500" indent="0" algn="ctr">
                        <a:lnSpc>
                          <a:spcPct val="100000"/>
                        </a:lnSpc>
                        <a:defRPr/>
                      </a:pPr>
                      <a:r>
                        <a:rPr lang="en-US" sz="1300" b="0" i="0" u="none" strike="noStrike">
                          <a:solidFill>
                            <a:srgbClr val="FFFFFF">
                              <a:alpha val="80000"/>
                            </a:srgbClr>
                          </a:solidFill>
                          <a:latin typeface="Noto Sans SC"/>
                          <a:ea typeface="Noto Sans SC"/>
                          <a:cs typeface="Noto Sans SC"/>
                          <a:sym typeface="Noto Sans SC"/>
                        </a:rPr>
                        <a:t>general, libs (底层)</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F87171"/>
                          </a:solidFill>
                          <a:latin typeface="Noto Sans SC"/>
                          <a:ea typeface="Noto Sans SC"/>
                          <a:cs typeface="Noto Sans SC"/>
                          <a:sym typeface="Noto Sans SC"/>
                        </a:rPr>
                        <a:t>hal, kernel</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63500" indent="0" algn="l">
                        <a:lnSpc>
                          <a:spcPct val="100000"/>
                        </a:lnSpc>
                        <a:defRPr/>
                      </a:pPr>
                      <a:r>
                        <a:rPr lang="en-US" sz="1300" b="0" i="0" u="none" strike="noStrike" dirty="0" err="1">
                          <a:solidFill>
                            <a:srgbClr val="FFFFFF">
                              <a:alpha val="80000"/>
                            </a:srgbClr>
                          </a:solidFill>
                          <a:latin typeface="Noto Sans SC"/>
                          <a:ea typeface="Noto Sans SC"/>
                          <a:cs typeface="Noto Sans SC"/>
                          <a:sym typeface="Noto Sans SC"/>
                        </a:rPr>
                        <a:t>实现特定架构的指令集与寄存器操作适配</a:t>
                      </a:r>
                      <a:endParaRPr lang="en-US" sz="1100" dirty="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3"/>
                  </a:ext>
                </a:extLst>
              </a:tr>
              <a:tr h="330200">
                <a:tc>
                  <a:txBody>
                    <a:bodyPr/>
                    <a:lstStyle/>
                    <a:p>
                      <a:pPr marL="0" indent="0" algn="ctr">
                        <a:lnSpc>
                          <a:spcPct val="100000"/>
                        </a:lnSpc>
                        <a:defRPr/>
                      </a:pPr>
                      <a:r>
                        <a:rPr lang="en-US" sz="1400" b="0" i="0" u="none" strike="noStrike">
                          <a:solidFill>
                            <a:srgbClr val="FFFFFF"/>
                          </a:solidFill>
                          <a:latin typeface="Noto Sans SC"/>
                          <a:ea typeface="Noto Sans SC"/>
                          <a:cs typeface="Noto Sans SC"/>
                          <a:sym typeface="Noto Sans SC"/>
                        </a:rPr>
                        <a:t>Libs</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63500" indent="0" algn="ctr">
                        <a:lnSpc>
                          <a:spcPct val="100000"/>
                        </a:lnSpc>
                        <a:defRPr/>
                      </a:pPr>
                      <a:r>
                        <a:rPr lang="en-US" sz="1300" b="0" i="0" u="none" strike="noStrike" dirty="0" err="1">
                          <a:solidFill>
                            <a:srgbClr val="FFFFFF">
                              <a:alpha val="80000"/>
                            </a:srgbClr>
                          </a:solidFill>
                          <a:latin typeface="Noto Sans SC"/>
                          <a:ea typeface="Noto Sans SC"/>
                          <a:cs typeface="Noto Sans SC"/>
                          <a:sym typeface="Noto Sans SC"/>
                        </a:rPr>
                        <a:t>仅内部模块互依赖</a:t>
                      </a:r>
                      <a:endParaRPr lang="en-US" sz="1100" dirty="0"/>
                    </a:p>
                  </a:txBody>
                  <a:tcPr marL="101600" marR="101600" marT="101600" marB="101600" anchor="ctr">
                    <a:lnL>
                      <a:noFill/>
                    </a:lnL>
                    <a:lnR>
                      <a:noFill/>
                    </a:lnR>
                    <a:lnT>
                      <a:noFill/>
                    </a:lnT>
                    <a:lnB>
                      <a:noFill/>
                    </a:lnB>
                    <a:solidFill>
                      <a:srgbClr val="252545">
                        <a:alpha val="100000"/>
                      </a:srgbClr>
                    </a:solidFill>
                  </a:tcPr>
                </a:tc>
                <a:tc>
                  <a:txBody>
                    <a:bodyPr/>
                    <a:lstStyle/>
                    <a:p>
                      <a:pPr marL="0" indent="0" algn="ctr">
                        <a:lnSpc>
                          <a:spcPct val="100000"/>
                        </a:lnSpc>
                        <a:defRPr/>
                      </a:pPr>
                      <a:r>
                        <a:rPr lang="en-US" sz="1300" b="0" i="0" u="none" strike="noStrike">
                          <a:solidFill>
                            <a:srgbClr val="F87171"/>
                          </a:solidFill>
                          <a:latin typeface="Noto Sans SC"/>
                          <a:ea typeface="Noto Sans SC"/>
                          <a:cs typeface="Noto Sans SC"/>
                          <a:sym typeface="Noto Sans SC"/>
                        </a:rPr>
                        <a:t>所有上层业务层</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63500" indent="0" algn="l">
                        <a:lnSpc>
                          <a:spcPct val="100000"/>
                        </a:lnSpc>
                        <a:defRPr/>
                      </a:pPr>
                      <a:r>
                        <a:rPr lang="en-US" sz="1300" b="0" i="0" u="none" strike="noStrike" dirty="0" err="1">
                          <a:solidFill>
                            <a:srgbClr val="FFFFFF">
                              <a:alpha val="80000"/>
                            </a:srgbClr>
                          </a:solidFill>
                          <a:latin typeface="Noto Sans SC"/>
                          <a:ea typeface="Noto Sans SC"/>
                          <a:cs typeface="Noto Sans SC"/>
                          <a:sym typeface="Noto Sans SC"/>
                        </a:rPr>
                        <a:t>提供纯算法、数据结构等无状态基础能力，复用性优先</a:t>
                      </a:r>
                      <a:endParaRPr lang="en-US" sz="1100" dirty="0"/>
                    </a:p>
                  </a:txBody>
                  <a:tcPr marL="101600" marR="101600" marT="101600" marB="101600" anchor="ctr">
                    <a:lnL>
                      <a:noFill/>
                    </a:lnL>
                    <a:lnR>
                      <a:noFill/>
                    </a:lnR>
                    <a:lnT>
                      <a:noFill/>
                    </a:lnT>
                    <a:lnB>
                      <a:noFill/>
                    </a:lnB>
                    <a:solidFill>
                      <a:srgbClr val="252545">
                        <a:alpha val="100000"/>
                      </a:srgbClr>
                    </a:solidFill>
                  </a:tcPr>
                </a:tc>
                <a:extLst>
                  <a:ext uri="{0D108BD9-81ED-4DB2-BD59-A6C34878D82A}">
                    <a16:rowId xmlns:a16="http://schemas.microsoft.com/office/drawing/2014/main" xmlns="" val="10004"/>
                  </a:ext>
                </a:extLst>
              </a:tr>
            </a:tbl>
          </a:graphicData>
        </a:graphic>
      </p:graphicFrame>
      <p:sp>
        <p:nvSpPr>
          <p:cNvPr id="22" name="AutoShape 22"/>
          <p:cNvSpPr/>
          <p:nvPr/>
        </p:nvSpPr>
        <p:spPr>
          <a:xfrm>
            <a:off x="9270998" y="3695096"/>
            <a:ext cx="2413001" cy="2844800"/>
          </a:xfrm>
          <a:prstGeom prst="roundRect">
            <a:avLst>
              <a:gd name="adj" fmla="val 0"/>
            </a:avLst>
          </a:prstGeom>
          <a:solidFill>
            <a:srgbClr val="00D9FF">
              <a:alpha val="15000"/>
            </a:srgbClr>
          </a:solidFill>
          <a:ln w="12700" cap="flat" cmpd="sng">
            <a:solidFill>
              <a:srgbClr val="00D9FF">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420972" y="3822096"/>
            <a:ext cx="304800" cy="304800"/>
          </a:xfrm>
          <a:prstGeom prst="rect">
            <a:avLst/>
          </a:prstGeom>
        </p:spPr>
      </p:pic>
      <p:sp>
        <p:nvSpPr>
          <p:cNvPr id="24" name="AutoShape 24"/>
          <p:cNvSpPr/>
          <p:nvPr/>
        </p:nvSpPr>
        <p:spPr>
          <a:xfrm>
            <a:off x="9801972" y="3796696"/>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0D9FF"/>
                </a:solidFill>
                <a:latin typeface="Noto Sans SC"/>
                <a:ea typeface="Noto Sans SC"/>
                <a:cs typeface="Noto Sans SC"/>
                <a:sym typeface="Noto Sans SC"/>
              </a:rPr>
              <a:t>动态能力注入机制</a:t>
            </a:r>
            <a:endParaRPr lang="en-US" sz="1100" dirty="0"/>
          </a:p>
        </p:txBody>
      </p:sp>
      <p:cxnSp>
        <p:nvCxnSpPr>
          <p:cNvPr id="25" name="Connector 25"/>
          <p:cNvCxnSpPr>
            <a:cxnSpLocks/>
          </p:cNvCxnSpPr>
          <p:nvPr/>
        </p:nvCxnSpPr>
        <p:spPr>
          <a:xfrm>
            <a:off x="9526182" y="4266596"/>
            <a:ext cx="2030818" cy="0"/>
          </a:xfrm>
          <a:prstGeom prst="line">
            <a:avLst/>
          </a:prstGeom>
          <a:solidFill>
            <a:srgbClr val="DEE0E3">
              <a:alpha val="100000"/>
            </a:srgbClr>
          </a:solidFill>
          <a:ln w="12700" cap="flat" cmpd="sng">
            <a:solidFill>
              <a:srgbClr val="00D9FF">
                <a:alpha val="30000"/>
              </a:srgbClr>
            </a:solidFill>
            <a:prstDash val="solid"/>
            <a:round/>
            <a:headEnd type="none" w="med" len="med"/>
            <a:tailEnd type="none" w="med" len="med"/>
          </a:ln>
        </p:spPr>
      </p:cxnSp>
      <p:sp>
        <p:nvSpPr>
          <p:cNvPr id="26" name="AutoShape 26"/>
          <p:cNvSpPr/>
          <p:nvPr/>
        </p:nvSpPr>
        <p:spPr>
          <a:xfrm>
            <a:off x="9420972" y="4400249"/>
            <a:ext cx="2173514" cy="2067075"/>
          </a:xfrm>
          <a:prstGeom prst="rect">
            <a:avLst/>
          </a:prstGeom>
          <a:noFill/>
          <a:ln w="12700" cap="flat" cmpd="sng">
            <a:noFill/>
            <a:prstDash val="solid"/>
            <a:round/>
          </a:ln>
        </p:spPr>
        <p:txBody>
          <a:bodyPr vert="horz" wrap="square" lIns="0" tIns="0" rIns="0" bIns="0" rtlCol="0" anchor="ctr" anchorCtr="0"/>
          <a:lstStyle/>
          <a:p>
            <a:pPr marL="0" indent="457200" algn="l">
              <a:lnSpc>
                <a:spcPct val="108333"/>
              </a:lnSpc>
              <a:defRPr/>
            </a:pPr>
            <a:r>
              <a:rPr lang="en-US" sz="1400" b="0" i="0" u="none" strike="noStrike" dirty="0" err="1">
                <a:solidFill>
                  <a:srgbClr val="FFFFFF">
                    <a:alpha val="90196"/>
                  </a:srgbClr>
                </a:solidFill>
                <a:latin typeface="Noto Sans SC"/>
                <a:ea typeface="Noto Sans SC"/>
                <a:cs typeface="Noto Sans SC"/>
                <a:sym typeface="Noto Sans SC"/>
              </a:rPr>
              <a:t>利用全局原子指针（Atomic</a:t>
            </a:r>
            <a:r>
              <a:rPr lang="en-US" sz="1400" b="0" i="0" u="none" strike="noStrike" dirty="0">
                <a:solidFill>
                  <a:srgbClr val="FFFFFF">
                    <a:alpha val="90196"/>
                  </a:srgbClr>
                </a:solidFill>
                <a:latin typeface="Noto Sans SC"/>
                <a:ea typeface="Noto Sans SC"/>
                <a:cs typeface="Noto Sans SC"/>
                <a:sym typeface="Noto Sans SC"/>
              </a:rPr>
              <a:t> Ptr）在运行期动态挂载不同的后端实现。这使得系统无需重新编译，即可灵活切换硬件适配层或算法逻辑，极大提升了架构的灵活性与可扩展性。</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2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启动控制流</a:t>
            </a:r>
            <a:endParaRPr lang="en-US" sz="1100"/>
          </a:p>
        </p:txBody>
      </p:sp>
      <p:sp>
        <p:nvSpPr>
          <p:cNvPr id="3" name="AutoShape 3"/>
          <p:cNvSpPr/>
          <p:nvPr/>
        </p:nvSpPr>
        <p:spPr>
          <a:xfrm>
            <a:off x="508000" y="1143000"/>
            <a:ext cx="1016000" cy="508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778000"/>
            <a:ext cx="1651000" cy="7620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879600"/>
            <a:ext cx="1651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a:ea typeface="Noto Sans SC"/>
                <a:cs typeface="Noto Sans SC"/>
                <a:sym typeface="Noto Sans SC"/>
              </a:rPr>
              <a:t>固件入口</a:t>
            </a:r>
            <a:br>
              <a:rPr lang="en-US" sz="1400" b="0" i="0" u="none" strike="noStrike">
                <a:solidFill>
                  <a:srgbClr val="FFFFFF"/>
                </a:solidFill>
                <a:latin typeface="Noto Sans SC"/>
                <a:ea typeface="Noto Sans SC"/>
                <a:cs typeface="Noto Sans SC"/>
                <a:sym typeface="Noto Sans SC"/>
              </a:rPr>
            </a:br>
            <a:r>
              <a:rPr lang="en-US" sz="1400" b="0" i="0" u="none" strike="noStrike">
                <a:solidFill>
                  <a:srgbClr val="FFFFFF"/>
                </a:solidFill>
                <a:latin typeface="Noto Sans SC"/>
                <a:ea typeface="Noto Sans SC"/>
                <a:cs typeface="Noto Sans SC"/>
                <a:sym typeface="Noto Sans SC"/>
              </a:rPr>
              <a:t>Boot Firmware</a:t>
            </a:r>
            <a:endParaRPr lang="en-US" sz="1100"/>
          </a:p>
        </p:txBody>
      </p:sp>
      <p:cxnSp>
        <p:nvCxnSpPr>
          <p:cNvPr id="6" name="Connector 6"/>
          <p:cNvCxnSpPr/>
          <p:nvPr/>
        </p:nvCxnSpPr>
        <p:spPr>
          <a:xfrm rot="-228844">
            <a:off x="2222711" y="2152650"/>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7" name="AutoShape 7"/>
          <p:cNvSpPr/>
          <p:nvPr/>
        </p:nvSpPr>
        <p:spPr>
          <a:xfrm>
            <a:off x="2476500" y="1778000"/>
            <a:ext cx="1651000" cy="7620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476500" y="1879600"/>
            <a:ext cx="1651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a:ea typeface="Noto Sans SC"/>
                <a:cs typeface="Noto Sans SC"/>
                <a:sym typeface="Noto Sans SC"/>
              </a:rPr>
              <a:t>早期环境</a:t>
            </a:r>
            <a:br>
              <a:rPr lang="en-US" sz="1400" b="0" i="0" u="none" strike="noStrike">
                <a:solidFill>
                  <a:srgbClr val="FFFFFF"/>
                </a:solidFill>
                <a:latin typeface="Noto Sans SC"/>
                <a:ea typeface="Noto Sans SC"/>
                <a:cs typeface="Noto Sans SC"/>
                <a:sym typeface="Noto Sans SC"/>
              </a:rPr>
            </a:br>
            <a:r>
              <a:rPr lang="en-US" sz="1400" b="0" i="0" u="none" strike="noStrike">
                <a:solidFill>
                  <a:srgbClr val="FFFFFF"/>
                </a:solidFill>
                <a:latin typeface="Noto Sans SC"/>
                <a:ea typeface="Noto Sans SC"/>
                <a:cs typeface="Noto Sans SC"/>
                <a:sym typeface="Noto Sans SC"/>
              </a:rPr>
              <a:t>Early Env Setup</a:t>
            </a:r>
            <a:endParaRPr lang="en-US" sz="1100"/>
          </a:p>
        </p:txBody>
      </p:sp>
      <p:cxnSp>
        <p:nvCxnSpPr>
          <p:cNvPr id="9" name="Connector 9"/>
          <p:cNvCxnSpPr/>
          <p:nvPr/>
        </p:nvCxnSpPr>
        <p:spPr>
          <a:xfrm rot="-228844">
            <a:off x="4191211" y="2152650"/>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0" name="AutoShape 10"/>
          <p:cNvSpPr/>
          <p:nvPr/>
        </p:nvSpPr>
        <p:spPr>
          <a:xfrm>
            <a:off x="4445000" y="1778000"/>
            <a:ext cx="1651000" cy="7620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879600"/>
            <a:ext cx="1651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a:ea typeface="Noto Sans SC"/>
                <a:cs typeface="Noto Sans SC"/>
                <a:sym typeface="Noto Sans SC"/>
              </a:rPr>
              <a:t>架构加载器</a:t>
            </a:r>
            <a:br>
              <a:rPr lang="en-US" sz="1400" b="0" i="0" u="none" strike="noStrike">
                <a:solidFill>
                  <a:srgbClr val="FFFFFF"/>
                </a:solidFill>
                <a:latin typeface="Noto Sans SC"/>
                <a:ea typeface="Noto Sans SC"/>
                <a:cs typeface="Noto Sans SC"/>
                <a:sym typeface="Noto Sans SC"/>
              </a:rPr>
            </a:br>
            <a:r>
              <a:rPr lang="en-US" sz="1400" b="0" i="0" u="none" strike="noStrike">
                <a:solidFill>
                  <a:srgbClr val="FFFFFF"/>
                </a:solidFill>
                <a:latin typeface="Noto Sans SC"/>
                <a:ea typeface="Noto Sans SC"/>
                <a:cs typeface="Noto Sans SC"/>
                <a:sym typeface="Noto Sans SC"/>
              </a:rPr>
              <a:t>Arch Loader</a:t>
            </a:r>
            <a:endParaRPr lang="en-US" sz="1100"/>
          </a:p>
        </p:txBody>
      </p:sp>
      <p:cxnSp>
        <p:nvCxnSpPr>
          <p:cNvPr id="12" name="Connector 12"/>
          <p:cNvCxnSpPr/>
          <p:nvPr/>
        </p:nvCxnSpPr>
        <p:spPr>
          <a:xfrm rot="-228844">
            <a:off x="6159711" y="2152650"/>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3" name="AutoShape 13"/>
          <p:cNvSpPr/>
          <p:nvPr/>
        </p:nvSpPr>
        <p:spPr>
          <a:xfrm>
            <a:off x="6413500" y="1778000"/>
            <a:ext cx="1651000" cy="762000"/>
          </a:xfrm>
          <a:prstGeom prst="roundRect">
            <a:avLst>
              <a:gd name="adj" fmla="val 0"/>
            </a:avLst>
          </a:prstGeom>
          <a:solidFill>
            <a:srgbClr val="00D9FF">
              <a:alpha val="20000"/>
            </a:srgbClr>
          </a:solidFill>
          <a:ln w="25400" cap="flat" cmpd="sng">
            <a:solidFill>
              <a:srgbClr val="00D9FF">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13500" y="1879600"/>
            <a:ext cx="1651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a:ea typeface="Noto Sans SC"/>
                <a:cs typeface="Noto Sans SC"/>
                <a:sym typeface="Noto Sans SC"/>
              </a:rPr>
              <a:t>StartContext</a:t>
            </a:r>
            <a:br>
              <a:rPr lang="en-US" sz="1400" b="1" i="0" u="none" strike="noStrike">
                <a:solidFill>
                  <a:srgbClr val="FFFFFF"/>
                </a:solidFill>
                <a:latin typeface="Noto Sans SC"/>
                <a:ea typeface="Noto Sans SC"/>
                <a:cs typeface="Noto Sans SC"/>
                <a:sym typeface="Noto Sans SC"/>
              </a:rPr>
            </a:br>
            <a:r>
              <a:rPr lang="en-US" sz="1400" b="1" i="0" u="none" strike="noStrike">
                <a:solidFill>
                  <a:srgbClr val="FFFFFF"/>
                </a:solidFill>
                <a:latin typeface="Noto Sans SC"/>
                <a:ea typeface="Noto Sans SC"/>
                <a:cs typeface="Noto Sans SC"/>
                <a:sym typeface="Noto Sans SC"/>
              </a:rPr>
              <a:t>核心上下文交接</a:t>
            </a:r>
            <a:endParaRPr lang="en-US" sz="1100"/>
          </a:p>
        </p:txBody>
      </p:sp>
      <p:cxnSp>
        <p:nvCxnSpPr>
          <p:cNvPr id="15" name="Connector 15"/>
          <p:cNvCxnSpPr/>
          <p:nvPr/>
        </p:nvCxnSpPr>
        <p:spPr>
          <a:xfrm rot="-228844">
            <a:off x="8128211" y="2152650"/>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6" name="AutoShape 16"/>
          <p:cNvSpPr/>
          <p:nvPr/>
        </p:nvSpPr>
        <p:spPr>
          <a:xfrm>
            <a:off x="8382000" y="1778000"/>
            <a:ext cx="1651000" cy="7620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382000" y="1879600"/>
            <a:ext cx="1651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a:ea typeface="Noto Sans SC"/>
                <a:cs typeface="Noto Sans SC"/>
                <a:sym typeface="Noto Sans SC"/>
              </a:rPr>
              <a:t>平台无关启动</a:t>
            </a:r>
            <a:br>
              <a:rPr lang="en-US" sz="1400" b="0" i="0" u="none" strike="noStrike">
                <a:solidFill>
                  <a:srgbClr val="FFFFFF"/>
                </a:solidFill>
                <a:latin typeface="Noto Sans SC"/>
                <a:ea typeface="Noto Sans SC"/>
                <a:cs typeface="Noto Sans SC"/>
                <a:sym typeface="Noto Sans SC"/>
              </a:rPr>
            </a:br>
            <a:r>
              <a:rPr lang="en-US" sz="1400" b="0" i="0" u="none" strike="noStrike">
                <a:solidFill>
                  <a:srgbClr val="FFFFFF"/>
                </a:solidFill>
                <a:latin typeface="Noto Sans SC"/>
                <a:ea typeface="Noto Sans SC"/>
                <a:cs typeface="Noto Sans SC"/>
                <a:sym typeface="Noto Sans SC"/>
              </a:rPr>
              <a:t>Core Startup</a:t>
            </a:r>
            <a:endParaRPr lang="en-US" sz="1100"/>
          </a:p>
        </p:txBody>
      </p:sp>
      <p:cxnSp>
        <p:nvCxnSpPr>
          <p:cNvPr id="18" name="Connector 18"/>
          <p:cNvCxnSpPr/>
          <p:nvPr/>
        </p:nvCxnSpPr>
        <p:spPr>
          <a:xfrm rot="-228844">
            <a:off x="10096711" y="2152650"/>
            <a:ext cx="190500" cy="12700"/>
          </a:xfrm>
          <a:prstGeom prst="line">
            <a:avLst/>
          </a:prstGeom>
          <a:solidFill>
            <a:srgbClr val="DEE0E3">
              <a:alpha val="100000"/>
            </a:srgbClr>
          </a:solidFill>
          <a:ln w="25400" cap="flat" cmpd="sng">
            <a:solidFill>
              <a:srgbClr val="00D9FF">
                <a:alpha val="100000"/>
              </a:srgbClr>
            </a:solidFill>
            <a:prstDash val="solid"/>
            <a:round/>
            <a:headEnd type="none" w="lg" len="lg"/>
            <a:tailEnd type="arrow" w="sm" len="sm"/>
          </a:ln>
        </p:spPr>
      </p:cxnSp>
      <p:sp>
        <p:nvSpPr>
          <p:cNvPr id="19" name="AutoShape 19"/>
          <p:cNvSpPr/>
          <p:nvPr/>
        </p:nvSpPr>
        <p:spPr>
          <a:xfrm>
            <a:off x="10350500" y="1778000"/>
            <a:ext cx="1333500" cy="7620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350500" y="1879600"/>
            <a:ext cx="1333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a:ea typeface="Noto Sans SC"/>
                <a:cs typeface="Noto Sans SC"/>
                <a:sym typeface="Noto Sans SC"/>
              </a:rPr>
              <a:t>用户态</a:t>
            </a:r>
            <a:br>
              <a:rPr lang="en-US" sz="1400" b="0" i="0" u="none" strike="noStrike">
                <a:solidFill>
                  <a:srgbClr val="FFFFFF"/>
                </a:solidFill>
                <a:latin typeface="Noto Sans SC"/>
                <a:ea typeface="Noto Sans SC"/>
                <a:cs typeface="Noto Sans SC"/>
                <a:sym typeface="Noto Sans SC"/>
              </a:rPr>
            </a:br>
            <a:r>
              <a:rPr lang="en-US" sz="1400" b="0" i="0" u="none" strike="noStrike">
                <a:solidFill>
                  <a:srgbClr val="FFFFFF"/>
                </a:solidFill>
                <a:latin typeface="Noto Sans SC"/>
                <a:ea typeface="Noto Sans SC"/>
                <a:cs typeface="Noto Sans SC"/>
                <a:sym typeface="Noto Sans SC"/>
              </a:rPr>
              <a:t>Init Process</a:t>
            </a:r>
            <a:endParaRPr lang="en-US" sz="1100"/>
          </a:p>
        </p:txBody>
      </p:sp>
      <p:sp>
        <p:nvSpPr>
          <p:cNvPr id="21" name="AutoShape 21"/>
          <p:cNvSpPr/>
          <p:nvPr/>
        </p:nvSpPr>
        <p:spPr>
          <a:xfrm>
            <a:off x="508000" y="2984500"/>
            <a:ext cx="1117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00D9FF"/>
                </a:solidFill>
                <a:latin typeface="Noto Sans SC"/>
                <a:ea typeface="Noto Sans SC"/>
                <a:cs typeface="Noto Sans SC"/>
                <a:sym typeface="Noto Sans SC"/>
              </a:rPr>
              <a:t>核心机制：StartContext 作为架构层到平台无关层的唯一交接对象，确立了一次性事务边界，确保上层逻辑纯净性。</a:t>
            </a:r>
            <a:endParaRPr lang="en-US" sz="1100"/>
          </a:p>
        </p:txBody>
      </p:sp>
      <p:cxnSp>
        <p:nvCxnSpPr>
          <p:cNvPr id="22" name="Connector 22"/>
          <p:cNvCxnSpPr/>
          <p:nvPr/>
        </p:nvCxnSpPr>
        <p:spPr>
          <a:xfrm rot="-3906">
            <a:off x="508004" y="3803650"/>
            <a:ext cx="11176000" cy="12700"/>
          </a:xfrm>
          <a:prstGeom prst="line">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3" name="AutoShape 23"/>
          <p:cNvSpPr/>
          <p:nvPr/>
        </p:nvSpPr>
        <p:spPr>
          <a:xfrm>
            <a:off x="508000" y="4064000"/>
            <a:ext cx="5588000" cy="4064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571500" y="41148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err="1">
                <a:solidFill>
                  <a:srgbClr val="FFFFFF"/>
                </a:solidFill>
                <a:latin typeface="Noto Sans SC"/>
                <a:ea typeface="Noto Sans SC"/>
                <a:cs typeface="Noto Sans SC"/>
                <a:sym typeface="Noto Sans SC"/>
              </a:rPr>
              <a:t>阶段</a:t>
            </a:r>
            <a:endParaRPr lang="en-US" sz="1100" dirty="0"/>
          </a:p>
        </p:txBody>
      </p:sp>
      <p:sp>
        <p:nvSpPr>
          <p:cNvPr id="25" name="AutoShape 25"/>
          <p:cNvSpPr/>
          <p:nvPr/>
        </p:nvSpPr>
        <p:spPr>
          <a:xfrm>
            <a:off x="1714500" y="4114800"/>
            <a:ext cx="2667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Noto Sans SC"/>
                <a:ea typeface="Noto Sans SC"/>
                <a:cs typeface="Noto Sans SC"/>
                <a:sym typeface="Noto Sans SC"/>
              </a:rPr>
              <a:t>核心职责与动作</a:t>
            </a:r>
            <a:endParaRPr lang="en-US" sz="1100"/>
          </a:p>
        </p:txBody>
      </p:sp>
      <p:sp>
        <p:nvSpPr>
          <p:cNvPr id="26" name="AutoShape 26"/>
          <p:cNvSpPr/>
          <p:nvPr/>
        </p:nvSpPr>
        <p:spPr>
          <a:xfrm>
            <a:off x="4445000" y="4114800"/>
            <a:ext cx="1524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Noto Sans SC"/>
                <a:ea typeface="Noto Sans SC"/>
                <a:cs typeface="Noto Sans SC"/>
                <a:sym typeface="Noto Sans SC"/>
              </a:rPr>
              <a:t>关键产出</a:t>
            </a:r>
            <a:endParaRPr lang="en-US" sz="1100"/>
          </a:p>
        </p:txBody>
      </p:sp>
      <p:sp>
        <p:nvSpPr>
          <p:cNvPr id="27" name="AutoShape 27"/>
          <p:cNvSpPr/>
          <p:nvPr/>
        </p:nvSpPr>
        <p:spPr>
          <a:xfrm>
            <a:off x="508000" y="4572000"/>
            <a:ext cx="5588000" cy="6604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28" name="Connector 28"/>
          <p:cNvCxnSpPr/>
          <p:nvPr/>
        </p:nvCxnSpPr>
        <p:spPr>
          <a:xfrm rot="-7813">
            <a:off x="508007" y="5226050"/>
            <a:ext cx="5588000" cy="12700"/>
          </a:xfrm>
          <a:prstGeom prst="line">
            <a:avLst/>
          </a:prstGeom>
          <a:solidFill>
            <a:srgbClr val="DEE0E3">
              <a:alpha val="100000"/>
            </a:srgbClr>
          </a:solidFill>
          <a:ln w="12700" cap="flat" cmpd="sng">
            <a:solidFill>
              <a:srgbClr val="FFFFFF">
                <a:alpha val="5000"/>
              </a:srgbClr>
            </a:solidFill>
            <a:prstDash val="solid"/>
            <a:round/>
            <a:headEnd type="none" w="med" len="med"/>
            <a:tailEnd type="none" w="med" len="med"/>
          </a:ln>
        </p:spPr>
      </p:cxnSp>
      <p:sp>
        <p:nvSpPr>
          <p:cNvPr id="29" name="AutoShape 29"/>
          <p:cNvSpPr/>
          <p:nvPr/>
        </p:nvSpPr>
        <p:spPr>
          <a:xfrm>
            <a:off x="571500" y="4622800"/>
            <a:ext cx="107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90196"/>
                  </a:srgbClr>
                </a:solidFill>
                <a:latin typeface="Noto Sans SC"/>
                <a:ea typeface="Noto Sans SC"/>
                <a:cs typeface="Noto Sans SC"/>
                <a:sym typeface="Noto Sans SC"/>
              </a:rPr>
              <a:t>早期入口</a:t>
            </a:r>
            <a:endParaRPr lang="en-US" sz="1100"/>
          </a:p>
        </p:txBody>
      </p:sp>
      <p:sp>
        <p:nvSpPr>
          <p:cNvPr id="30" name="AutoShape 30"/>
          <p:cNvSpPr/>
          <p:nvPr/>
        </p:nvSpPr>
        <p:spPr>
          <a:xfrm>
            <a:off x="1714500" y="4622800"/>
            <a:ext cx="266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70196"/>
                  </a:srgbClr>
                </a:solidFill>
                <a:latin typeface="Noto Sans SC"/>
                <a:ea typeface="Noto Sans SC"/>
                <a:cs typeface="Noto Sans SC"/>
                <a:sym typeface="Noto Sans SC"/>
              </a:rPr>
              <a:t>建立页表映射、设置异常向量入口、清零BSS段、固化启动参数结构。</a:t>
            </a:r>
            <a:endParaRPr lang="en-US" sz="1100"/>
          </a:p>
        </p:txBody>
      </p:sp>
      <p:sp>
        <p:nvSpPr>
          <p:cNvPr id="31" name="AutoShape 31"/>
          <p:cNvSpPr/>
          <p:nvPr/>
        </p:nvSpPr>
        <p:spPr>
          <a:xfrm>
            <a:off x="4445000" y="4622800"/>
            <a:ext cx="1587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0D9FF"/>
                </a:solidFill>
                <a:latin typeface="Noto Sans SC"/>
                <a:ea typeface="Noto Sans SC"/>
                <a:cs typeface="Noto Sans SC"/>
                <a:sym typeface="Noto Sans SC"/>
              </a:rPr>
              <a:t>Rust执行环境</a:t>
            </a:r>
            <a:endParaRPr lang="en-US" sz="1100"/>
          </a:p>
        </p:txBody>
      </p:sp>
      <p:sp>
        <p:nvSpPr>
          <p:cNvPr id="32" name="AutoShape 32"/>
          <p:cNvSpPr/>
          <p:nvPr/>
        </p:nvSpPr>
        <p:spPr>
          <a:xfrm>
            <a:off x="508000" y="5232400"/>
            <a:ext cx="5588000" cy="6604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3" name="Connector 33"/>
          <p:cNvCxnSpPr/>
          <p:nvPr/>
        </p:nvCxnSpPr>
        <p:spPr>
          <a:xfrm rot="-7813">
            <a:off x="508007" y="5886450"/>
            <a:ext cx="5588000" cy="12700"/>
          </a:xfrm>
          <a:prstGeom prst="line">
            <a:avLst/>
          </a:prstGeom>
          <a:solidFill>
            <a:srgbClr val="DEE0E3">
              <a:alpha val="100000"/>
            </a:srgbClr>
          </a:solidFill>
          <a:ln w="12700" cap="flat" cmpd="sng">
            <a:solidFill>
              <a:srgbClr val="FFFFFF">
                <a:alpha val="5000"/>
              </a:srgbClr>
            </a:solidFill>
            <a:prstDash val="solid"/>
            <a:round/>
            <a:headEnd type="none" w="med" len="med"/>
            <a:tailEnd type="none" w="med" len="med"/>
          </a:ln>
        </p:spPr>
      </p:cxnSp>
      <p:sp>
        <p:nvSpPr>
          <p:cNvPr id="34" name="AutoShape 34"/>
          <p:cNvSpPr/>
          <p:nvPr/>
        </p:nvSpPr>
        <p:spPr>
          <a:xfrm>
            <a:off x="571500" y="5283200"/>
            <a:ext cx="107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90196"/>
                  </a:srgbClr>
                </a:solidFill>
                <a:latin typeface="Noto Sans SC"/>
                <a:ea typeface="Noto Sans SC"/>
                <a:cs typeface="Noto Sans SC"/>
                <a:sym typeface="Noto Sans SC"/>
              </a:rPr>
              <a:t>架构加载</a:t>
            </a:r>
            <a:endParaRPr lang="en-US" sz="1100"/>
          </a:p>
        </p:txBody>
      </p:sp>
      <p:sp>
        <p:nvSpPr>
          <p:cNvPr id="35" name="AutoShape 35"/>
          <p:cNvSpPr/>
          <p:nvPr/>
        </p:nvSpPr>
        <p:spPr>
          <a:xfrm>
            <a:off x="1714500" y="5283200"/>
            <a:ext cx="266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70196"/>
                  </a:srgbClr>
                </a:solidFill>
                <a:latin typeface="Noto Sans SC"/>
                <a:ea typeface="Noto Sans SC"/>
                <a:cs typeface="Noto Sans SC"/>
                <a:sym typeface="Noto Sans SC"/>
              </a:rPr>
              <a:t>初始化日志/分配器、解析固件表(DTB/ACPI)、构造并校验 StartContext。</a:t>
            </a:r>
            <a:endParaRPr lang="en-US" sz="1100"/>
          </a:p>
        </p:txBody>
      </p:sp>
      <p:sp>
        <p:nvSpPr>
          <p:cNvPr id="36" name="AutoShape 36"/>
          <p:cNvSpPr/>
          <p:nvPr/>
        </p:nvSpPr>
        <p:spPr>
          <a:xfrm>
            <a:off x="4445000" y="5283200"/>
            <a:ext cx="1587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0D9FF"/>
                </a:solidFill>
                <a:latin typeface="Noto Sans SC"/>
                <a:ea typeface="Noto Sans SC"/>
                <a:cs typeface="Noto Sans SC"/>
                <a:sym typeface="Noto Sans SC"/>
              </a:rPr>
              <a:t>Context对象</a:t>
            </a:r>
            <a:endParaRPr lang="en-US" sz="1100"/>
          </a:p>
        </p:txBody>
      </p:sp>
      <p:sp>
        <p:nvSpPr>
          <p:cNvPr id="37" name="AutoShape 37"/>
          <p:cNvSpPr/>
          <p:nvPr/>
        </p:nvSpPr>
        <p:spPr>
          <a:xfrm>
            <a:off x="508000" y="5892800"/>
            <a:ext cx="5588000" cy="7112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571500" y="5943600"/>
            <a:ext cx="107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solidFill>
                  <a:srgbClr val="FFFFFF">
                    <a:alpha val="90196"/>
                  </a:srgbClr>
                </a:solidFill>
                <a:latin typeface="Noto Sans SC"/>
                <a:ea typeface="Noto Sans SC"/>
                <a:cs typeface="Noto Sans SC"/>
                <a:sym typeface="Noto Sans SC"/>
              </a:rPr>
              <a:t>内核Main</a:t>
            </a:r>
            <a:endParaRPr lang="en-US" sz="1100" dirty="0"/>
          </a:p>
        </p:txBody>
      </p:sp>
      <p:sp>
        <p:nvSpPr>
          <p:cNvPr id="39" name="AutoShape 39"/>
          <p:cNvSpPr/>
          <p:nvPr/>
        </p:nvSpPr>
        <p:spPr>
          <a:xfrm>
            <a:off x="1714500" y="5943600"/>
            <a:ext cx="266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FFFFFF">
                    <a:alpha val="70196"/>
                  </a:srgbClr>
                </a:solidFill>
                <a:latin typeface="Noto Sans SC"/>
                <a:ea typeface="Noto Sans SC"/>
                <a:cs typeface="Noto Sans SC"/>
                <a:sym typeface="Noto Sans SC"/>
              </a:rPr>
              <a:t>注册全局钩子、初始化调度器、启动用户态Init进程，完成系统初始化闭环</a:t>
            </a:r>
            <a:r>
              <a:rPr lang="en-US" sz="1300" b="0" i="0" u="none" strike="noStrike" dirty="0">
                <a:solidFill>
                  <a:srgbClr val="FFFFFF">
                    <a:alpha val="70196"/>
                  </a:srgbClr>
                </a:solidFill>
                <a:latin typeface="Noto Sans SC"/>
                <a:ea typeface="Noto Sans SC"/>
                <a:cs typeface="Noto Sans SC"/>
                <a:sym typeface="Noto Sans SC"/>
              </a:rPr>
              <a:t>。</a:t>
            </a:r>
            <a:endParaRPr lang="en-US" sz="1100" dirty="0"/>
          </a:p>
        </p:txBody>
      </p:sp>
      <p:sp>
        <p:nvSpPr>
          <p:cNvPr id="40" name="AutoShape 40"/>
          <p:cNvSpPr/>
          <p:nvPr/>
        </p:nvSpPr>
        <p:spPr>
          <a:xfrm>
            <a:off x="4445000" y="5943600"/>
            <a:ext cx="1587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0D9FF"/>
                </a:solidFill>
                <a:latin typeface="Noto Sans SC"/>
                <a:ea typeface="Noto Sans SC"/>
                <a:cs typeface="Noto Sans SC"/>
                <a:sym typeface="Noto Sans SC"/>
              </a:rPr>
              <a:t>可调度系统</a:t>
            </a:r>
            <a:endParaRPr lang="en-US" sz="1100"/>
          </a:p>
        </p:txBody>
      </p:sp>
      <p:sp>
        <p:nvSpPr>
          <p:cNvPr id="41" name="AutoShape 41"/>
          <p:cNvSpPr/>
          <p:nvPr/>
        </p:nvSpPr>
        <p:spPr>
          <a:xfrm>
            <a:off x="6604000" y="406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关键设计决策</a:t>
            </a:r>
            <a:endParaRPr lang="en-US" sz="1100"/>
          </a:p>
        </p:txBody>
      </p:sp>
      <p:cxnSp>
        <p:nvCxnSpPr>
          <p:cNvPr id="42" name="Connector 42"/>
          <p:cNvCxnSpPr/>
          <p:nvPr/>
        </p:nvCxnSpPr>
        <p:spPr>
          <a:xfrm rot="-8594">
            <a:off x="6604008" y="4502150"/>
            <a:ext cx="5080000" cy="12700"/>
          </a:xfrm>
          <a:prstGeom prst="line">
            <a:avLst/>
          </a:prstGeom>
          <a:solidFill>
            <a:srgbClr val="DEE0E3">
              <a:alpha val="100000"/>
            </a:srgbClr>
          </a:solidFill>
          <a:ln w="12700" cap="flat" cmpd="sng">
            <a:solidFill>
              <a:srgbClr val="00D9FF">
                <a:alpha val="30000"/>
              </a:srgbClr>
            </a:solidFill>
            <a:prstDash val="solid"/>
            <a:round/>
            <a:headEnd type="none" w="med" len="med"/>
            <a:tailEnd type="none" w="med" len="med"/>
          </a:ln>
        </p:spPr>
      </p:cxnSp>
      <p:sp>
        <p:nvSpPr>
          <p:cNvPr id="43" name="AutoShape 43"/>
          <p:cNvSpPr/>
          <p:nvPr/>
        </p:nvSpPr>
        <p:spPr>
          <a:xfrm>
            <a:off x="6604000" y="4699000"/>
            <a:ext cx="101600" cy="101600"/>
          </a:xfrm>
          <a:prstGeom prst="ellipse">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6794500" y="46228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固件来源显式枚举：</a:t>
            </a:r>
            <a:r>
              <a:rPr lang="en-US" sz="1400" b="0" i="0" u="none" strike="noStrike">
                <a:solidFill>
                  <a:srgbClr val="FFFFFF">
                    <a:alpha val="70196"/>
                  </a:srgbClr>
                </a:solidFill>
                <a:latin typeface="Noto Sans SC"/>
                <a:ea typeface="Noto Sans SC"/>
                <a:cs typeface="Noto Sans SC"/>
                <a:sym typeface="Noto Sans SC"/>
              </a:rPr>
              <a:t>使用枚举类型 StartFirmware 统一抽象 DTB 与 ACPI 固件交互，消除代码中的隐式分支判断。</a:t>
            </a:r>
            <a:endParaRPr lang="en-US" sz="1100"/>
          </a:p>
        </p:txBody>
      </p:sp>
      <p:sp>
        <p:nvSpPr>
          <p:cNvPr id="45" name="AutoShape 45"/>
          <p:cNvSpPr/>
          <p:nvPr/>
        </p:nvSpPr>
        <p:spPr>
          <a:xfrm>
            <a:off x="6604000" y="5334000"/>
            <a:ext cx="101600" cy="101600"/>
          </a:xfrm>
          <a:prstGeom prst="ellipse">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46"/>
          <p:cNvSpPr/>
          <p:nvPr/>
        </p:nvSpPr>
        <p:spPr>
          <a:xfrm>
            <a:off x="6794500" y="52578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能力回调交付：</a:t>
            </a:r>
            <a:r>
              <a:rPr lang="en-US" sz="1400" b="0" i="0" u="none" strike="noStrike">
                <a:solidFill>
                  <a:srgbClr val="FFFFFF">
                    <a:alpha val="70196"/>
                  </a:srgbClr>
                </a:solidFill>
                <a:latin typeface="Noto Sans SC"/>
                <a:ea typeface="Noto Sans SC"/>
                <a:cs typeface="Noto Sans SC"/>
                <a:sym typeface="Noto Sans SC"/>
              </a:rPr>
              <a:t>地址转换与内存分配器能力以回调函数形式注入核心层，避免架构层代码侵入通用逻辑。</a:t>
            </a:r>
            <a:endParaRPr lang="en-US" sz="1100"/>
          </a:p>
        </p:txBody>
      </p:sp>
      <p:sp>
        <p:nvSpPr>
          <p:cNvPr id="47" name="AutoShape 47"/>
          <p:cNvSpPr/>
          <p:nvPr/>
        </p:nvSpPr>
        <p:spPr>
          <a:xfrm>
            <a:off x="6604000" y="5969000"/>
            <a:ext cx="101600" cy="101600"/>
          </a:xfrm>
          <a:prstGeom prst="ellipse">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6794500" y="58928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电源控制前置化：</a:t>
            </a:r>
            <a:r>
              <a:rPr lang="en-US" sz="1400" b="0" i="0" u="none" strike="noStrike">
                <a:solidFill>
                  <a:srgbClr val="FFFFFF">
                    <a:alpha val="70196"/>
                  </a:srgbClr>
                </a:solidFill>
                <a:latin typeface="Noto Sans SC"/>
                <a:ea typeface="Noto Sans SC"/>
                <a:cs typeface="Noto Sans SC"/>
                <a:sym typeface="Noto Sans SC"/>
              </a:rPr>
              <a:t>在 panic 路径可用之前完成电源管理初始化，确保系统故障时具备安全关机/重启的兜底能力。</a:t>
            </a:r>
            <a:endParaRPr lang="en-US" sz="1100"/>
          </a:p>
        </p:txBody>
      </p:sp>
      <p:sp>
        <p:nvSpPr>
          <p:cNvPr id="49" name="AutoShape 18">
            <a:extLst>
              <a:ext uri="{FF2B5EF4-FFF2-40B4-BE49-F238E27FC236}">
                <a16:creationId xmlns:a16="http://schemas.microsoft.com/office/drawing/2014/main" xmlns="" id="{676FEFC8-0650-4E40-9E33-5B1D324C2308}"/>
              </a:ext>
            </a:extLst>
          </p:cNvPr>
          <p:cNvSpPr/>
          <p:nvPr/>
        </p:nvSpPr>
        <p:spPr>
          <a:xfrm>
            <a:off x="508000" y="2953652"/>
            <a:ext cx="11176000" cy="5842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21826">
                <a:alpha val="100000"/>
              </a:srgbClr>
            </a:gs>
            <a:gs pos="100000">
              <a:srgbClr val="0A0C1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内存管理子系统</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651000"/>
            <a:ext cx="546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dirty="0" err="1">
                <a:solidFill>
                  <a:srgbClr val="FFFFFF"/>
                </a:solidFill>
                <a:latin typeface="Noto Sans SC"/>
                <a:ea typeface="Noto Sans SC"/>
                <a:cs typeface="Noto Sans SC"/>
                <a:sym typeface="Noto Sans SC"/>
              </a:rPr>
              <a:t>五层内存架构分层视图</a:t>
            </a:r>
            <a:endParaRPr lang="en-US" sz="1100" dirty="0"/>
          </a:p>
        </p:txBody>
      </p:sp>
      <p:sp>
        <p:nvSpPr>
          <p:cNvPr id="5" name="AutoShape 5"/>
          <p:cNvSpPr/>
          <p:nvPr/>
        </p:nvSpPr>
        <p:spPr>
          <a:xfrm>
            <a:off x="508000" y="2286000"/>
            <a:ext cx="5461000" cy="736600"/>
          </a:xfrm>
          <a:prstGeom prst="roundRect">
            <a:avLst>
              <a:gd name="adj" fmla="val 0"/>
            </a:avLst>
          </a:prstGeom>
          <a:solidFill>
            <a:srgbClr val="8B5CF6">
              <a:alpha val="15000"/>
            </a:srgbClr>
          </a:solidFill>
          <a:ln w="12700" cap="flat" cmpd="sng">
            <a:solidFill>
              <a:srgbClr val="8B5C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286000"/>
            <a:ext cx="76200" cy="7366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98500" y="2286000"/>
            <a:ext cx="5143500" cy="736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a:ea typeface="Noto Sans SC"/>
                <a:cs typeface="Noto Sans SC"/>
                <a:sym typeface="Noto Sans SC"/>
              </a:rPr>
              <a:t>用户地址空间 (User Space)</a:t>
            </a:r>
            <a:endParaRPr lang="en-US" sz="1100"/>
          </a:p>
        </p:txBody>
      </p:sp>
      <p:cxnSp>
        <p:nvCxnSpPr>
          <p:cNvPr id="8" name="Connector 8"/>
          <p:cNvCxnSpPr/>
          <p:nvPr/>
        </p:nvCxnSpPr>
        <p:spPr>
          <a:xfrm rot="5171155">
            <a:off x="3143250" y="3200611"/>
            <a:ext cx="190500" cy="12700"/>
          </a:xfrm>
          <a:prstGeom prst="line">
            <a:avLst/>
          </a:prstGeom>
          <a:solidFill>
            <a:srgbClr val="DEE0E3">
              <a:alpha val="100000"/>
            </a:srgbClr>
          </a:solidFill>
          <a:ln w="12700" cap="flat" cmpd="sng">
            <a:solidFill>
              <a:srgbClr val="00D9FF">
                <a:alpha val="100000"/>
              </a:srgbClr>
            </a:solidFill>
            <a:prstDash val="solid"/>
            <a:round/>
            <a:headEnd type="none" w="med" len="med"/>
            <a:tailEnd type="arrow" w="sm" len="sm"/>
          </a:ln>
        </p:spPr>
      </p:cxnSp>
      <p:sp>
        <p:nvSpPr>
          <p:cNvPr id="9" name="AutoShape 9"/>
          <p:cNvSpPr/>
          <p:nvPr/>
        </p:nvSpPr>
        <p:spPr>
          <a:xfrm>
            <a:off x="508000" y="3365500"/>
            <a:ext cx="5461000" cy="736600"/>
          </a:xfrm>
          <a:prstGeom prst="roundRect">
            <a:avLst>
              <a:gd name="adj" fmla="val 0"/>
            </a:avLst>
          </a:prstGeom>
          <a:solidFill>
            <a:srgbClr val="06B6D4">
              <a:alpha val="15000"/>
            </a:srgbClr>
          </a:solidFill>
          <a:ln w="12700" cap="flat" cmpd="sng">
            <a:solidFill>
              <a:srgbClr val="06B6D4">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08000" y="3365500"/>
            <a:ext cx="76200" cy="7366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98500" y="3365500"/>
            <a:ext cx="5143500" cy="736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a:ea typeface="Noto Sans SC"/>
                <a:cs typeface="Noto Sans SC"/>
                <a:sym typeface="Noto Sans SC"/>
              </a:rPr>
              <a:t>对象分配层 (Slab 缓存 + 内核堆 + 受管堆)</a:t>
            </a:r>
            <a:endParaRPr lang="en-US" sz="1100"/>
          </a:p>
        </p:txBody>
      </p:sp>
      <p:cxnSp>
        <p:nvCxnSpPr>
          <p:cNvPr id="12" name="Connector 12"/>
          <p:cNvCxnSpPr/>
          <p:nvPr/>
        </p:nvCxnSpPr>
        <p:spPr>
          <a:xfrm rot="5171155">
            <a:off x="3143250" y="4280111"/>
            <a:ext cx="190500" cy="12700"/>
          </a:xfrm>
          <a:prstGeom prst="line">
            <a:avLst/>
          </a:prstGeom>
          <a:solidFill>
            <a:srgbClr val="DEE0E3">
              <a:alpha val="100000"/>
            </a:srgbClr>
          </a:solidFill>
          <a:ln w="12700" cap="flat" cmpd="sng">
            <a:solidFill>
              <a:srgbClr val="00D9FF">
                <a:alpha val="100000"/>
              </a:srgbClr>
            </a:solidFill>
            <a:prstDash val="solid"/>
            <a:round/>
            <a:headEnd type="none" w="med" len="med"/>
            <a:tailEnd type="arrow" w="sm" len="sm"/>
          </a:ln>
        </p:spPr>
      </p:cxnSp>
      <p:sp>
        <p:nvSpPr>
          <p:cNvPr id="13" name="AutoShape 13"/>
          <p:cNvSpPr/>
          <p:nvPr/>
        </p:nvSpPr>
        <p:spPr>
          <a:xfrm>
            <a:off x="508000" y="4445000"/>
            <a:ext cx="5461000" cy="736600"/>
          </a:xfrm>
          <a:prstGeom prst="roundRect">
            <a:avLst>
              <a:gd name="adj" fmla="val 0"/>
            </a:avLst>
          </a:prstGeom>
          <a:solidFill>
            <a:srgbClr val="10B981">
              <a:alpha val="15000"/>
            </a:srgbClr>
          </a:solidFill>
          <a:ln w="127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08000" y="4445000"/>
            <a:ext cx="76200" cy="736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98500" y="4445000"/>
            <a:ext cx="5143500" cy="736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a:ea typeface="Noto Sans SC"/>
                <a:cs typeface="Noto Sans SC"/>
                <a:sym typeface="Noto Sans SC"/>
              </a:rPr>
              <a:t>内核地址空间 (Kernel Space Mapping)</a:t>
            </a:r>
            <a:endParaRPr lang="en-US" sz="1100"/>
          </a:p>
        </p:txBody>
      </p:sp>
      <p:cxnSp>
        <p:nvCxnSpPr>
          <p:cNvPr id="16" name="Connector 16"/>
          <p:cNvCxnSpPr/>
          <p:nvPr/>
        </p:nvCxnSpPr>
        <p:spPr>
          <a:xfrm rot="5171155">
            <a:off x="3143250" y="5359611"/>
            <a:ext cx="190500" cy="12700"/>
          </a:xfrm>
          <a:prstGeom prst="line">
            <a:avLst/>
          </a:prstGeom>
          <a:solidFill>
            <a:srgbClr val="DEE0E3">
              <a:alpha val="100000"/>
            </a:srgbClr>
          </a:solidFill>
          <a:ln w="12700" cap="flat" cmpd="sng">
            <a:solidFill>
              <a:srgbClr val="00D9FF">
                <a:alpha val="100000"/>
              </a:srgbClr>
            </a:solidFill>
            <a:prstDash val="solid"/>
            <a:round/>
            <a:headEnd type="none" w="med" len="med"/>
            <a:tailEnd type="arrow" w="sm" len="sm"/>
          </a:ln>
        </p:spPr>
      </p:cxnSp>
      <p:sp>
        <p:nvSpPr>
          <p:cNvPr id="17" name="AutoShape 17"/>
          <p:cNvSpPr/>
          <p:nvPr/>
        </p:nvSpPr>
        <p:spPr>
          <a:xfrm>
            <a:off x="508000" y="5524500"/>
            <a:ext cx="2667000" cy="889000"/>
          </a:xfrm>
          <a:prstGeom prst="roundRect">
            <a:avLst>
              <a:gd name="adj" fmla="val 0"/>
            </a:avLst>
          </a:prstGeom>
          <a:solidFill>
            <a:srgbClr val="84CC16">
              <a:alpha val="15000"/>
            </a:srgbClr>
          </a:solidFill>
          <a:ln w="12700" cap="flat" cmpd="sng">
            <a:solidFill>
              <a:srgbClr val="84CC16">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08000" y="5524500"/>
            <a:ext cx="76200" cy="8890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35000" y="5588000"/>
            <a:ext cx="2413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a:ea typeface="Noto Sans SC"/>
                <a:cs typeface="Noto Sans SC"/>
                <a:sym typeface="Noto Sans SC"/>
              </a:rPr>
              <a:t>物理页管理</a:t>
            </a:r>
            <a:endParaRPr lang="en-US" sz="1100"/>
          </a:p>
          <a:p>
            <a:pPr marL="0" indent="0" algn="ctr">
              <a:lnSpc>
                <a:spcPct val="125000"/>
              </a:lnSpc>
            </a:pPr>
            <a:r>
              <a:rPr lang="en-US" sz="1200" b="0" i="0" u="none" strike="noStrike">
                <a:solidFill>
                  <a:srgbClr val="FFFFFF">
                    <a:alpha val="70196"/>
                  </a:srgbClr>
                </a:solidFill>
                <a:latin typeface="Noto Sans SC"/>
                <a:ea typeface="Noto Sans SC"/>
                <a:cs typeface="Noto Sans SC"/>
                <a:sym typeface="Noto Sans SC"/>
              </a:rPr>
              <a:t>基于伙伴系统的物理页分配</a:t>
            </a:r>
          </a:p>
        </p:txBody>
      </p:sp>
      <p:sp>
        <p:nvSpPr>
          <p:cNvPr id="20" name="AutoShape 20"/>
          <p:cNvSpPr/>
          <p:nvPr/>
        </p:nvSpPr>
        <p:spPr>
          <a:xfrm>
            <a:off x="3302000" y="5524500"/>
            <a:ext cx="2667000" cy="889000"/>
          </a:xfrm>
          <a:prstGeom prst="roundRect">
            <a:avLst>
              <a:gd name="adj" fmla="val 0"/>
            </a:avLst>
          </a:prstGeom>
          <a:solidFill>
            <a:srgbClr val="F59E0B">
              <a:alpha val="15000"/>
            </a:srgbClr>
          </a:solidFill>
          <a:ln w="12700" cap="flat" cmpd="sng">
            <a:solidFill>
              <a:srgbClr val="F59E0B">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3302000" y="5524500"/>
            <a:ext cx="76200" cy="889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3429000" y="5588000"/>
            <a:ext cx="2413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dirty="0" err="1">
                <a:solidFill>
                  <a:srgbClr val="FFFFFF"/>
                </a:solidFill>
                <a:latin typeface="Noto Sans SC"/>
                <a:ea typeface="Noto Sans SC"/>
                <a:cs typeface="Noto Sans SC"/>
                <a:sym typeface="Noto Sans SC"/>
              </a:rPr>
              <a:t>启动分配层</a:t>
            </a:r>
            <a:endParaRPr lang="en-US" sz="1100" dirty="0"/>
          </a:p>
          <a:p>
            <a:pPr marL="0" indent="0" algn="ctr">
              <a:lnSpc>
                <a:spcPct val="125000"/>
              </a:lnSpc>
            </a:pPr>
            <a:r>
              <a:rPr lang="en-US" sz="1200" b="0" i="0" u="none" strike="noStrike" dirty="0">
                <a:solidFill>
                  <a:srgbClr val="FFFFFF">
                    <a:alpha val="70196"/>
                  </a:srgbClr>
                </a:solidFill>
                <a:latin typeface="Noto Sans SC"/>
                <a:ea typeface="Noto Sans SC"/>
                <a:cs typeface="Noto Sans SC"/>
                <a:sym typeface="Noto Sans SC"/>
              </a:rPr>
              <a:t>Boot </a:t>
            </a:r>
            <a:r>
              <a:rPr lang="zh-CN" altLang="en-US" sz="1200" b="0" i="0" u="none" strike="noStrike" dirty="0">
                <a:solidFill>
                  <a:srgbClr val="FFFFFF">
                    <a:alpha val="70196"/>
                  </a:srgbClr>
                </a:solidFill>
                <a:latin typeface="Noto Sans SC"/>
                <a:ea typeface="Noto Sans SC"/>
                <a:cs typeface="Noto Sans SC"/>
                <a:sym typeface="Noto Sans SC"/>
              </a:rPr>
              <a:t>分配器</a:t>
            </a:r>
            <a:r>
              <a:rPr lang="en-US" sz="1200" b="0" i="0" u="none" strike="noStrike" dirty="0" err="1">
                <a:solidFill>
                  <a:srgbClr val="FFFFFF">
                    <a:alpha val="70196"/>
                  </a:srgbClr>
                </a:solidFill>
                <a:latin typeface="Noto Sans SC"/>
                <a:ea typeface="Noto Sans SC"/>
                <a:cs typeface="Noto Sans SC"/>
                <a:sym typeface="Noto Sans SC"/>
              </a:rPr>
              <a:t>预分配与初始化</a:t>
            </a:r>
            <a:endParaRPr lang="en-US" sz="1200" b="0" i="0" u="none" strike="noStrike" dirty="0">
              <a:solidFill>
                <a:srgbClr val="FFFFFF">
                  <a:alpha val="70196"/>
                </a:srgbClr>
              </a:solidFill>
              <a:latin typeface="Noto Sans SC"/>
              <a:ea typeface="Noto Sans SC"/>
              <a:cs typeface="Noto Sans SC"/>
              <a:sym typeface="Noto Sans SC"/>
            </a:endParaRPr>
          </a:p>
        </p:txBody>
      </p:sp>
      <p:cxnSp>
        <p:nvCxnSpPr>
          <p:cNvPr id="23" name="Connector 23"/>
          <p:cNvCxnSpPr/>
          <p:nvPr/>
        </p:nvCxnSpPr>
        <p:spPr>
          <a:xfrm rot="5390450">
            <a:off x="3937000" y="4057659"/>
            <a:ext cx="4572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4" name="AutoShape 24"/>
          <p:cNvSpPr/>
          <p:nvPr/>
        </p:nvSpPr>
        <p:spPr>
          <a:xfrm>
            <a:off x="6350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关键路径：分配器锁顺序约束</a:t>
            </a:r>
            <a:endParaRPr lang="en-US" sz="1100"/>
          </a:p>
        </p:txBody>
      </p:sp>
      <p:sp>
        <p:nvSpPr>
          <p:cNvPr id="25" name="AutoShape 25"/>
          <p:cNvSpPr/>
          <p:nvPr/>
        </p:nvSpPr>
        <p:spPr>
          <a:xfrm>
            <a:off x="6350000" y="2222500"/>
            <a:ext cx="5334000" cy="18415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350000" y="2420858"/>
            <a:ext cx="5334000" cy="444500"/>
          </a:xfrm>
          <a:prstGeom prst="roundRect">
            <a:avLst>
              <a:gd name="adj" fmla="val 0"/>
            </a:avLst>
          </a:prstGeom>
          <a:solidFill>
            <a:srgbClr val="2A2A4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477000" y="2420858"/>
            <a:ext cx="1651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B6D4"/>
                </a:solidFill>
                <a:latin typeface="Noto Sans SC"/>
                <a:ea typeface="Noto Sans SC"/>
                <a:cs typeface="Noto Sans SC"/>
                <a:sym typeface="Noto Sans SC"/>
              </a:rPr>
              <a:t>初始化阶段</a:t>
            </a:r>
            <a:endParaRPr lang="en-US" sz="1100"/>
          </a:p>
        </p:txBody>
      </p:sp>
      <p:sp>
        <p:nvSpPr>
          <p:cNvPr id="28" name="AutoShape 28"/>
          <p:cNvSpPr/>
          <p:nvPr/>
        </p:nvSpPr>
        <p:spPr>
          <a:xfrm>
            <a:off x="8191500" y="2420858"/>
            <a:ext cx="3365500" cy="444500"/>
          </a:xfrm>
          <a:prstGeom prst="rect">
            <a:avLst/>
          </a:prstGeom>
          <a:noFill/>
          <a:ln w="12700" cap="flat" cmpd="sng">
            <a:noFill/>
            <a:prstDash val="solid"/>
            <a:round/>
          </a:ln>
        </p:spPr>
        <p:txBody>
          <a:bodyPr vert="horz" wrap="square" lIns="0" tIns="0" rIns="0" bIns="0" rtlCol="0" anchor="ctr" anchorCtr="0"/>
          <a:lstStyle/>
          <a:p>
            <a:pPr marL="0" indent="457200" algn="l">
              <a:lnSpc>
                <a:spcPct val="125000"/>
              </a:lnSpc>
              <a:defRPr/>
            </a:pPr>
            <a:r>
              <a:rPr lang="en-US" sz="1300" b="0" i="0" u="none" strike="noStrike" dirty="0" err="1">
                <a:solidFill>
                  <a:srgbClr val="FFFFFF">
                    <a:alpha val="90196"/>
                  </a:srgbClr>
                </a:solidFill>
                <a:latin typeface="Noto Sans SC"/>
                <a:ea typeface="Noto Sans SC"/>
                <a:cs typeface="Noto Sans SC"/>
                <a:sym typeface="Noto Sans SC"/>
              </a:rPr>
              <a:t>init_lock</a:t>
            </a:r>
            <a:r>
              <a:rPr lang="en-US" sz="1300" b="0" i="0" u="none" strike="noStrike" dirty="0">
                <a:solidFill>
                  <a:srgbClr val="FFFFFF">
                    <a:alpha val="90196"/>
                  </a:srgbClr>
                </a:solidFill>
                <a:latin typeface="Noto Sans SC"/>
                <a:ea typeface="Noto Sans SC"/>
                <a:cs typeface="Noto Sans SC"/>
                <a:sym typeface="Noto Sans SC"/>
              </a:rPr>
              <a:t> </a:t>
            </a:r>
            <a:r>
              <a:rPr lang="en-US" sz="1300" b="0" i="0" u="none" strike="noStrike" dirty="0" err="1">
                <a:solidFill>
                  <a:srgbClr val="FFFFFF">
                    <a:alpha val="90196"/>
                  </a:srgbClr>
                </a:solidFill>
                <a:latin typeface="Noto Sans SC"/>
                <a:ea typeface="Noto Sans SC"/>
                <a:cs typeface="Noto Sans SC"/>
                <a:sym typeface="Noto Sans SC"/>
              </a:rPr>
              <a:t>最先获取，运行期避免长时间持有以减少阻塞</a:t>
            </a:r>
            <a:r>
              <a:rPr lang="en-US" sz="1300" b="0" i="0" u="none" strike="noStrike" dirty="0">
                <a:solidFill>
                  <a:srgbClr val="FFFFFF">
                    <a:alpha val="90196"/>
                  </a:srgbClr>
                </a:solidFill>
                <a:latin typeface="Noto Sans SC"/>
                <a:ea typeface="Noto Sans SC"/>
                <a:cs typeface="Noto Sans SC"/>
                <a:sym typeface="Noto Sans SC"/>
              </a:rPr>
              <a:t>。</a:t>
            </a:r>
            <a:endParaRPr lang="en-US" sz="1100" dirty="0"/>
          </a:p>
        </p:txBody>
      </p:sp>
      <p:sp>
        <p:nvSpPr>
          <p:cNvPr id="29" name="AutoShape 29"/>
          <p:cNvSpPr/>
          <p:nvPr/>
        </p:nvSpPr>
        <p:spPr>
          <a:xfrm>
            <a:off x="6350000" y="2928858"/>
            <a:ext cx="5334000" cy="444500"/>
          </a:xfrm>
          <a:prstGeom prst="roundRect">
            <a:avLst>
              <a:gd name="adj" fmla="val 0"/>
            </a:avLst>
          </a:prstGeom>
          <a:solidFill>
            <a:srgbClr val="1E1E3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477000" y="2928858"/>
            <a:ext cx="1651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0B981"/>
                </a:solidFill>
                <a:latin typeface="Noto Sans SC"/>
                <a:ea typeface="Noto Sans SC"/>
                <a:cs typeface="Noto Sans SC"/>
                <a:sym typeface="Noto Sans SC"/>
              </a:rPr>
              <a:t>地址空间域</a:t>
            </a:r>
            <a:endParaRPr lang="en-US" sz="1100"/>
          </a:p>
        </p:txBody>
      </p:sp>
      <p:sp>
        <p:nvSpPr>
          <p:cNvPr id="31" name="AutoShape 31"/>
          <p:cNvSpPr/>
          <p:nvPr/>
        </p:nvSpPr>
        <p:spPr>
          <a:xfrm>
            <a:off x="8191500" y="2928858"/>
            <a:ext cx="3365500" cy="444500"/>
          </a:xfrm>
          <a:prstGeom prst="rect">
            <a:avLst/>
          </a:prstGeom>
          <a:noFill/>
          <a:ln w="12700" cap="flat" cmpd="sng">
            <a:noFill/>
            <a:prstDash val="solid"/>
            <a:round/>
          </a:ln>
        </p:spPr>
        <p:txBody>
          <a:bodyPr vert="horz" wrap="square" lIns="0" tIns="0" rIns="0" bIns="0" rtlCol="0" anchor="ctr" anchorCtr="0"/>
          <a:lstStyle/>
          <a:p>
            <a:pPr marL="0" indent="457200" algn="l">
              <a:lnSpc>
                <a:spcPct val="125000"/>
              </a:lnSpc>
              <a:defRPr/>
            </a:pPr>
            <a:r>
              <a:rPr lang="en-US" sz="1300" b="0" i="0" u="none" strike="noStrike" dirty="0" err="1">
                <a:solidFill>
                  <a:srgbClr val="FFFFFF">
                    <a:alpha val="80000"/>
                  </a:srgbClr>
                </a:solidFill>
                <a:latin typeface="Noto Sans SC"/>
                <a:ea typeface="Noto Sans SC"/>
                <a:cs typeface="Noto Sans SC"/>
                <a:sym typeface="Noto Sans SC"/>
              </a:rPr>
              <a:t>虚拟内存域锁</a:t>
            </a:r>
            <a:r>
              <a:rPr lang="en-US" sz="1300" b="0" i="0" u="none" strike="noStrike" dirty="0">
                <a:solidFill>
                  <a:srgbClr val="FFFFFF">
                    <a:alpha val="80000"/>
                  </a:srgbClr>
                </a:solidFill>
                <a:latin typeface="Noto Sans SC"/>
                <a:ea typeface="Noto Sans SC"/>
                <a:cs typeface="Noto Sans SC"/>
                <a:sym typeface="Noto Sans SC"/>
              </a:rPr>
              <a:t> → </a:t>
            </a:r>
            <a:r>
              <a:rPr lang="en-US" sz="1300" b="0" i="0" u="none" strike="noStrike" dirty="0" err="1">
                <a:solidFill>
                  <a:srgbClr val="FFFFFF">
                    <a:alpha val="80000"/>
                  </a:srgbClr>
                </a:solidFill>
                <a:latin typeface="Noto Sans SC"/>
                <a:ea typeface="Noto Sans SC"/>
                <a:cs typeface="Noto Sans SC"/>
                <a:sym typeface="Noto Sans SC"/>
              </a:rPr>
              <a:t>元数据锁</a:t>
            </a:r>
            <a:r>
              <a:rPr lang="en-US" sz="1300" b="0" i="0" u="none" strike="noStrike" dirty="0">
                <a:solidFill>
                  <a:srgbClr val="FFFFFF">
                    <a:alpha val="80000"/>
                  </a:srgbClr>
                </a:solidFill>
                <a:latin typeface="Noto Sans SC"/>
                <a:ea typeface="Noto Sans SC"/>
                <a:cs typeface="Noto Sans SC"/>
                <a:sym typeface="Noto Sans SC"/>
              </a:rPr>
              <a:t> → </a:t>
            </a:r>
            <a:r>
              <a:rPr lang="en-US" sz="1300" b="0" i="0" u="none" strike="noStrike" dirty="0" err="1">
                <a:solidFill>
                  <a:srgbClr val="FFFFFF">
                    <a:alpha val="80000"/>
                  </a:srgbClr>
                </a:solidFill>
                <a:latin typeface="Noto Sans SC"/>
                <a:ea typeface="Noto Sans SC"/>
                <a:cs typeface="Noto Sans SC"/>
                <a:sym typeface="Noto Sans SC"/>
              </a:rPr>
              <a:t>物理页伙伴锁，单向依赖防止死锁</a:t>
            </a:r>
            <a:r>
              <a:rPr lang="en-US" sz="1300" b="0" i="0" u="none" strike="noStrike" dirty="0">
                <a:solidFill>
                  <a:srgbClr val="FFFFFF">
                    <a:alpha val="80000"/>
                  </a:srgbClr>
                </a:solidFill>
                <a:latin typeface="Noto Sans SC"/>
                <a:ea typeface="Noto Sans SC"/>
                <a:cs typeface="Noto Sans SC"/>
                <a:sym typeface="Noto Sans SC"/>
              </a:rPr>
              <a:t>。</a:t>
            </a:r>
            <a:endParaRPr lang="en-US" sz="1100" dirty="0"/>
          </a:p>
        </p:txBody>
      </p:sp>
      <p:sp>
        <p:nvSpPr>
          <p:cNvPr id="32" name="AutoShape 32"/>
          <p:cNvSpPr/>
          <p:nvPr/>
        </p:nvSpPr>
        <p:spPr>
          <a:xfrm>
            <a:off x="6350000" y="3436858"/>
            <a:ext cx="5334000" cy="444500"/>
          </a:xfrm>
          <a:prstGeom prst="roundRect">
            <a:avLst>
              <a:gd name="adj" fmla="val 0"/>
            </a:avLst>
          </a:prstGeom>
          <a:solidFill>
            <a:srgbClr val="2A2A4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477000" y="3436858"/>
            <a:ext cx="1651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err="1">
                <a:solidFill>
                  <a:srgbClr val="8B5CF6"/>
                </a:solidFill>
                <a:latin typeface="Noto Sans SC"/>
                <a:ea typeface="Noto Sans SC"/>
                <a:cs typeface="Noto Sans SC"/>
                <a:sym typeface="Noto Sans SC"/>
              </a:rPr>
              <a:t>对象</a:t>
            </a:r>
            <a:r>
              <a:rPr lang="en-US" sz="1400" b="1" i="0" u="none" strike="noStrike" dirty="0">
                <a:solidFill>
                  <a:srgbClr val="8B5CF6"/>
                </a:solidFill>
                <a:latin typeface="Noto Sans SC"/>
                <a:ea typeface="Noto Sans SC"/>
                <a:cs typeface="Noto Sans SC"/>
                <a:sym typeface="Noto Sans SC"/>
              </a:rPr>
              <a:t>/</a:t>
            </a:r>
            <a:r>
              <a:rPr lang="en-US" sz="1400" b="1" i="0" u="none" strike="noStrike" dirty="0" err="1">
                <a:solidFill>
                  <a:srgbClr val="8B5CF6"/>
                </a:solidFill>
                <a:latin typeface="Noto Sans SC"/>
                <a:ea typeface="Noto Sans SC"/>
                <a:cs typeface="Noto Sans SC"/>
                <a:sym typeface="Noto Sans SC"/>
              </a:rPr>
              <a:t>缓存</a:t>
            </a:r>
            <a:endParaRPr lang="en-US" sz="1100" dirty="0"/>
          </a:p>
        </p:txBody>
      </p:sp>
      <p:sp>
        <p:nvSpPr>
          <p:cNvPr id="34" name="AutoShape 34"/>
          <p:cNvSpPr/>
          <p:nvPr/>
        </p:nvSpPr>
        <p:spPr>
          <a:xfrm>
            <a:off x="8191500" y="3436858"/>
            <a:ext cx="3365500" cy="444500"/>
          </a:xfrm>
          <a:prstGeom prst="rect">
            <a:avLst/>
          </a:prstGeom>
          <a:noFill/>
          <a:ln w="12700" cap="flat" cmpd="sng">
            <a:noFill/>
            <a:prstDash val="solid"/>
            <a:round/>
          </a:ln>
        </p:spPr>
        <p:txBody>
          <a:bodyPr vert="horz" wrap="square" lIns="0" tIns="0" rIns="0" bIns="0" rtlCol="0" anchor="ctr" anchorCtr="0"/>
          <a:lstStyle/>
          <a:p>
            <a:pPr marL="0" indent="457200" algn="l">
              <a:lnSpc>
                <a:spcPct val="125000"/>
              </a:lnSpc>
              <a:defRPr/>
            </a:pPr>
            <a:r>
              <a:rPr lang="en-US" sz="1300" b="0" i="0" u="none" strike="noStrike" dirty="0" err="1">
                <a:solidFill>
                  <a:srgbClr val="FFFFFF">
                    <a:alpha val="90196"/>
                  </a:srgbClr>
                </a:solidFill>
                <a:latin typeface="Noto Sans SC"/>
                <a:ea typeface="Noto Sans SC"/>
                <a:cs typeface="Noto Sans SC"/>
                <a:sym typeface="Noto Sans SC"/>
              </a:rPr>
              <a:t>全局注册表</a:t>
            </a:r>
            <a:r>
              <a:rPr lang="en-US" sz="1300" b="0" i="0" u="none" strike="noStrike" dirty="0">
                <a:solidFill>
                  <a:srgbClr val="FFFFFF">
                    <a:alpha val="90196"/>
                  </a:srgbClr>
                </a:solidFill>
                <a:latin typeface="Noto Sans SC"/>
                <a:ea typeface="Noto Sans SC"/>
                <a:cs typeface="Noto Sans SC"/>
                <a:sym typeface="Noto Sans SC"/>
              </a:rPr>
              <a:t> → </a:t>
            </a:r>
            <a:r>
              <a:rPr lang="en-US" sz="1300" b="0" i="0" u="none" strike="noStrike" dirty="0" err="1">
                <a:solidFill>
                  <a:srgbClr val="FFFFFF">
                    <a:alpha val="90196"/>
                  </a:srgbClr>
                </a:solidFill>
                <a:latin typeface="Noto Sans SC"/>
                <a:ea typeface="Noto Sans SC"/>
                <a:cs typeface="Noto Sans SC"/>
                <a:sym typeface="Noto Sans SC"/>
              </a:rPr>
              <a:t>Slab全局锁</a:t>
            </a:r>
            <a:r>
              <a:rPr lang="en-US" sz="1300" b="0" i="0" u="none" strike="noStrike" dirty="0">
                <a:solidFill>
                  <a:srgbClr val="FFFFFF">
                    <a:alpha val="90196"/>
                  </a:srgbClr>
                </a:solidFill>
                <a:latin typeface="Noto Sans SC"/>
                <a:ea typeface="Noto Sans SC"/>
                <a:cs typeface="Noto Sans SC"/>
                <a:sym typeface="Noto Sans SC"/>
              </a:rPr>
              <a:t> → Per-</a:t>
            </a:r>
            <a:r>
              <a:rPr lang="en-US" sz="1300" b="0" i="0" u="none" strike="noStrike" dirty="0" err="1">
                <a:solidFill>
                  <a:srgbClr val="FFFFFF">
                    <a:alpha val="90196"/>
                  </a:srgbClr>
                </a:solidFill>
                <a:latin typeface="Noto Sans SC"/>
                <a:ea typeface="Noto Sans SC"/>
                <a:cs typeface="Noto Sans SC"/>
                <a:sym typeface="Noto Sans SC"/>
              </a:rPr>
              <a:t>CPU缓存</a:t>
            </a:r>
            <a:r>
              <a:rPr lang="en-US" sz="1300" b="0" i="0" u="none" strike="noStrike" dirty="0">
                <a:solidFill>
                  <a:srgbClr val="FFFFFF">
                    <a:alpha val="90196"/>
                  </a:srgbClr>
                </a:solidFill>
                <a:latin typeface="Noto Sans SC"/>
                <a:ea typeface="Noto Sans SC"/>
                <a:cs typeface="Noto Sans SC"/>
                <a:sym typeface="Noto Sans SC"/>
              </a:rPr>
              <a:t> → </a:t>
            </a:r>
            <a:r>
              <a:rPr lang="en-US" sz="1300" b="0" i="0" u="none" strike="noStrike" dirty="0" err="1">
                <a:solidFill>
                  <a:srgbClr val="FFFFFF">
                    <a:alpha val="90196"/>
                  </a:srgbClr>
                </a:solidFill>
                <a:latin typeface="Noto Sans SC"/>
                <a:ea typeface="Noto Sans SC"/>
                <a:cs typeface="Noto Sans SC"/>
                <a:sym typeface="Noto Sans SC"/>
              </a:rPr>
              <a:t>内核堆锁</a:t>
            </a:r>
            <a:r>
              <a:rPr lang="en-US" sz="1300" b="0" i="0" u="none" strike="noStrike" dirty="0">
                <a:solidFill>
                  <a:srgbClr val="FFFFFF">
                    <a:alpha val="90196"/>
                  </a:srgbClr>
                </a:solidFill>
                <a:latin typeface="Noto Sans SC"/>
                <a:ea typeface="Noto Sans SC"/>
                <a:cs typeface="Noto Sans SC"/>
                <a:sym typeface="Noto Sans SC"/>
              </a:rPr>
              <a:t>。</a:t>
            </a:r>
            <a:endParaRPr lang="en-US" sz="1100" dirty="0"/>
          </a:p>
        </p:txBody>
      </p:sp>
      <p:cxnSp>
        <p:nvCxnSpPr>
          <p:cNvPr id="35" name="Connector 35"/>
          <p:cNvCxnSpPr/>
          <p:nvPr/>
        </p:nvCxnSpPr>
        <p:spPr>
          <a:xfrm rot="-8185">
            <a:off x="6350008" y="4311650"/>
            <a:ext cx="5334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6" name="AutoShape 36"/>
          <p:cNvSpPr/>
          <p:nvPr/>
        </p:nvSpPr>
        <p:spPr>
          <a:xfrm>
            <a:off x="6350000" y="444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核心数据结构与设计特性</a:t>
            </a:r>
            <a:endParaRPr lang="en-US" sz="1100"/>
          </a:p>
        </p:txBody>
      </p:sp>
      <p:sp>
        <p:nvSpPr>
          <p:cNvPr id="37" name="AutoShape 37"/>
          <p:cNvSpPr/>
          <p:nvPr/>
        </p:nvSpPr>
        <p:spPr>
          <a:xfrm>
            <a:off x="6350000" y="5080000"/>
            <a:ext cx="2603500" cy="1333500"/>
          </a:xfrm>
          <a:prstGeom prst="roundRect">
            <a:avLst>
              <a:gd name="adj" fmla="val 0"/>
            </a:avLst>
          </a:prstGeom>
          <a:solidFill>
            <a:srgbClr val="FFFFFF">
              <a:alpha val="4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38" name="Picture 3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477000" y="5207000"/>
            <a:ext cx="304800" cy="304800"/>
          </a:xfrm>
          <a:prstGeom prst="rect">
            <a:avLst/>
          </a:prstGeom>
        </p:spPr>
      </p:pic>
      <p:sp>
        <p:nvSpPr>
          <p:cNvPr id="39" name="AutoShape 39"/>
          <p:cNvSpPr/>
          <p:nvPr/>
        </p:nvSpPr>
        <p:spPr>
          <a:xfrm>
            <a:off x="6858000" y="528864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阶段分界与伙伴系统</a:t>
            </a:r>
            <a:endParaRPr lang="en-US" sz="1100" dirty="0"/>
          </a:p>
          <a:p>
            <a:pPr marL="0" indent="45720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activate_global</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为启动</a:t>
            </a:r>
            <a:r>
              <a:rPr lang="en-US" sz="1200" b="0" i="0" u="none" strike="noStrike" dirty="0">
                <a:solidFill>
                  <a:srgbClr val="FFFFFF">
                    <a:alpha val="60000"/>
                  </a:srgbClr>
                </a:solidFill>
                <a:latin typeface="Noto Sans SC"/>
                <a:ea typeface="Noto Sans SC"/>
                <a:cs typeface="Noto Sans SC"/>
                <a:sym typeface="Noto Sans SC"/>
              </a:rPr>
              <a:t>/运行期分界点；伙伴系统支持多物理段，引入0阶延迟合并水位优化碎片。</a:t>
            </a:r>
          </a:p>
        </p:txBody>
      </p:sp>
      <p:sp>
        <p:nvSpPr>
          <p:cNvPr id="40" name="AutoShape 40"/>
          <p:cNvSpPr/>
          <p:nvPr/>
        </p:nvSpPr>
        <p:spPr>
          <a:xfrm>
            <a:off x="9080500" y="5080000"/>
            <a:ext cx="2603500" cy="1333500"/>
          </a:xfrm>
          <a:prstGeom prst="roundRect">
            <a:avLst>
              <a:gd name="adj" fmla="val 0"/>
            </a:avLst>
          </a:prstGeom>
          <a:solidFill>
            <a:srgbClr val="FFFFFF">
              <a:alpha val="4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41" name="Picture 4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9207500" y="5207000"/>
            <a:ext cx="304800" cy="304800"/>
          </a:xfrm>
          <a:prstGeom prst="rect">
            <a:avLst/>
          </a:prstGeom>
        </p:spPr>
      </p:pic>
      <p:sp>
        <p:nvSpPr>
          <p:cNvPr id="42" name="AutoShape 42"/>
          <p:cNvSpPr/>
          <p:nvPr/>
        </p:nvSpPr>
        <p:spPr>
          <a:xfrm>
            <a:off x="9588500" y="528864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Slab与CPU缓存优化</a:t>
            </a:r>
            <a:endParaRPr lang="en-US" sz="1100" dirty="0"/>
          </a:p>
          <a:p>
            <a:pPr marL="0" indent="457200" algn="l">
              <a:lnSpc>
                <a:spcPct val="125000"/>
              </a:lnSpc>
            </a:pPr>
            <a:r>
              <a:rPr lang="en-US" sz="1200" b="0" i="0" u="none" strike="noStrike" dirty="0">
                <a:solidFill>
                  <a:srgbClr val="FFFFFF">
                    <a:alpha val="60000"/>
                  </a:srgbClr>
                </a:solidFill>
                <a:latin typeface="Noto Sans SC"/>
                <a:ea typeface="Noto Sans SC"/>
                <a:cs typeface="Noto Sans SC"/>
                <a:sym typeface="Noto Sans SC"/>
              </a:rPr>
              <a:t>划分8~2048字节尺寸类别；使用每CPU缓存减少锁竞争，结合位图精确管理受管对象GC根。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162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设备模型与驱动框架</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524000"/>
            <a:ext cx="736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dirty="0">
                <a:solidFill>
                  <a:srgbClr val="FFFFFF"/>
                </a:solidFill>
                <a:latin typeface="Noto Sans SC"/>
                <a:ea typeface="Noto Sans SC"/>
                <a:cs typeface="Noto Sans SC"/>
                <a:sym typeface="Noto Sans SC"/>
              </a:rPr>
              <a:t>以 </a:t>
            </a:r>
            <a:r>
              <a:rPr lang="en-US" sz="1800" b="0" i="0" u="none" strike="noStrike" dirty="0" err="1">
                <a:solidFill>
                  <a:srgbClr val="FFFFFF"/>
                </a:solidFill>
                <a:latin typeface="Noto Sans SC"/>
                <a:ea typeface="Noto Sans SC"/>
                <a:cs typeface="Noto Sans SC"/>
                <a:sym typeface="Noto Sans SC"/>
              </a:rPr>
              <a:t>DeviceFunction</a:t>
            </a:r>
            <a:r>
              <a:rPr lang="en-US" sz="1800" b="0" i="0" u="none" strike="noStrike" dirty="0">
                <a:solidFill>
                  <a:srgbClr val="FFFFFF"/>
                </a:solidFill>
                <a:latin typeface="Noto Sans SC"/>
                <a:ea typeface="Noto Sans SC"/>
                <a:cs typeface="Noto Sans SC"/>
                <a:sym typeface="Noto Sans SC"/>
              </a:rPr>
              <a:t> </a:t>
            </a:r>
            <a:r>
              <a:rPr lang="en-US" sz="1800" b="0" i="0" u="none" strike="noStrike" dirty="0" err="1">
                <a:solidFill>
                  <a:srgbClr val="FFFFFF"/>
                </a:solidFill>
                <a:latin typeface="Noto Sans SC"/>
                <a:ea typeface="Noto Sans SC"/>
                <a:cs typeface="Noto Sans SC"/>
                <a:sym typeface="Noto Sans SC"/>
              </a:rPr>
              <a:t>为中心的多轨设备模型层级视图</a:t>
            </a:r>
            <a:endParaRPr lang="en-US" sz="1100" dirty="0"/>
          </a:p>
        </p:txBody>
      </p:sp>
      <p:sp>
        <p:nvSpPr>
          <p:cNvPr id="5" name="AutoShape 5"/>
          <p:cNvSpPr/>
          <p:nvPr/>
        </p:nvSpPr>
        <p:spPr>
          <a:xfrm>
            <a:off x="508000" y="2133600"/>
            <a:ext cx="5346095" cy="639572"/>
          </a:xfrm>
          <a:prstGeom prst="roundRect">
            <a:avLst>
              <a:gd name="adj" fmla="val 0"/>
            </a:avLst>
          </a:prstGeom>
          <a:solidFill>
            <a:srgbClr val="8B5CF6">
              <a:alpha val="25000"/>
            </a:srgbClr>
          </a:solidFill>
          <a:ln w="12700" cap="flat" cmpd="sng">
            <a:solidFill>
              <a:srgbClr val="8B5C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138436"/>
            <a:ext cx="75600" cy="634736"/>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66750" y="2243328"/>
            <a:ext cx="5066393"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A78BFA"/>
                </a:solidFill>
                <a:latin typeface="Noto Sans SC"/>
                <a:ea typeface="Noto Sans SC"/>
                <a:cs typeface="Noto Sans SC"/>
                <a:sym typeface="Noto Sans SC"/>
              </a:rPr>
              <a:t>用户态投影层：</a:t>
            </a:r>
            <a:r>
              <a:rPr lang="en-US" sz="1300" b="0" i="0" u="none" strike="noStrike" dirty="0" err="1">
                <a:solidFill>
                  <a:srgbClr val="FFFFFF">
                    <a:alpha val="80000"/>
                  </a:srgbClr>
                </a:solidFill>
                <a:latin typeface="Noto Sans SC"/>
                <a:ea typeface="Noto Sans SC"/>
                <a:cs typeface="Noto Sans SC"/>
                <a:sym typeface="Noto Sans SC"/>
              </a:rPr>
              <a:t>通过</a:t>
            </a:r>
            <a:r>
              <a:rPr lang="en-US" sz="1300" b="0" i="0" u="none" strike="noStrike" dirty="0">
                <a:solidFill>
                  <a:srgbClr val="FFFFFF">
                    <a:alpha val="80000"/>
                  </a:srgbClr>
                </a:solidFill>
                <a:latin typeface="Noto Sans SC"/>
                <a:ea typeface="Noto Sans SC"/>
                <a:cs typeface="Noto Sans SC"/>
                <a:sym typeface="Noto Sans SC"/>
              </a:rPr>
              <a:t> </a:t>
            </a:r>
            <a:r>
              <a:rPr lang="en-US" sz="1300" b="0" i="0" u="none" strike="noStrike" dirty="0" err="1">
                <a:solidFill>
                  <a:srgbClr val="FFFFFF">
                    <a:alpha val="80000"/>
                  </a:srgbClr>
                </a:solidFill>
                <a:latin typeface="Noto Sans SC"/>
                <a:ea typeface="Noto Sans SC"/>
                <a:cs typeface="Noto Sans SC"/>
                <a:sym typeface="Noto Sans SC"/>
              </a:rPr>
              <a:t>devtmpfs</a:t>
            </a:r>
            <a:r>
              <a:rPr lang="en-US" sz="1300" b="0" i="0" u="none" strike="noStrike" dirty="0">
                <a:solidFill>
                  <a:srgbClr val="FFFFFF">
                    <a:alpha val="80000"/>
                  </a:srgbClr>
                </a:solidFill>
                <a:latin typeface="Noto Sans SC"/>
                <a:ea typeface="Noto Sans SC"/>
                <a:cs typeface="Noto Sans SC"/>
                <a:sym typeface="Noto Sans SC"/>
              </a:rPr>
              <a:t>/</a:t>
            </a:r>
            <a:r>
              <a:rPr lang="en-US" sz="1300" b="0" i="0" u="none" strike="noStrike" dirty="0" err="1">
                <a:solidFill>
                  <a:srgbClr val="FFFFFF">
                    <a:alpha val="80000"/>
                  </a:srgbClr>
                </a:solidFill>
                <a:latin typeface="Noto Sans SC"/>
                <a:ea typeface="Noto Sans SC"/>
                <a:cs typeface="Noto Sans SC"/>
                <a:sym typeface="Noto Sans SC"/>
              </a:rPr>
              <a:t>sysfs</a:t>
            </a:r>
            <a:r>
              <a:rPr lang="en-US" sz="1300" b="0" i="0" u="none" strike="noStrike" dirty="0">
                <a:solidFill>
                  <a:srgbClr val="FFFFFF">
                    <a:alpha val="80000"/>
                  </a:srgbClr>
                </a:solidFill>
                <a:latin typeface="Noto Sans SC"/>
                <a:ea typeface="Noto Sans SC"/>
                <a:cs typeface="Noto Sans SC"/>
                <a:sym typeface="Noto Sans SC"/>
              </a:rPr>
              <a:t>/</a:t>
            </a:r>
            <a:r>
              <a:rPr lang="en-US" sz="1300" b="0" i="0" u="none" strike="noStrike" dirty="0" err="1">
                <a:solidFill>
                  <a:srgbClr val="FFFFFF">
                    <a:alpha val="80000"/>
                  </a:srgbClr>
                </a:solidFill>
                <a:latin typeface="Noto Sans SC"/>
                <a:ea typeface="Noto Sans SC"/>
                <a:cs typeface="Noto Sans SC"/>
                <a:sym typeface="Noto Sans SC"/>
              </a:rPr>
              <a:t>procfs</a:t>
            </a:r>
            <a:r>
              <a:rPr lang="en-US" sz="1300" b="0" i="0" u="none" strike="noStrike" dirty="0">
                <a:solidFill>
                  <a:srgbClr val="FFFFFF">
                    <a:alpha val="80000"/>
                  </a:srgbClr>
                </a:solidFill>
                <a:latin typeface="Noto Sans SC"/>
                <a:ea typeface="Noto Sans SC"/>
                <a:cs typeface="Noto Sans SC"/>
                <a:sym typeface="Noto Sans SC"/>
              </a:rPr>
              <a:t> </a:t>
            </a:r>
            <a:r>
              <a:rPr lang="en-US" sz="1300" b="0" i="0" u="none" strike="noStrike" dirty="0" err="1">
                <a:solidFill>
                  <a:srgbClr val="FFFFFF">
                    <a:alpha val="80000"/>
                  </a:srgbClr>
                </a:solidFill>
                <a:latin typeface="Noto Sans SC"/>
                <a:ea typeface="Noto Sans SC"/>
                <a:cs typeface="Noto Sans SC"/>
                <a:sym typeface="Noto Sans SC"/>
              </a:rPr>
              <a:t>构建硬件到用户空间的文件系统映射，提供统一访问入口</a:t>
            </a:r>
            <a:r>
              <a:rPr lang="en-US" sz="1300" b="0" i="0" u="none" strike="noStrike" dirty="0">
                <a:solidFill>
                  <a:srgbClr val="FFFFFF">
                    <a:alpha val="80000"/>
                  </a:srgbClr>
                </a:solidFill>
                <a:latin typeface="Noto Sans SC"/>
                <a:ea typeface="Noto Sans SC"/>
                <a:cs typeface="Noto Sans SC"/>
                <a:sym typeface="Noto Sans SC"/>
              </a:rPr>
              <a:t>。</a:t>
            </a:r>
            <a:endParaRPr lang="en-US" sz="1100" dirty="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3064866" y="3684035"/>
            <a:ext cx="228600" cy="228600"/>
          </a:xfrm>
          <a:prstGeom prst="rect">
            <a:avLst/>
          </a:prstGeom>
        </p:spPr>
      </p:pic>
      <p:sp>
        <p:nvSpPr>
          <p:cNvPr id="9" name="AutoShape 9"/>
          <p:cNvSpPr/>
          <p:nvPr/>
        </p:nvSpPr>
        <p:spPr>
          <a:xfrm>
            <a:off x="512064" y="3031325"/>
            <a:ext cx="5342031" cy="626032"/>
          </a:xfrm>
          <a:prstGeom prst="roundRect">
            <a:avLst>
              <a:gd name="adj" fmla="val 0"/>
            </a:avLst>
          </a:prstGeom>
          <a:solidFill>
            <a:srgbClr val="06B6D4">
              <a:alpha val="25000"/>
            </a:srgbClr>
          </a:solidFill>
          <a:ln w="12700" cap="flat" cmpd="sng">
            <a:solidFill>
              <a:srgbClr val="06B6D4">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04237" y="3023757"/>
            <a:ext cx="76200" cy="6336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66750" y="3123270"/>
            <a:ext cx="5066393"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2D3EE"/>
                </a:solidFill>
                <a:latin typeface="Noto Sans SC"/>
                <a:ea typeface="Noto Sans SC"/>
                <a:cs typeface="Noto Sans SC"/>
                <a:sym typeface="Noto Sans SC"/>
              </a:rPr>
              <a:t>类型化设备层：</a:t>
            </a:r>
            <a:r>
              <a:rPr lang="en-US" sz="1300" b="0" i="0" u="none" strike="noStrike" dirty="0" err="1">
                <a:solidFill>
                  <a:srgbClr val="FFFFFF">
                    <a:alpha val="80000"/>
                  </a:srgbClr>
                </a:solidFill>
                <a:latin typeface="Noto Sans SC"/>
                <a:ea typeface="Noto Sans SC"/>
                <a:cs typeface="Noto Sans SC"/>
                <a:sym typeface="Noto Sans SC"/>
              </a:rPr>
              <a:t>抽象</a:t>
            </a:r>
            <a:r>
              <a:rPr lang="en-US" sz="1300" b="0" i="0" u="none" strike="noStrike" dirty="0">
                <a:solidFill>
                  <a:srgbClr val="FFFFFF">
                    <a:alpha val="80000"/>
                  </a:srgbClr>
                </a:solidFill>
                <a:latin typeface="Noto Sans SC"/>
                <a:ea typeface="Noto Sans SC"/>
                <a:cs typeface="Noto Sans SC"/>
                <a:sym typeface="Noto Sans SC"/>
              </a:rPr>
              <a:t> Char/Block/Net </a:t>
            </a:r>
            <a:r>
              <a:rPr lang="en-US" sz="1300" b="0" i="0" u="none" strike="noStrike" dirty="0" err="1">
                <a:solidFill>
                  <a:srgbClr val="FFFFFF">
                    <a:alpha val="80000"/>
                  </a:srgbClr>
                </a:solidFill>
                <a:latin typeface="Noto Sans SC"/>
                <a:ea typeface="Noto Sans SC"/>
                <a:cs typeface="Noto Sans SC"/>
                <a:sym typeface="Noto Sans SC"/>
              </a:rPr>
              <a:t>等设备共性，封装标准操作接口，屏蔽底层硬件差异</a:t>
            </a:r>
            <a:r>
              <a:rPr lang="en-US" sz="1300" b="0" i="0" u="none" strike="noStrike" dirty="0">
                <a:solidFill>
                  <a:srgbClr val="FFFFFF">
                    <a:alpha val="80000"/>
                  </a:srgbClr>
                </a:solidFill>
                <a:latin typeface="Noto Sans SC"/>
                <a:ea typeface="Noto Sans SC"/>
                <a:cs typeface="Noto Sans SC"/>
                <a:sym typeface="Noto Sans SC"/>
              </a:rPr>
              <a:t>。</a:t>
            </a:r>
            <a:endParaRPr lang="en-US" sz="1100" dirty="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3066747" y="2786888"/>
            <a:ext cx="228600" cy="228600"/>
          </a:xfrm>
          <a:prstGeom prst="rect">
            <a:avLst/>
          </a:prstGeom>
        </p:spPr>
      </p:pic>
      <p:sp>
        <p:nvSpPr>
          <p:cNvPr id="13" name="AutoShape 13"/>
          <p:cNvSpPr/>
          <p:nvPr/>
        </p:nvSpPr>
        <p:spPr>
          <a:xfrm>
            <a:off x="504237" y="3952319"/>
            <a:ext cx="5349858" cy="633599"/>
          </a:xfrm>
          <a:prstGeom prst="roundRect">
            <a:avLst>
              <a:gd name="adj" fmla="val 0"/>
            </a:avLst>
          </a:prstGeom>
          <a:solidFill>
            <a:srgbClr val="10B981">
              <a:alpha val="20000"/>
            </a:srgbClr>
          </a:solidFill>
          <a:ln w="127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04237" y="3946590"/>
            <a:ext cx="76200" cy="633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62987" y="3995256"/>
            <a:ext cx="5070156"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34D399"/>
                </a:solidFill>
                <a:latin typeface="Noto Sans SC"/>
                <a:ea typeface="Noto Sans SC"/>
                <a:cs typeface="Noto Sans SC"/>
                <a:sym typeface="Noto Sans SC"/>
              </a:rPr>
              <a:t>能力与PnP层：</a:t>
            </a:r>
            <a:r>
              <a:rPr lang="en-US" sz="1200" b="0" i="0" u="none" strike="noStrike" dirty="0" err="1">
                <a:solidFill>
                  <a:srgbClr val="FFFFFF">
                    <a:alpha val="80000"/>
                  </a:srgbClr>
                </a:solidFill>
                <a:latin typeface="Noto Sans SC"/>
                <a:ea typeface="Noto Sans SC"/>
                <a:cs typeface="Noto Sans SC"/>
                <a:sym typeface="Noto Sans SC"/>
              </a:rPr>
              <a:t>抽象硬件原子能力，驱动</a:t>
            </a:r>
            <a:r>
              <a:rPr lang="en-US" sz="1200" b="0" i="0" u="none" strike="noStrike" dirty="0">
                <a:solidFill>
                  <a:srgbClr val="FFFFFF">
                    <a:alpha val="80000"/>
                  </a:srgbClr>
                </a:solidFill>
                <a:latin typeface="Noto Sans SC"/>
                <a:ea typeface="Noto Sans SC"/>
                <a:cs typeface="Noto Sans SC"/>
                <a:sym typeface="Noto Sans SC"/>
              </a:rPr>
              <a:t> PnP </a:t>
            </a:r>
            <a:r>
              <a:rPr lang="en-US" sz="1200" b="0" i="0" u="none" strike="noStrike" dirty="0" err="1">
                <a:solidFill>
                  <a:srgbClr val="FFFFFF">
                    <a:alpha val="80000"/>
                  </a:srgbClr>
                </a:solidFill>
                <a:latin typeface="Noto Sans SC"/>
                <a:ea typeface="Noto Sans SC"/>
                <a:cs typeface="Noto Sans SC"/>
                <a:sym typeface="Noto Sans SC"/>
              </a:rPr>
              <a:t>状态机流转（发现-探测-绑定-移除</a:t>
            </a:r>
            <a:r>
              <a:rPr lang="en-US" sz="1200" b="0" i="0" u="none" strike="noStrike" dirty="0">
                <a:solidFill>
                  <a:srgbClr val="FFFFFF">
                    <a:alpha val="80000"/>
                  </a:srgbClr>
                </a:solidFill>
                <a:latin typeface="Noto Sans SC"/>
                <a:ea typeface="Noto Sans SC"/>
                <a:cs typeface="Noto Sans SC"/>
                <a:sym typeface="Noto Sans SC"/>
              </a:rPr>
              <a:t>），</a:t>
            </a:r>
            <a:r>
              <a:rPr lang="en-US" sz="1200" b="0" i="0" u="none" strike="noStrike" dirty="0" err="1">
                <a:solidFill>
                  <a:srgbClr val="FFFFFF">
                    <a:alpha val="80000"/>
                  </a:srgbClr>
                </a:solidFill>
                <a:latin typeface="Noto Sans SC"/>
                <a:ea typeface="Noto Sans SC"/>
                <a:cs typeface="Noto Sans SC"/>
                <a:sym typeface="Noto Sans SC"/>
              </a:rPr>
              <a:t>并通过</a:t>
            </a:r>
            <a:r>
              <a:rPr lang="en-US" sz="1200" b="0" i="0" u="none" strike="noStrike" dirty="0">
                <a:solidFill>
                  <a:srgbClr val="FFFFFF">
                    <a:alpha val="80000"/>
                  </a:srgbClr>
                </a:solidFill>
                <a:latin typeface="Noto Sans SC"/>
                <a:ea typeface="Noto Sans SC"/>
                <a:cs typeface="Noto Sans SC"/>
                <a:sym typeface="Noto Sans SC"/>
              </a:rPr>
              <a:t> Bus </a:t>
            </a:r>
            <a:r>
              <a:rPr lang="en-US" sz="1200" b="0" i="0" u="none" strike="noStrike" dirty="0" err="1">
                <a:solidFill>
                  <a:srgbClr val="FFFFFF">
                    <a:alpha val="80000"/>
                  </a:srgbClr>
                </a:solidFill>
                <a:latin typeface="Noto Sans SC"/>
                <a:ea typeface="Noto Sans SC"/>
                <a:cs typeface="Noto Sans SC"/>
                <a:sym typeface="Noto Sans SC"/>
              </a:rPr>
              <a:t>总线机制完成驱动与设备的匹配附着</a:t>
            </a:r>
            <a:r>
              <a:rPr lang="en-US" sz="1200" b="0" i="0" u="none" strike="noStrike" dirty="0">
                <a:solidFill>
                  <a:srgbClr val="FFFFFF">
                    <a:alpha val="80000"/>
                  </a:srgbClr>
                </a:solidFill>
                <a:latin typeface="Noto Sans SC"/>
                <a:ea typeface="Noto Sans SC"/>
                <a:cs typeface="Noto Sans SC"/>
                <a:sym typeface="Noto Sans SC"/>
              </a:rPr>
              <a:t>。</a:t>
            </a:r>
            <a:endParaRPr lang="en-US" sz="1100" dirty="0"/>
          </a:p>
        </p:txBody>
      </p:sp>
      <p:sp>
        <p:nvSpPr>
          <p:cNvPr id="16" name="AutoShape 16"/>
          <p:cNvSpPr/>
          <p:nvPr/>
        </p:nvSpPr>
        <p:spPr>
          <a:xfrm>
            <a:off x="512064" y="4736708"/>
            <a:ext cx="5349858" cy="1658377"/>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1237" y="4851008"/>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F59E0B"/>
                </a:solidFill>
                <a:latin typeface="Noto Sans SC"/>
                <a:ea typeface="Noto Sans SC"/>
                <a:cs typeface="Noto Sans SC"/>
                <a:sym typeface="Noto Sans SC"/>
              </a:rPr>
              <a:t>▍ PnP </a:t>
            </a:r>
            <a:r>
              <a:rPr lang="en-US" sz="1500" b="1" i="0" u="none" strike="noStrike" dirty="0" err="1">
                <a:solidFill>
                  <a:srgbClr val="F59E0B"/>
                </a:solidFill>
                <a:latin typeface="Noto Sans SC"/>
                <a:ea typeface="Noto Sans SC"/>
                <a:cs typeface="Noto Sans SC"/>
                <a:sym typeface="Noto Sans SC"/>
              </a:rPr>
              <a:t>全生命周期状态机</a:t>
            </a:r>
            <a:endParaRPr lang="en-US" sz="1100" dirty="0"/>
          </a:p>
        </p:txBody>
      </p:sp>
      <p:cxnSp>
        <p:nvCxnSpPr>
          <p:cNvPr id="18" name="Connector 18"/>
          <p:cNvCxnSpPr>
            <a:cxnSpLocks/>
          </p:cNvCxnSpPr>
          <p:nvPr/>
        </p:nvCxnSpPr>
        <p:spPr>
          <a:xfrm>
            <a:off x="702564" y="5234548"/>
            <a:ext cx="4972290" cy="1"/>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9" name="AutoShape 19"/>
          <p:cNvSpPr/>
          <p:nvPr/>
        </p:nvSpPr>
        <p:spPr>
          <a:xfrm>
            <a:off x="580437" y="5073766"/>
            <a:ext cx="5152706"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E5E7EB"/>
                </a:solidFill>
                <a:latin typeface="Noto Sans SC"/>
                <a:ea typeface="Noto Sans SC"/>
                <a:cs typeface="Noto Sans SC"/>
                <a:sym typeface="Noto Sans SC"/>
              </a:rPr>
              <a:t>Discovered (</a:t>
            </a:r>
            <a:r>
              <a:rPr lang="en-US" sz="1300" b="0" i="0" u="none" strike="noStrike" dirty="0" err="1">
                <a:solidFill>
                  <a:srgbClr val="E5E7EB"/>
                </a:solidFill>
                <a:latin typeface="Noto Sans SC"/>
                <a:ea typeface="Noto Sans SC"/>
                <a:cs typeface="Noto Sans SC"/>
                <a:sym typeface="Noto Sans SC"/>
              </a:rPr>
              <a:t>发现</a:t>
            </a:r>
            <a:r>
              <a:rPr lang="en-US" sz="1300" b="0" i="0" u="none" strike="noStrike" dirty="0">
                <a:solidFill>
                  <a:srgbClr val="E5E7EB"/>
                </a:solidFill>
                <a:latin typeface="Noto Sans SC"/>
                <a:ea typeface="Noto Sans SC"/>
                <a:cs typeface="Noto Sans SC"/>
                <a:sym typeface="Noto Sans SC"/>
              </a:rPr>
              <a:t>) → Probing (</a:t>
            </a:r>
            <a:r>
              <a:rPr lang="en-US" sz="1300" b="0" i="0" u="none" strike="noStrike" dirty="0" err="1">
                <a:solidFill>
                  <a:srgbClr val="E5E7EB"/>
                </a:solidFill>
                <a:latin typeface="Noto Sans SC"/>
                <a:ea typeface="Noto Sans SC"/>
                <a:cs typeface="Noto Sans SC"/>
                <a:sym typeface="Noto Sans SC"/>
              </a:rPr>
              <a:t>探测</a:t>
            </a:r>
            <a:r>
              <a:rPr lang="en-US" sz="1300" b="0" i="0" u="none" strike="noStrike" dirty="0">
                <a:solidFill>
                  <a:srgbClr val="E5E7EB"/>
                </a:solidFill>
                <a:latin typeface="Noto Sans SC"/>
                <a:ea typeface="Noto Sans SC"/>
                <a:cs typeface="Noto Sans SC"/>
                <a:sym typeface="Noto Sans SC"/>
              </a:rPr>
              <a:t>) → Bound (</a:t>
            </a:r>
            <a:r>
              <a:rPr lang="en-US" sz="1300" b="0" i="0" u="none" strike="noStrike" dirty="0" err="1">
                <a:solidFill>
                  <a:srgbClr val="E5E7EB"/>
                </a:solidFill>
                <a:latin typeface="Noto Sans SC"/>
                <a:ea typeface="Noto Sans SC"/>
                <a:cs typeface="Noto Sans SC"/>
                <a:sym typeface="Noto Sans SC"/>
              </a:rPr>
              <a:t>绑定就绪</a:t>
            </a:r>
            <a:r>
              <a:rPr lang="en-US" sz="1300" b="0" i="0" u="none" strike="noStrike" dirty="0">
                <a:solidFill>
                  <a:srgbClr val="E5E7EB"/>
                </a:solidFill>
                <a:latin typeface="Noto Sans SC"/>
                <a:ea typeface="Noto Sans SC"/>
                <a:cs typeface="Noto Sans SC"/>
                <a:sym typeface="Noto Sans SC"/>
              </a:rPr>
              <a:t>) → Removing (</a:t>
            </a:r>
            <a:r>
              <a:rPr lang="en-US" sz="1300" b="0" i="0" u="none" strike="noStrike" dirty="0" err="1">
                <a:solidFill>
                  <a:srgbClr val="E5E7EB"/>
                </a:solidFill>
                <a:latin typeface="Noto Sans SC"/>
                <a:ea typeface="Noto Sans SC"/>
                <a:cs typeface="Noto Sans SC"/>
                <a:sym typeface="Noto Sans SC"/>
              </a:rPr>
              <a:t>移除中</a:t>
            </a:r>
            <a:r>
              <a:rPr lang="en-US" sz="1300" b="0" i="0" u="none" strike="noStrike" dirty="0">
                <a:solidFill>
                  <a:srgbClr val="E5E7EB"/>
                </a:solidFill>
                <a:latin typeface="Noto Sans SC"/>
                <a:ea typeface="Noto Sans SC"/>
                <a:cs typeface="Noto Sans SC"/>
                <a:sym typeface="Noto Sans SC"/>
              </a:rPr>
              <a:t>) → Gone (</a:t>
            </a:r>
            <a:r>
              <a:rPr lang="en-US" sz="1300" b="0" i="0" u="none" strike="noStrike" dirty="0" err="1">
                <a:solidFill>
                  <a:srgbClr val="E5E7EB"/>
                </a:solidFill>
                <a:latin typeface="Noto Sans SC"/>
                <a:ea typeface="Noto Sans SC"/>
                <a:cs typeface="Noto Sans SC"/>
                <a:sym typeface="Noto Sans SC"/>
              </a:rPr>
              <a:t>销毁</a:t>
            </a:r>
            <a:r>
              <a:rPr lang="en-US" sz="1300" b="0" i="0" u="none" strike="noStrike" dirty="0">
                <a:solidFill>
                  <a:srgbClr val="E5E7EB"/>
                </a:solidFill>
                <a:latin typeface="Noto Sans SC"/>
                <a:ea typeface="Noto Sans SC"/>
                <a:cs typeface="Noto Sans SC"/>
                <a:sym typeface="Noto Sans SC"/>
              </a:rPr>
              <a:t>)</a:t>
            </a:r>
            <a:endParaRPr lang="en-US" sz="1100" dirty="0"/>
          </a:p>
          <a:p>
            <a:pPr marL="0" indent="0" algn="l">
              <a:lnSpc>
                <a:spcPct val="125000"/>
              </a:lnSpc>
            </a:pPr>
            <a:r>
              <a:rPr lang="en-US" sz="1200" b="0" i="0" u="none" strike="noStrike" dirty="0">
                <a:solidFill>
                  <a:srgbClr val="FFFFFF">
                    <a:alpha val="50196"/>
                  </a:srgbClr>
                </a:solidFill>
                <a:latin typeface="Noto Sans SC"/>
                <a:ea typeface="Noto Sans SC"/>
                <a:cs typeface="Noto Sans SC"/>
                <a:sym typeface="Noto Sans SC"/>
              </a:rPr>
              <a:t> </a:t>
            </a:r>
            <a:r>
              <a:rPr lang="en-US" sz="1200" b="0" i="0" u="none" strike="noStrike" dirty="0" err="1">
                <a:solidFill>
                  <a:srgbClr val="FFFFFF">
                    <a:alpha val="50196"/>
                  </a:srgbClr>
                </a:solidFill>
                <a:latin typeface="Noto Sans SC"/>
                <a:ea typeface="Noto Sans SC"/>
                <a:cs typeface="Noto Sans SC"/>
                <a:sym typeface="Noto Sans SC"/>
              </a:rPr>
              <a:t>状态流转由核心总线驱动，确保设备热插拔的一致性</a:t>
            </a:r>
            <a:r>
              <a:rPr lang="en-US" sz="1200" b="0" i="0" u="none" strike="noStrike" dirty="0">
                <a:solidFill>
                  <a:srgbClr val="FFFFFF">
                    <a:alpha val="50196"/>
                  </a:srgbClr>
                </a:solidFill>
                <a:latin typeface="Noto Sans SC"/>
                <a:ea typeface="Noto Sans SC"/>
                <a:cs typeface="Noto Sans SC"/>
                <a:sym typeface="Noto Sans SC"/>
              </a:rPr>
              <a:t>。</a:t>
            </a:r>
          </a:p>
        </p:txBody>
      </p:sp>
      <p:cxnSp>
        <p:nvCxnSpPr>
          <p:cNvPr id="20" name="Connector 20"/>
          <p:cNvCxnSpPr>
            <a:cxnSpLocks/>
          </p:cNvCxnSpPr>
          <p:nvPr/>
        </p:nvCxnSpPr>
        <p:spPr>
          <a:xfrm>
            <a:off x="6105769" y="1571625"/>
            <a:ext cx="46273" cy="5038193"/>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1" name="TextBox 20"/>
          <p:cNvSpPr txBox="1"/>
          <p:nvPr/>
        </p:nvSpPr>
        <p:spPr>
          <a:xfrm>
            <a:off x="6425184" y="1524000"/>
            <a:ext cx="5453445" cy="344710"/>
          </a:xfrm>
          <a:prstGeom prst="rect">
            <a:avLst/>
          </a:prstGeom>
          <a:noFill/>
          <a:ln>
            <a:noFill/>
          </a:ln>
        </p:spPr>
        <p:txBody>
          <a:bodyPr wrap="square" lIns="45720" tIns="18288" rIns="45720" bIns="18288" anchor="t">
            <a:spAutoFit/>
          </a:bodyPr>
          <a:lstStyle/>
          <a:p>
            <a:pPr algn="l"/>
            <a:r>
              <a:rPr sz="2000" b="1" dirty="0" err="1">
                <a:solidFill>
                  <a:srgbClr val="FFFFFF"/>
                </a:solidFill>
              </a:rPr>
              <a:t>开放能力类型抽象</a:t>
            </a:r>
            <a:endParaRPr sz="2000" b="1" dirty="0">
              <a:solidFill>
                <a:srgbClr val="FFFFFF"/>
              </a:solidFill>
            </a:endParaRPr>
          </a:p>
        </p:txBody>
      </p:sp>
      <p:sp>
        <p:nvSpPr>
          <p:cNvPr id="22" name="TextBox 21"/>
          <p:cNvSpPr txBox="1"/>
          <p:nvPr/>
        </p:nvSpPr>
        <p:spPr>
          <a:xfrm>
            <a:off x="6421120" y="1943242"/>
            <a:ext cx="5453445" cy="683264"/>
          </a:xfrm>
          <a:prstGeom prst="rect">
            <a:avLst/>
          </a:prstGeom>
          <a:noFill/>
          <a:ln>
            <a:noFill/>
          </a:ln>
        </p:spPr>
        <p:txBody>
          <a:bodyPr wrap="square" lIns="45720" tIns="18288" rIns="45720" bIns="18288" anchor="t">
            <a:spAutoFit/>
          </a:bodyPr>
          <a:lstStyle/>
          <a:p>
            <a:pPr indent="457200" algn="l"/>
            <a:r>
              <a:rPr b="0" dirty="0" err="1">
                <a:solidFill>
                  <a:srgbClr val="D1D5DB"/>
                </a:solidFill>
              </a:rPr>
              <a:t>DeviceFunction</a:t>
            </a:r>
            <a:r>
              <a:rPr b="0" dirty="0">
                <a:solidFill>
                  <a:srgbClr val="D1D5DB"/>
                </a:solidFill>
              </a:rPr>
              <a:t> </a:t>
            </a:r>
            <a:r>
              <a:rPr b="0" dirty="0" err="1">
                <a:solidFill>
                  <a:srgbClr val="D1D5DB"/>
                </a:solidFill>
              </a:rPr>
              <a:t>核心</a:t>
            </a:r>
            <a:r>
              <a:rPr b="0" dirty="0">
                <a:solidFill>
                  <a:srgbClr val="D1D5DB"/>
                </a:solidFill>
              </a:rPr>
              <a:t> trait 仅 5 </a:t>
            </a:r>
            <a:r>
              <a:rPr b="0" dirty="0" err="1">
                <a:solidFill>
                  <a:srgbClr val="D1D5DB"/>
                </a:solidFill>
              </a:rPr>
              <a:t>个方法，最小化核心契约；真实</a:t>
            </a:r>
            <a:r>
              <a:rPr b="0" dirty="0">
                <a:solidFill>
                  <a:srgbClr val="D1D5DB"/>
                </a:solidFill>
              </a:rPr>
              <a:t> I/O </a:t>
            </a:r>
            <a:r>
              <a:rPr b="0" dirty="0" err="1">
                <a:solidFill>
                  <a:srgbClr val="D1D5DB"/>
                </a:solidFill>
              </a:rPr>
              <a:t>语义由各类型化对象独立承载；新增设备类型无需重写</a:t>
            </a:r>
            <a:r>
              <a:rPr b="0" dirty="0">
                <a:solidFill>
                  <a:srgbClr val="D1D5DB"/>
                </a:solidFill>
              </a:rPr>
              <a:t> PnP / </a:t>
            </a:r>
            <a:r>
              <a:rPr b="0" dirty="0" err="1">
                <a:solidFill>
                  <a:srgbClr val="D1D5DB"/>
                </a:solidFill>
              </a:rPr>
              <a:t>注册表</a:t>
            </a:r>
            <a:r>
              <a:rPr b="0" dirty="0">
                <a:solidFill>
                  <a:srgbClr val="D1D5DB"/>
                </a:solidFill>
              </a:rPr>
              <a:t> / </a:t>
            </a:r>
            <a:r>
              <a:rPr b="0" dirty="0" err="1">
                <a:solidFill>
                  <a:srgbClr val="D1D5DB"/>
                </a:solidFill>
              </a:rPr>
              <a:t>devtmpfs</a:t>
            </a:r>
            <a:r>
              <a:rPr b="0" dirty="0">
                <a:solidFill>
                  <a:srgbClr val="D1D5DB"/>
                </a:solidFill>
              </a:rPr>
              <a:t> </a:t>
            </a:r>
            <a:r>
              <a:rPr b="0" dirty="0" err="1">
                <a:solidFill>
                  <a:srgbClr val="D1D5DB"/>
                </a:solidFill>
              </a:rPr>
              <a:t>核心</a:t>
            </a:r>
            <a:r>
              <a:rPr b="0" dirty="0">
                <a:solidFill>
                  <a:srgbClr val="D1D5DB"/>
                </a:solidFill>
              </a:rPr>
              <a:t>。</a:t>
            </a:r>
          </a:p>
        </p:txBody>
      </p:sp>
      <p:graphicFrame>
        <p:nvGraphicFramePr>
          <p:cNvPr id="41" name="Table 21">
            <a:extLst>
              <a:ext uri="{FF2B5EF4-FFF2-40B4-BE49-F238E27FC236}">
                <a16:creationId xmlns:a16="http://schemas.microsoft.com/office/drawing/2014/main" xmlns="" id="{40D5535C-794E-4F70-8447-A97AF02D57ED}"/>
              </a:ext>
            </a:extLst>
          </p:cNvPr>
          <p:cNvGraphicFramePr>
            <a:graphicFrameLocks noGrp="1"/>
          </p:cNvGraphicFramePr>
          <p:nvPr>
            <p:extLst>
              <p:ext uri="{D42A27DB-BD31-4B8C-83A1-F6EECF244321}">
                <p14:modId xmlns:p14="http://schemas.microsoft.com/office/powerpoint/2010/main" val="2787370370"/>
              </p:ext>
            </p:extLst>
          </p:nvPr>
        </p:nvGraphicFramePr>
        <p:xfrm>
          <a:off x="6456236" y="2675128"/>
          <a:ext cx="5453445" cy="3723454"/>
        </p:xfrm>
        <a:graphic>
          <a:graphicData uri="http://schemas.openxmlformats.org/drawingml/2006/table">
            <a:tbl>
              <a:tblPr>
                <a:effectLst/>
              </a:tblPr>
              <a:tblGrid>
                <a:gridCol w="1327763">
                  <a:extLst>
                    <a:ext uri="{9D8B030D-6E8A-4147-A177-3AD203B41FA5}">
                      <a16:colId xmlns:a16="http://schemas.microsoft.com/office/drawing/2014/main" xmlns="" val="20000"/>
                    </a:ext>
                  </a:extLst>
                </a:gridCol>
                <a:gridCol w="2200364">
                  <a:extLst>
                    <a:ext uri="{9D8B030D-6E8A-4147-A177-3AD203B41FA5}">
                      <a16:colId xmlns:a16="http://schemas.microsoft.com/office/drawing/2014/main" xmlns="" val="20001"/>
                    </a:ext>
                  </a:extLst>
                </a:gridCol>
                <a:gridCol w="1925318">
                  <a:extLst>
                    <a:ext uri="{9D8B030D-6E8A-4147-A177-3AD203B41FA5}">
                      <a16:colId xmlns:a16="http://schemas.microsoft.com/office/drawing/2014/main" xmlns="" val="20002"/>
                    </a:ext>
                  </a:extLst>
                </a:gridCol>
              </a:tblGrid>
              <a:tr h="687382">
                <a:tc>
                  <a:txBody>
                    <a:bodyPr/>
                    <a:lstStyle/>
                    <a:p>
                      <a:pPr marL="0" indent="0" algn="ctr">
                        <a:lnSpc>
                          <a:spcPct val="100000"/>
                        </a:lnSpc>
                        <a:defRPr/>
                      </a:pPr>
                      <a:r>
                        <a:rPr lang="zh-CN" altLang="en-US" sz="1600" b="1" dirty="0">
                          <a:solidFill>
                            <a:srgbClr val="FFFFFF"/>
                          </a:solidFill>
                        </a:rPr>
                        <a:t>拓展层次</a:t>
                      </a:r>
                      <a:endParaRPr lang="en-US" sz="1100" dirty="0"/>
                    </a:p>
                  </a:txBody>
                  <a:tcPr marL="101600" marR="101600" marT="101600" marB="101600" anchor="ctr">
                    <a:lnL>
                      <a:noFill/>
                    </a:lnL>
                    <a:lnR>
                      <a:noFill/>
                    </a:lnR>
                    <a:lnT>
                      <a:noFill/>
                    </a:lnT>
                    <a:lnB>
                      <a:noFill/>
                    </a:lnB>
                    <a:solidFill>
                      <a:srgbClr val="2A2A4A">
                        <a:alpha val="100000"/>
                      </a:srgbClr>
                    </a:solidFill>
                  </a:tcPr>
                </a:tc>
                <a:tc>
                  <a:txBody>
                    <a:bodyPr/>
                    <a:lstStyle/>
                    <a:p>
                      <a:pPr algn="ctr"/>
                      <a:r>
                        <a:rPr lang="zh-CN" altLang="en-US" sz="1600" b="1" dirty="0">
                          <a:solidFill>
                            <a:srgbClr val="FFFFFF"/>
                          </a:solidFill>
                        </a:rPr>
                        <a:t>已落实抽象层</a:t>
                      </a:r>
                    </a:p>
                  </a:txBody>
                  <a:tcPr marL="101600" marR="101600" marT="101600" marB="101600" anchor="ctr">
                    <a:lnL>
                      <a:noFill/>
                    </a:lnL>
                    <a:lnR>
                      <a:noFill/>
                    </a:lnR>
                    <a:lnT>
                      <a:noFill/>
                    </a:lnT>
                    <a:lnB>
                      <a:noFill/>
                    </a:lnB>
                    <a:solidFill>
                      <a:srgbClr val="2A2A4A">
                        <a:alpha val="100000"/>
                      </a:srgbClr>
                    </a:solidFill>
                  </a:tcPr>
                </a:tc>
                <a:tc>
                  <a:txBody>
                    <a:bodyPr/>
                    <a:lstStyle/>
                    <a:p>
                      <a:pPr algn="ctr"/>
                      <a:r>
                        <a:rPr lang="zh-CN" altLang="en-US" sz="1600" b="1" dirty="0">
                          <a:solidFill>
                            <a:srgbClr val="FFFFFF"/>
                          </a:solidFill>
                        </a:rPr>
                        <a:t>新增设备类型时的改动范围</a:t>
                      </a:r>
                    </a:p>
                  </a:txBody>
                  <a:tcPr marL="101600" marR="101600" marT="101600" marB="101600" anchor="ctr">
                    <a:lnL>
                      <a:noFill/>
                    </a:lnL>
                    <a:lnR>
                      <a:noFill/>
                    </a:lnR>
                    <a:lnT>
                      <a:noFill/>
                    </a:lnT>
                    <a:lnB>
                      <a:noFill/>
                    </a:lnB>
                    <a:solidFill>
                      <a:srgbClr val="2A2A4A">
                        <a:alpha val="100000"/>
                      </a:srgbClr>
                    </a:solidFill>
                  </a:tcPr>
                </a:tc>
                <a:extLst>
                  <a:ext uri="{0D108BD9-81ED-4DB2-BD59-A6C34878D82A}">
                    <a16:rowId xmlns:a16="http://schemas.microsoft.com/office/drawing/2014/main" xmlns="" val="10000"/>
                  </a:ext>
                </a:extLst>
              </a:tr>
              <a:tr h="1061764">
                <a:tc>
                  <a:txBody>
                    <a:bodyPr/>
                    <a:lstStyle/>
                    <a:p>
                      <a:pPr algn="ctr"/>
                      <a:r>
                        <a:rPr lang="zh-CN" altLang="en-US" sz="1400" b="1" dirty="0">
                          <a:solidFill>
                            <a:srgbClr val="A78BFA"/>
                          </a:solidFill>
                        </a:rPr>
                        <a:t>类型标识层</a:t>
                      </a:r>
                    </a:p>
                  </a:txBody>
                  <a:tcPr marL="101600" marR="101600" marT="101600" marB="101600" anchor="ctr">
                    <a:lnL>
                      <a:noFill/>
                    </a:lnL>
                    <a:lnR>
                      <a:noFill/>
                    </a:lnR>
                    <a:lnT>
                      <a:noFill/>
                    </a:lnT>
                    <a:lnB>
                      <a:noFill/>
                    </a:lnB>
                    <a:solidFill>
                      <a:srgbClr val="1E1E3A">
                        <a:alpha val="100000"/>
                      </a:srgbClr>
                    </a:solidFill>
                  </a:tcPr>
                </a:tc>
                <a:tc>
                  <a:txBody>
                    <a:bodyPr/>
                    <a:lstStyle/>
                    <a:p>
                      <a:pPr algn="l"/>
                      <a:r>
                        <a:rPr lang="en-US" altLang="zh-CN" sz="1400" b="0" dirty="0" err="1">
                          <a:solidFill>
                            <a:srgbClr val="E5E7EB"/>
                          </a:solidFill>
                        </a:rPr>
                        <a:t>DeviceFunction</a:t>
                      </a:r>
                      <a:r>
                        <a:rPr lang="en-US" altLang="zh-CN" sz="1400" b="0" dirty="0">
                          <a:solidFill>
                            <a:srgbClr val="E5E7EB"/>
                          </a:solidFill>
                        </a:rPr>
                        <a:t>::</a:t>
                      </a:r>
                      <a:r>
                        <a:rPr lang="en-US" altLang="zh-CN" sz="1400" b="0" dirty="0" err="1">
                          <a:solidFill>
                            <a:srgbClr val="E5E7EB"/>
                          </a:solidFill>
                        </a:rPr>
                        <a:t>class_id</a:t>
                      </a:r>
                      <a:r>
                        <a:rPr lang="en-US" altLang="zh-CN" sz="1400" b="0" dirty="0">
                          <a:solidFill>
                            <a:srgbClr val="E5E7EB"/>
                          </a:solidFill>
                        </a:rPr>
                        <a:t> + </a:t>
                      </a:r>
                      <a:r>
                        <a:rPr lang="en-US" altLang="zh-CN" sz="1400" b="0" dirty="0" err="1">
                          <a:solidFill>
                            <a:srgbClr val="E5E7EB"/>
                          </a:solidFill>
                        </a:rPr>
                        <a:t>dev_name</a:t>
                      </a:r>
                      <a:r>
                        <a:rPr lang="en-US" altLang="zh-CN" sz="1400" b="0" dirty="0">
                          <a:solidFill>
                            <a:srgbClr val="E5E7EB"/>
                          </a:solidFill>
                        </a:rPr>
                        <a:t> </a:t>
                      </a:r>
                      <a:r>
                        <a:rPr lang="zh-CN" altLang="en-US" sz="1400" b="0" dirty="0">
                          <a:solidFill>
                            <a:srgbClr val="E5E7EB"/>
                          </a:solidFill>
                        </a:rPr>
                        <a:t>唯一键</a:t>
                      </a:r>
                    </a:p>
                  </a:txBody>
                  <a:tcPr marL="101600" marR="101600" marT="101600" marB="101600" anchor="ctr">
                    <a:lnL>
                      <a:noFill/>
                    </a:lnL>
                    <a:lnR>
                      <a:noFill/>
                    </a:lnR>
                    <a:lnT>
                      <a:noFill/>
                    </a:lnT>
                    <a:lnB>
                      <a:noFill/>
                    </a:lnB>
                    <a:solidFill>
                      <a:srgbClr val="1E1E3A">
                        <a:alpha val="100000"/>
                      </a:srgbClr>
                    </a:solidFill>
                  </a:tcPr>
                </a:tc>
                <a:tc>
                  <a:txBody>
                    <a:bodyPr/>
                    <a:lstStyle/>
                    <a:p>
                      <a:pPr algn="l"/>
                      <a:r>
                        <a:rPr lang="zh-CN" altLang="en-US" sz="1400" b="0" dirty="0">
                          <a:solidFill>
                            <a:srgbClr val="FBBF24"/>
                          </a:solidFill>
                        </a:rPr>
                        <a:t>无需改动，只需新增类别标识</a:t>
                      </a:r>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1"/>
                  </a:ext>
                </a:extLst>
              </a:tr>
              <a:tr h="909046">
                <a:tc>
                  <a:txBody>
                    <a:bodyPr/>
                    <a:lstStyle/>
                    <a:p>
                      <a:pPr algn="ctr"/>
                      <a:r>
                        <a:rPr lang="zh-CN" altLang="en-US" sz="1400" b="1" dirty="0">
                          <a:solidFill>
                            <a:srgbClr val="22D3EE"/>
                          </a:solidFill>
                        </a:rPr>
                        <a:t>类型化对象层</a:t>
                      </a:r>
                    </a:p>
                  </a:txBody>
                  <a:tcPr marL="101600" marR="101600" marT="101600" marB="101600" anchor="ctr">
                    <a:lnL>
                      <a:noFill/>
                    </a:lnL>
                    <a:lnR>
                      <a:noFill/>
                    </a:lnR>
                    <a:lnT>
                      <a:noFill/>
                    </a:lnT>
                    <a:lnB>
                      <a:noFill/>
                    </a:lnB>
                    <a:solidFill>
                      <a:srgbClr val="252545">
                        <a:alpha val="100000"/>
                      </a:srgbClr>
                    </a:solidFill>
                  </a:tcPr>
                </a:tc>
                <a:tc>
                  <a:txBody>
                    <a:bodyPr/>
                    <a:lstStyle/>
                    <a:p>
                      <a:pPr algn="l"/>
                      <a:r>
                        <a:rPr lang="zh-CN" altLang="en-US" sz="1400" b="0" dirty="0">
                          <a:solidFill>
                            <a:srgbClr val="E5E7EB"/>
                          </a:solidFill>
                        </a:rPr>
                        <a:t>各 </a:t>
                      </a:r>
                      <a:r>
                        <a:rPr lang="en-US" altLang="zh-CN" sz="1400" b="0" dirty="0">
                          <a:solidFill>
                            <a:srgbClr val="E5E7EB"/>
                          </a:solidFill>
                        </a:rPr>
                        <a:t>Device </a:t>
                      </a:r>
                      <a:r>
                        <a:rPr lang="zh-CN" altLang="en-US" sz="1400" b="0" dirty="0">
                          <a:solidFill>
                            <a:srgbClr val="E5E7EB"/>
                          </a:solidFill>
                        </a:rPr>
                        <a:t>句柄自行保留类型化 </a:t>
                      </a:r>
                      <a:r>
                        <a:rPr lang="en-US" altLang="zh-CN" sz="1400" b="0" dirty="0">
                          <a:solidFill>
                            <a:srgbClr val="E5E7EB"/>
                          </a:solidFill>
                        </a:rPr>
                        <a:t>I/O </a:t>
                      </a:r>
                      <a:r>
                        <a:rPr lang="zh-CN" altLang="en-US" sz="1400" b="0" dirty="0">
                          <a:solidFill>
                            <a:srgbClr val="E5E7EB"/>
                          </a:solidFill>
                        </a:rPr>
                        <a:t>语义</a:t>
                      </a:r>
                    </a:p>
                  </a:txBody>
                  <a:tcPr marL="101600" marR="101600" marT="101600" marB="101600" anchor="ctr">
                    <a:lnL>
                      <a:noFill/>
                    </a:lnL>
                    <a:lnR>
                      <a:noFill/>
                    </a:lnR>
                    <a:lnT>
                      <a:noFill/>
                    </a:lnT>
                    <a:lnB>
                      <a:noFill/>
                    </a:lnB>
                    <a:solidFill>
                      <a:srgbClr val="252545">
                        <a:alpha val="100000"/>
                      </a:srgbClr>
                    </a:solidFill>
                  </a:tcPr>
                </a:tc>
                <a:tc>
                  <a:txBody>
                    <a:bodyPr/>
                    <a:lstStyle/>
                    <a:p>
                      <a:pPr algn="l"/>
                      <a:r>
                        <a:rPr lang="zh-CN" altLang="en-US" sz="1400" b="0" dirty="0">
                          <a:solidFill>
                            <a:srgbClr val="FBBF24"/>
                          </a:solidFill>
                        </a:rPr>
                        <a:t>新增类型化对象，核心 </a:t>
                      </a:r>
                      <a:r>
                        <a:rPr lang="en-US" altLang="zh-CN" sz="1400" b="0" dirty="0">
                          <a:solidFill>
                            <a:srgbClr val="FBBF24"/>
                          </a:solidFill>
                        </a:rPr>
                        <a:t>trait </a:t>
                      </a:r>
                      <a:r>
                        <a:rPr lang="zh-CN" altLang="en-US" sz="1400" b="0" dirty="0">
                          <a:solidFill>
                            <a:srgbClr val="FBBF24"/>
                          </a:solidFill>
                        </a:rPr>
                        <a:t>保持不变</a:t>
                      </a:r>
                    </a:p>
                  </a:txBody>
                  <a:tcPr marL="101600" marR="101600" marT="101600" marB="101600" anchor="ctr">
                    <a:lnL>
                      <a:noFill/>
                    </a:lnL>
                    <a:lnR>
                      <a:noFill/>
                    </a:lnR>
                    <a:lnT>
                      <a:noFill/>
                    </a:lnT>
                    <a:lnB>
                      <a:noFill/>
                    </a:lnB>
                    <a:solidFill>
                      <a:srgbClr val="252545">
                        <a:alpha val="100000"/>
                      </a:srgbClr>
                    </a:solidFill>
                  </a:tcPr>
                </a:tc>
                <a:extLst>
                  <a:ext uri="{0D108BD9-81ED-4DB2-BD59-A6C34878D82A}">
                    <a16:rowId xmlns:a16="http://schemas.microsoft.com/office/drawing/2014/main" xmlns="" val="10002"/>
                  </a:ext>
                </a:extLst>
              </a:tr>
              <a:tr h="1061764">
                <a:tc>
                  <a:txBody>
                    <a:bodyPr/>
                    <a:lstStyle/>
                    <a:p>
                      <a:pPr algn="ctr"/>
                      <a:r>
                        <a:rPr lang="zh-CN" altLang="en-US" sz="1400" b="1" dirty="0">
                          <a:solidFill>
                            <a:srgbClr val="34D399"/>
                          </a:solidFill>
                        </a:rPr>
                        <a:t>消费者层</a:t>
                      </a:r>
                    </a:p>
                  </a:txBody>
                  <a:tcPr marL="101600" marR="101600" marT="101600" marB="101600" anchor="ctr">
                    <a:lnL>
                      <a:noFill/>
                    </a:lnL>
                    <a:lnR>
                      <a:noFill/>
                    </a:lnR>
                    <a:lnT>
                      <a:noFill/>
                    </a:lnT>
                    <a:lnB>
                      <a:noFill/>
                    </a:lnB>
                    <a:solidFill>
                      <a:srgbClr val="1E1E3A">
                        <a:alpha val="100000"/>
                      </a:srgbClr>
                    </a:solidFill>
                  </a:tcPr>
                </a:tc>
                <a:tc>
                  <a:txBody>
                    <a:bodyPr/>
                    <a:lstStyle/>
                    <a:p>
                      <a:pPr algn="l"/>
                      <a:r>
                        <a:rPr lang="en-US" altLang="zh-CN" sz="1400" b="0" dirty="0" err="1">
                          <a:solidFill>
                            <a:srgbClr val="E5E7EB"/>
                          </a:solidFill>
                        </a:rPr>
                        <a:t>devtmpfs</a:t>
                      </a:r>
                      <a:r>
                        <a:rPr lang="zh-CN" altLang="en-US" sz="1400" b="0" dirty="0">
                          <a:solidFill>
                            <a:srgbClr val="E5E7EB"/>
                          </a:solidFill>
                        </a:rPr>
                        <a:t> 投影器 </a:t>
                      </a:r>
                      <a:r>
                        <a:rPr lang="en-US" altLang="zh-CN" sz="1400" b="0" dirty="0">
                          <a:solidFill>
                            <a:srgbClr val="E5E7EB"/>
                          </a:solidFill>
                        </a:rPr>
                        <a:t>/ </a:t>
                      </a:r>
                      <a:r>
                        <a:rPr lang="en-US" altLang="zh-CN" sz="1400" b="0" dirty="0" err="1">
                          <a:solidFill>
                            <a:srgbClr val="E5E7EB"/>
                          </a:solidFill>
                        </a:rPr>
                        <a:t>smoltcp</a:t>
                      </a:r>
                      <a:r>
                        <a:rPr lang="zh-CN" altLang="en-US" sz="1400" b="0" dirty="0">
                          <a:solidFill>
                            <a:srgbClr val="E5E7EB"/>
                          </a:solidFill>
                        </a:rPr>
                        <a:t> 协议栈 </a:t>
                      </a:r>
                      <a:r>
                        <a:rPr lang="en-US" altLang="zh-CN" sz="1400" b="0" dirty="0">
                          <a:solidFill>
                            <a:srgbClr val="E5E7EB"/>
                          </a:solidFill>
                        </a:rPr>
                        <a:t>/ </a:t>
                      </a:r>
                      <a:r>
                        <a:rPr lang="zh-CN" altLang="en-US" sz="1400" b="0" dirty="0">
                          <a:solidFill>
                            <a:srgbClr val="E5E7EB"/>
                          </a:solidFill>
                        </a:rPr>
                        <a:t>时间子系统</a:t>
                      </a:r>
                    </a:p>
                  </a:txBody>
                  <a:tcPr marL="101600" marR="101600" marT="101600" marB="101600" anchor="ctr">
                    <a:lnL>
                      <a:noFill/>
                    </a:lnL>
                    <a:lnR>
                      <a:noFill/>
                    </a:lnR>
                    <a:lnT>
                      <a:noFill/>
                    </a:lnT>
                    <a:lnB>
                      <a:noFill/>
                    </a:lnB>
                    <a:solidFill>
                      <a:srgbClr val="1E1E3A">
                        <a:alpha val="100000"/>
                      </a:srgbClr>
                    </a:solidFill>
                  </a:tcPr>
                </a:tc>
                <a:tc>
                  <a:txBody>
                    <a:bodyPr/>
                    <a:lstStyle/>
                    <a:p>
                      <a:pPr algn="l"/>
                      <a:r>
                        <a:rPr lang="zh-CN" altLang="en-US" sz="1400" b="0" dirty="0">
                          <a:solidFill>
                            <a:srgbClr val="FBBF24"/>
                          </a:solidFill>
                        </a:rPr>
                        <a:t>新增投影器，</a:t>
                      </a:r>
                      <a:r>
                        <a:rPr lang="en-US" altLang="zh-CN" sz="1400" b="0" dirty="0">
                          <a:solidFill>
                            <a:srgbClr val="FBBF24"/>
                          </a:solidFill>
                        </a:rPr>
                        <a:t>PnP / </a:t>
                      </a:r>
                      <a:r>
                        <a:rPr lang="zh-CN" altLang="en-US" sz="1400" b="0" dirty="0">
                          <a:solidFill>
                            <a:srgbClr val="FBBF24"/>
                          </a:solidFill>
                        </a:rPr>
                        <a:t>注册表核心不变</a:t>
                      </a:r>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虚拟文件系统（VFS）</a:t>
            </a:r>
            <a:endParaRPr lang="en-US" sz="1100"/>
          </a:p>
        </p:txBody>
      </p:sp>
      <p:sp>
        <p:nvSpPr>
          <p:cNvPr id="3" name="AutoShape 3"/>
          <p:cNvSpPr/>
          <p:nvPr/>
        </p:nvSpPr>
        <p:spPr>
          <a:xfrm>
            <a:off x="508000" y="11176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4605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solidFill>
                <a:latin typeface="Noto Sans SC"/>
                <a:ea typeface="Noto Sans SC"/>
                <a:cs typeface="Noto Sans SC"/>
                <a:sym typeface="Noto Sans SC"/>
              </a:rPr>
              <a:t>三层分离的对象模型 + POSIX 兼容架构分层</a:t>
            </a:r>
            <a:endParaRPr lang="en-US" sz="1100"/>
          </a:p>
        </p:txBody>
      </p:sp>
      <p:sp>
        <p:nvSpPr>
          <p:cNvPr id="5" name="AutoShape 5"/>
          <p:cNvSpPr/>
          <p:nvPr/>
        </p:nvSpPr>
        <p:spPr>
          <a:xfrm>
            <a:off x="508000" y="2032000"/>
            <a:ext cx="2082800" cy="1270000"/>
          </a:xfrm>
          <a:prstGeom prst="roundRect">
            <a:avLst>
              <a:gd name="adj" fmla="val 0"/>
            </a:avLst>
          </a:prstGeom>
          <a:solidFill>
            <a:srgbClr val="8B5CF6">
              <a:alpha val="15000"/>
            </a:srgbClr>
          </a:solidFill>
          <a:ln w="12700" cap="flat" cmpd="sng">
            <a:solidFill>
              <a:srgbClr val="8B5C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032000"/>
            <a:ext cx="20828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2222500"/>
            <a:ext cx="1828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A78BFA"/>
                </a:solidFill>
                <a:latin typeface="Noto Sans SC"/>
                <a:ea typeface="Noto Sans SC"/>
                <a:cs typeface="Noto Sans SC"/>
                <a:sym typeface="Noto Sans SC"/>
              </a:rPr>
              <a:t>POSIX系统调用层</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对外统一接口，屏蔽底层差异，提供open/read/write等标准操作入口。</a:t>
            </a:r>
          </a:p>
        </p:txBody>
      </p:sp>
      <p:cxnSp>
        <p:nvCxnSpPr>
          <p:cNvPr id="8" name="Connector 8"/>
          <p:cNvCxnSpPr/>
          <p:nvPr/>
        </p:nvCxnSpPr>
        <p:spPr>
          <a:xfrm rot="-214580">
            <a:off x="2717998" y="2660650"/>
            <a:ext cx="2032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9" name="AutoShape 9"/>
          <p:cNvSpPr/>
          <p:nvPr/>
        </p:nvSpPr>
        <p:spPr>
          <a:xfrm>
            <a:off x="2921000" y="2032000"/>
            <a:ext cx="2082800" cy="1270000"/>
          </a:xfrm>
          <a:prstGeom prst="roundRect">
            <a:avLst>
              <a:gd name="adj" fmla="val 0"/>
            </a:avLst>
          </a:prstGeom>
          <a:solidFill>
            <a:srgbClr val="06B6D4">
              <a:alpha val="15000"/>
            </a:srgbClr>
          </a:solidFill>
          <a:ln w="12700" cap="flat" cmpd="sng">
            <a:solidFill>
              <a:srgbClr val="06B6D4">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921000" y="2032000"/>
            <a:ext cx="20828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048000" y="2222500"/>
            <a:ext cx="1828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D3EE"/>
                </a:solidFill>
                <a:latin typeface="Noto Sans SC"/>
                <a:ea typeface="Noto Sans SC"/>
                <a:cs typeface="Noto Sans SC"/>
                <a:sym typeface="Noto Sans SC"/>
              </a:rPr>
              <a:t>进程VFS状态</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维护进程级打开文件表、文件描述符索引，管理进程视角的文件上下文。</a:t>
            </a:r>
          </a:p>
        </p:txBody>
      </p:sp>
      <p:cxnSp>
        <p:nvCxnSpPr>
          <p:cNvPr id="12" name="Connector 12"/>
          <p:cNvCxnSpPr/>
          <p:nvPr/>
        </p:nvCxnSpPr>
        <p:spPr>
          <a:xfrm rot="-214580">
            <a:off x="5130998" y="2660650"/>
            <a:ext cx="2032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13" name="AutoShape 13"/>
          <p:cNvSpPr/>
          <p:nvPr/>
        </p:nvSpPr>
        <p:spPr>
          <a:xfrm>
            <a:off x="5334000" y="2032000"/>
            <a:ext cx="2082800" cy="1270000"/>
          </a:xfrm>
          <a:prstGeom prst="roundRect">
            <a:avLst>
              <a:gd name="adj" fmla="val 0"/>
            </a:avLst>
          </a:prstGeom>
          <a:solidFill>
            <a:srgbClr val="10B981">
              <a:alpha val="15000"/>
            </a:srgbClr>
          </a:solidFill>
          <a:ln w="127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334000" y="2032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461000" y="2222500"/>
            <a:ext cx="1828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D399"/>
                </a:solidFill>
                <a:latin typeface="Noto Sans SC"/>
                <a:ea typeface="Noto Sans SC"/>
                <a:cs typeface="Noto Sans SC"/>
                <a:sym typeface="Noto Sans SC"/>
              </a:rPr>
              <a:t>VFS核心对象层</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抽象Inode、Dentry、Superblock核心对象，构建内存中的文件系统视图。</a:t>
            </a:r>
          </a:p>
        </p:txBody>
      </p:sp>
      <p:cxnSp>
        <p:nvCxnSpPr>
          <p:cNvPr id="16" name="Connector 16"/>
          <p:cNvCxnSpPr/>
          <p:nvPr/>
        </p:nvCxnSpPr>
        <p:spPr>
          <a:xfrm rot="-214580">
            <a:off x="7543998" y="2660650"/>
            <a:ext cx="2032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17" name="AutoShape 17"/>
          <p:cNvSpPr/>
          <p:nvPr/>
        </p:nvSpPr>
        <p:spPr>
          <a:xfrm>
            <a:off x="7747000" y="2032000"/>
            <a:ext cx="2082800" cy="1270000"/>
          </a:xfrm>
          <a:prstGeom prst="roundRect">
            <a:avLst>
              <a:gd name="adj" fmla="val 0"/>
            </a:avLst>
          </a:prstGeom>
          <a:solidFill>
            <a:srgbClr val="84CC16">
              <a:alpha val="15000"/>
            </a:srgbClr>
          </a:solidFill>
          <a:ln w="12700" cap="flat" cmpd="sng">
            <a:solidFill>
              <a:srgbClr val="84CC16">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747000" y="2032000"/>
            <a:ext cx="2082800" cy="508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874000" y="2222500"/>
            <a:ext cx="1828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A3E635"/>
                </a:solidFill>
                <a:latin typeface="Noto Sans SC"/>
                <a:ea typeface="Noto Sans SC"/>
                <a:cs typeface="Noto Sans SC"/>
                <a:sym typeface="Noto Sans SC"/>
              </a:rPr>
              <a:t>具体文件系统驱动</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适配Ext4、XFS、Btrfs等具体实现，负责核心对象到底层操作的映射。</a:t>
            </a:r>
          </a:p>
        </p:txBody>
      </p:sp>
      <p:cxnSp>
        <p:nvCxnSpPr>
          <p:cNvPr id="20" name="Connector 20"/>
          <p:cNvCxnSpPr/>
          <p:nvPr/>
        </p:nvCxnSpPr>
        <p:spPr>
          <a:xfrm rot="-214580">
            <a:off x="9956998" y="2660650"/>
            <a:ext cx="2032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21" name="AutoShape 21"/>
          <p:cNvSpPr/>
          <p:nvPr/>
        </p:nvSpPr>
        <p:spPr>
          <a:xfrm>
            <a:off x="10160000" y="2032000"/>
            <a:ext cx="1524000" cy="1270000"/>
          </a:xfrm>
          <a:prstGeom prst="roundRect">
            <a:avLst>
              <a:gd name="adj" fmla="val 0"/>
            </a:avLst>
          </a:prstGeom>
          <a:solidFill>
            <a:srgbClr val="F59E0B">
              <a:alpha val="15000"/>
            </a:srgbClr>
          </a:solidFill>
          <a:ln w="12700" cap="flat" cmpd="sng">
            <a:solidFill>
              <a:srgbClr val="F59E0B">
                <a:alpha val="10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160000" y="2032000"/>
            <a:ext cx="15240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23500" y="2222500"/>
            <a:ext cx="139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BBF24"/>
                </a:solidFill>
                <a:latin typeface="Noto Sans SC"/>
                <a:ea typeface="Noto Sans SC"/>
                <a:cs typeface="Noto Sans SC"/>
                <a:sym typeface="Noto Sans SC"/>
              </a:rPr>
              <a:t>存储后端层</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块设备、内存、网络存储等物理或虚拟介质的IO交互层。</a:t>
            </a:r>
          </a:p>
        </p:txBody>
      </p:sp>
      <p:cxnSp>
        <p:nvCxnSpPr>
          <p:cNvPr id="24" name="Connector 24"/>
          <p:cNvCxnSpPr/>
          <p:nvPr/>
        </p:nvCxnSpPr>
        <p:spPr>
          <a:xfrm rot="-3906">
            <a:off x="508004" y="3676650"/>
            <a:ext cx="11176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5" name="AutoShape 25"/>
          <p:cNvSpPr/>
          <p:nvPr/>
        </p:nvSpPr>
        <p:spPr>
          <a:xfrm>
            <a:off x="508000" y="3937000"/>
            <a:ext cx="685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核心对象关系解析</a:t>
            </a:r>
            <a:endParaRPr lang="en-US" sz="1100"/>
          </a:p>
        </p:txBody>
      </p:sp>
      <p:graphicFrame>
        <p:nvGraphicFramePr>
          <p:cNvPr id="26" name="Table 26"/>
          <p:cNvGraphicFramePr>
            <a:graphicFrameLocks noGrp="1"/>
          </p:cNvGraphicFramePr>
          <p:nvPr/>
        </p:nvGraphicFramePr>
        <p:xfrm>
          <a:off x="508000" y="4445000"/>
          <a:ext cx="6731000" cy="2214880"/>
        </p:xfrm>
        <a:graphic>
          <a:graphicData uri="http://schemas.openxmlformats.org/drawingml/2006/table">
            <a:tbl>
              <a:tblPr>
                <a:effectLst/>
              </a:tblPr>
              <a:tblGrid>
                <a:gridCol w="1079500">
                  <a:extLst>
                    <a:ext uri="{9D8B030D-6E8A-4147-A177-3AD203B41FA5}">
                      <a16:colId xmlns:a16="http://schemas.microsoft.com/office/drawing/2014/main" xmlns="" val="20000"/>
                    </a:ext>
                  </a:extLst>
                </a:gridCol>
                <a:gridCol w="1587500">
                  <a:extLst>
                    <a:ext uri="{9D8B030D-6E8A-4147-A177-3AD203B41FA5}">
                      <a16:colId xmlns:a16="http://schemas.microsoft.com/office/drawing/2014/main" xmlns="" val="20001"/>
                    </a:ext>
                  </a:extLst>
                </a:gridCol>
                <a:gridCol w="2032000">
                  <a:extLst>
                    <a:ext uri="{9D8B030D-6E8A-4147-A177-3AD203B41FA5}">
                      <a16:colId xmlns:a16="http://schemas.microsoft.com/office/drawing/2014/main" xmlns="" val="20002"/>
                    </a:ext>
                  </a:extLst>
                </a:gridCol>
                <a:gridCol w="2032000">
                  <a:extLst>
                    <a:ext uri="{9D8B030D-6E8A-4147-A177-3AD203B41FA5}">
                      <a16:colId xmlns:a16="http://schemas.microsoft.com/office/drawing/2014/main" xmlns="" val="20003"/>
                    </a:ext>
                  </a:extLst>
                </a:gridCol>
              </a:tblGrid>
              <a:tr h="406400">
                <a:tc>
                  <a:txBody>
                    <a:bodyPr/>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核心对象</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2A2A4A">
                        <a:alpha val="100000"/>
                      </a:srgbClr>
                    </a:solidFill>
                  </a:tcPr>
                </a:tc>
                <a:tc>
                  <a:txBody>
                    <a:bodyPr/>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关键数据结构</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2A2A4A">
                        <a:alpha val="100000"/>
                      </a:srgbClr>
                    </a:solidFill>
                  </a:tcPr>
                </a:tc>
                <a:tc>
                  <a:txBody>
                    <a:bodyPr/>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核心职责定位</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2A2A4A">
                        <a:alpha val="100000"/>
                      </a:srgbClr>
                    </a:solidFill>
                  </a:tcPr>
                </a:tc>
                <a:tc>
                  <a:txBody>
                    <a:bodyPr/>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生命周期管理</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2A2A4A">
                        <a:alpha val="100000"/>
                      </a:srgbClr>
                    </a:solidFill>
                  </a:tcPr>
                </a:tc>
                <a:extLst>
                  <a:ext uri="{0D108BD9-81ED-4DB2-BD59-A6C34878D82A}">
                    <a16:rowId xmlns:a16="http://schemas.microsoft.com/office/drawing/2014/main" xmlns="" val="10000"/>
                  </a:ext>
                </a:extLst>
              </a:tr>
              <a:tr h="330200">
                <a:tc>
                  <a:txBody>
                    <a:bodyPr/>
                    <a:lstStyle/>
                    <a:p>
                      <a:pPr marL="0" indent="0" algn="ctr">
                        <a:lnSpc>
                          <a:spcPct val="100000"/>
                        </a:lnSpc>
                        <a:defRPr/>
                      </a:pPr>
                      <a:r>
                        <a:rPr lang="en-US" sz="1300" b="0" i="0" u="none" strike="noStrike">
                          <a:solidFill>
                            <a:srgbClr val="E5E7EB"/>
                          </a:solidFill>
                          <a:latin typeface="Noto Sans SC"/>
                          <a:ea typeface="Noto Sans SC"/>
                          <a:cs typeface="Noto Sans SC"/>
                          <a:sym typeface="Noto Sans SC"/>
                        </a:rPr>
                        <a:t>Inode</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InodeId (fs_id+ino)</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标识文件身份，存储元数据与物理布局信息</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通过超级块进行弱引用管理，延迟回收</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1E1E3A">
                        <a:alpha val="100000"/>
                      </a:srgbClr>
                    </a:solidFill>
                  </a:tcPr>
                </a:tc>
                <a:extLst>
                  <a:ext uri="{0D108BD9-81ED-4DB2-BD59-A6C34878D82A}">
                    <a16:rowId xmlns:a16="http://schemas.microsoft.com/office/drawing/2014/main" xmlns="" val="10001"/>
                  </a:ext>
                </a:extLst>
              </a:tr>
              <a:tr h="330200">
                <a:tc>
                  <a:txBody>
                    <a:bodyPr/>
                    <a:lstStyle/>
                    <a:p>
                      <a:pPr marL="0" indent="0" algn="ctr">
                        <a:lnSpc>
                          <a:spcPct val="100000"/>
                        </a:lnSpc>
                        <a:defRPr/>
                      </a:pPr>
                      <a:r>
                        <a:rPr lang="en-US" sz="1300" b="0" i="0" u="none" strike="noStrike">
                          <a:solidFill>
                            <a:srgbClr val="E5E7EB"/>
                          </a:solidFill>
                          <a:latin typeface="Noto Sans SC"/>
                          <a:ea typeface="Noto Sans SC"/>
                          <a:cs typeface="Noto Sans SC"/>
                          <a:sym typeface="Noto Sans SC"/>
                        </a:rPr>
                        <a:t>Dentry</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DentryState (三态机制)</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路径名解析，加速目录到Inode的映射查找</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16分片哈希表控制，支持负向缓存优化</a:t>
                      </a:r>
                      <a:endParaRPr lang="en-US" sz="1100"/>
                    </a:p>
                  </a:txBody>
                  <a:tcPr marL="101600" marR="101600" marT="101600" marB="101600" anchor="ctr">
                    <a:lnL>
                      <a:noFill/>
                    </a:lnL>
                    <a:lnR>
                      <a:noFill/>
                    </a:lnR>
                    <a:lnT>
                      <a:noFill/>
                    </a:lnT>
                    <a:lnB>
                      <a:noFill/>
                    </a:lnB>
                    <a:solidFill>
                      <a:srgbClr val="252545">
                        <a:alpha val="100000"/>
                      </a:srgbClr>
                    </a:solidFill>
                  </a:tcPr>
                </a:tc>
                <a:extLst>
                  <a:ext uri="{0D108BD9-81ED-4DB2-BD59-A6C34878D82A}">
                    <a16:rowId xmlns:a16="http://schemas.microsoft.com/office/drawing/2014/main" xmlns="" val="10002"/>
                  </a:ext>
                </a:extLst>
              </a:tr>
              <a:tr h="330200">
                <a:tc>
                  <a:txBody>
                    <a:bodyPr/>
                    <a:lstStyle/>
                    <a:p>
                      <a:pPr marL="0" indent="0" algn="ctr">
                        <a:lnSpc>
                          <a:spcPct val="100000"/>
                        </a:lnSpc>
                        <a:defRPr/>
                      </a:pPr>
                      <a:r>
                        <a:rPr lang="en-US" sz="1300" b="0" i="0" u="none" strike="noStrike">
                          <a:solidFill>
                            <a:srgbClr val="E5E7EB"/>
                          </a:solidFill>
                          <a:latin typeface="Noto Sans SC"/>
                          <a:ea typeface="Noto Sans SC"/>
                          <a:cs typeface="Noto Sans SC"/>
                          <a:sym typeface="Noto Sans SC"/>
                        </a:rPr>
                        <a:t>File</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OpenOpts+凭据快照</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代表进程打开的文件，管理读写偏移与状态</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300" b="0" i="0" u="none" strike="noStrike">
                          <a:solidFill>
                            <a:srgbClr val="D1D5DB"/>
                          </a:solidFill>
                          <a:latin typeface="Noto Sans SC"/>
                          <a:ea typeface="Noto Sans SC"/>
                          <a:cs typeface="Noto Sans SC"/>
                          <a:sym typeface="Noto Sans SC"/>
                        </a:rPr>
                        <a:t>Arc计数+关闭计数，多进程共享同一File</a:t>
                      </a:r>
                      <a:endParaRPr lang="en-US" sz="110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3"/>
                  </a:ext>
                </a:extLst>
              </a:tr>
            </a:tbl>
          </a:graphicData>
        </a:graphic>
      </p:graphicFrame>
      <p:cxnSp>
        <p:nvCxnSpPr>
          <p:cNvPr id="27" name="Connector 27"/>
          <p:cNvCxnSpPr>
            <a:cxnSpLocks/>
          </p:cNvCxnSpPr>
          <p:nvPr/>
        </p:nvCxnSpPr>
        <p:spPr>
          <a:xfrm>
            <a:off x="7543799" y="4409422"/>
            <a:ext cx="0" cy="2250458"/>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8" name="AutoShape 28"/>
          <p:cNvSpPr/>
          <p:nvPr/>
        </p:nvSpPr>
        <p:spPr>
          <a:xfrm>
            <a:off x="7874000" y="3940493"/>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FFFF"/>
                </a:solidFill>
                <a:latin typeface="Noto Sans SC"/>
                <a:ea typeface="Noto Sans SC"/>
                <a:cs typeface="Noto Sans SC"/>
                <a:sym typeface="Noto Sans SC"/>
              </a:rPr>
              <a:t>关键设计亮点</a:t>
            </a:r>
            <a:endParaRPr lang="en-US" sz="1100" dirty="0"/>
          </a:p>
        </p:txBody>
      </p:sp>
      <p:sp>
        <p:nvSpPr>
          <p:cNvPr id="29" name="AutoShape 29"/>
          <p:cNvSpPr/>
          <p:nvPr/>
        </p:nvSpPr>
        <p:spPr>
          <a:xfrm>
            <a:off x="7874000" y="4445000"/>
            <a:ext cx="1841500" cy="1015999"/>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7975600" y="4613275"/>
            <a:ext cx="304800" cy="304800"/>
          </a:xfrm>
          <a:prstGeom prst="rect">
            <a:avLst/>
          </a:prstGeom>
        </p:spPr>
      </p:pic>
      <p:sp>
        <p:nvSpPr>
          <p:cNvPr id="31" name="AutoShape 31"/>
          <p:cNvSpPr/>
          <p:nvPr/>
        </p:nvSpPr>
        <p:spPr>
          <a:xfrm>
            <a:off x="8382000" y="4549775"/>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三层分离模型</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目录项→索引节点→文件对象，职责解耦清晰</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32" name="AutoShape 32"/>
          <p:cNvSpPr/>
          <p:nvPr/>
        </p:nvSpPr>
        <p:spPr>
          <a:xfrm>
            <a:off x="9842500" y="4445000"/>
            <a:ext cx="1841500" cy="1015999"/>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9944100" y="4613275"/>
            <a:ext cx="304800" cy="304800"/>
          </a:xfrm>
          <a:prstGeom prst="rect">
            <a:avLst/>
          </a:prstGeom>
        </p:spPr>
      </p:pic>
      <p:sp>
        <p:nvSpPr>
          <p:cNvPr id="34" name="AutoShape 34"/>
          <p:cNvSpPr/>
          <p:nvPr/>
        </p:nvSpPr>
        <p:spPr>
          <a:xfrm>
            <a:off x="10350500" y="4549775"/>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能力冻结机制</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打开时快照凭据，有效解决TOCTOU安全问题</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35" name="AutoShape 35"/>
          <p:cNvSpPr/>
          <p:nvPr/>
        </p:nvSpPr>
        <p:spPr>
          <a:xfrm>
            <a:off x="7874000" y="5643882"/>
            <a:ext cx="1841500" cy="1015998"/>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7975600" y="5793108"/>
            <a:ext cx="304800" cy="304800"/>
          </a:xfrm>
          <a:prstGeom prst="rect">
            <a:avLst/>
          </a:prstGeom>
        </p:spPr>
      </p:pic>
      <p:sp>
        <p:nvSpPr>
          <p:cNvPr id="37" name="AutoShape 37"/>
          <p:cNvSpPr/>
          <p:nvPr/>
        </p:nvSpPr>
        <p:spPr>
          <a:xfrm>
            <a:off x="8382000" y="5763898"/>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高效缓存策略</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Dentry三态缓存与分片哈希，极大提升查找效率</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38" name="AutoShape 38"/>
          <p:cNvSpPr/>
          <p:nvPr/>
        </p:nvSpPr>
        <p:spPr>
          <a:xfrm>
            <a:off x="9842500" y="5643881"/>
            <a:ext cx="1841500" cy="1015999"/>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39" name="Picture 3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944100" y="5793108"/>
            <a:ext cx="304800" cy="304800"/>
          </a:xfrm>
          <a:prstGeom prst="rect">
            <a:avLst/>
          </a:prstGeom>
        </p:spPr>
      </p:pic>
      <p:sp>
        <p:nvSpPr>
          <p:cNvPr id="40" name="AutoShape 40"/>
          <p:cNvSpPr/>
          <p:nvPr/>
        </p:nvSpPr>
        <p:spPr>
          <a:xfrm>
            <a:off x="10350500" y="5752468"/>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挂载命名空间</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单锁保护机制，支持隔离的文件系统视图</a:t>
            </a:r>
            <a:r>
              <a:rPr lang="en-US" sz="1200" b="0" i="0" u="none" strike="noStrike" dirty="0">
                <a:solidFill>
                  <a:srgbClr val="FFFFFF">
                    <a:alpha val="60000"/>
                  </a:srgbClr>
                </a:solidFill>
                <a:latin typeface="Noto Sans SC"/>
                <a:ea typeface="Noto Sans SC"/>
                <a:cs typeface="Noto Sans SC"/>
                <a:sym typeface="Noto Sans SC"/>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2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进程与线程管理</a:t>
            </a:r>
            <a:endParaRPr lang="en-US" sz="1100"/>
          </a:p>
        </p:txBody>
      </p:sp>
      <p:sp>
        <p:nvSpPr>
          <p:cNvPr id="3" name="AutoShape 3"/>
          <p:cNvSpPr/>
          <p:nvPr/>
        </p:nvSpPr>
        <p:spPr>
          <a:xfrm>
            <a:off x="508000" y="1143000"/>
            <a:ext cx="1016000" cy="508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3934" y="1422400"/>
            <a:ext cx="5435601"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dirty="0" err="1">
                <a:solidFill>
                  <a:srgbClr val="FFFFFF"/>
                </a:solidFill>
                <a:latin typeface="Noto Sans SC"/>
                <a:ea typeface="Noto Sans SC"/>
                <a:cs typeface="Noto Sans SC"/>
                <a:sym typeface="Noto Sans SC"/>
              </a:rPr>
              <a:t>统一</a:t>
            </a:r>
            <a:r>
              <a:rPr lang="en-US" sz="2000" b="0" i="0" u="none" strike="noStrike" dirty="0">
                <a:solidFill>
                  <a:srgbClr val="FFFFFF"/>
                </a:solidFill>
                <a:latin typeface="Noto Sans SC"/>
                <a:ea typeface="Noto Sans SC"/>
                <a:cs typeface="Noto Sans SC"/>
                <a:sym typeface="Noto Sans SC"/>
              </a:rPr>
              <a:t> Task </a:t>
            </a:r>
            <a:r>
              <a:rPr lang="en-US" sz="2000" b="0" i="0" u="none" strike="noStrike" dirty="0" err="1">
                <a:solidFill>
                  <a:srgbClr val="FFFFFF"/>
                </a:solidFill>
                <a:latin typeface="Noto Sans SC"/>
                <a:ea typeface="Noto Sans SC"/>
                <a:cs typeface="Noto Sans SC"/>
                <a:sym typeface="Noto Sans SC"/>
              </a:rPr>
              <a:t>对象模型结构</a:t>
            </a:r>
            <a:endParaRPr lang="en-US" sz="1100" dirty="0"/>
          </a:p>
        </p:txBody>
      </p:sp>
      <p:sp>
        <p:nvSpPr>
          <p:cNvPr id="5" name="AutoShape 5"/>
          <p:cNvSpPr/>
          <p:nvPr/>
        </p:nvSpPr>
        <p:spPr>
          <a:xfrm>
            <a:off x="508001" y="1871980"/>
            <a:ext cx="5431535" cy="2775077"/>
          </a:xfrm>
          <a:prstGeom prst="roundRect">
            <a:avLst>
              <a:gd name="adj" fmla="val 0"/>
            </a:avLst>
          </a:prstGeom>
          <a:solidFill>
            <a:srgbClr val="2A2A4A">
              <a:alpha val="60000"/>
            </a:srgbClr>
          </a:solidFill>
          <a:ln w="12700" cap="flat" cmpd="sng">
            <a:solidFill>
              <a:srgbClr val="00D9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05474" y="2050288"/>
            <a:ext cx="2562224" cy="533400"/>
          </a:xfrm>
          <a:prstGeom prst="roundRect">
            <a:avLst>
              <a:gd name="adj" fmla="val 0"/>
            </a:avLst>
          </a:prstGeom>
          <a:solidFill>
            <a:srgbClr val="06B6D4">
              <a:alpha val="25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68973" y="2113788"/>
            <a:ext cx="2427579"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FFFFFF"/>
                </a:solidFill>
                <a:latin typeface="Noto Sans SC"/>
                <a:ea typeface="Noto Sans SC"/>
                <a:cs typeface="Noto Sans SC"/>
                <a:sym typeface="Noto Sans SC"/>
              </a:rPr>
              <a:t>SchedEntity</a:t>
            </a:r>
            <a:r>
              <a:rPr lang="en-US" sz="1200" b="1" i="0" u="none" strike="noStrike" dirty="0">
                <a:solidFill>
                  <a:srgbClr val="FFFFFF"/>
                </a:solidFill>
                <a:latin typeface="Noto Sans SC"/>
                <a:ea typeface="Noto Sans SC"/>
                <a:cs typeface="Noto Sans SC"/>
                <a:sym typeface="Noto Sans SC"/>
              </a:rPr>
              <a:t> </a:t>
            </a:r>
            <a:r>
              <a:rPr lang="en-US" sz="1200" b="1" i="0" u="none" strike="noStrike" dirty="0" err="1">
                <a:solidFill>
                  <a:srgbClr val="FFFFFF"/>
                </a:solidFill>
                <a:latin typeface="Noto Sans SC"/>
                <a:ea typeface="Noto Sans SC"/>
                <a:cs typeface="Noto Sans SC"/>
                <a:sym typeface="Noto Sans SC"/>
              </a:rPr>
              <a:t>调度实体：</a:t>
            </a:r>
            <a:r>
              <a:rPr lang="en-US" sz="1200" b="0" i="0" u="none" strike="noStrike" dirty="0" err="1">
                <a:solidFill>
                  <a:srgbClr val="FFFFFF">
                    <a:alpha val="80000"/>
                  </a:srgbClr>
                </a:solidFill>
                <a:latin typeface="Noto Sans SC"/>
                <a:ea typeface="Noto Sans SC"/>
                <a:cs typeface="Noto Sans SC"/>
                <a:sym typeface="Noto Sans SC"/>
              </a:rPr>
              <a:t>优先级、时间片、调度队列链接核心结构</a:t>
            </a:r>
            <a:endParaRPr lang="en-US" sz="1100" dirty="0"/>
          </a:p>
        </p:txBody>
      </p:sp>
      <p:sp>
        <p:nvSpPr>
          <p:cNvPr id="8" name="AutoShape 8"/>
          <p:cNvSpPr/>
          <p:nvPr/>
        </p:nvSpPr>
        <p:spPr>
          <a:xfrm>
            <a:off x="3269298" y="2042160"/>
            <a:ext cx="2562224" cy="533400"/>
          </a:xfrm>
          <a:prstGeom prst="roundRect">
            <a:avLst>
              <a:gd name="adj" fmla="val 0"/>
            </a:avLst>
          </a:prstGeom>
          <a:solidFill>
            <a:srgbClr val="10B981">
              <a:alpha val="25000"/>
            </a:srgbClr>
          </a:solidFill>
          <a:ln w="12700" cap="flat" cmpd="sng">
            <a:solidFill>
              <a:srgbClr val="10B981">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332798" y="2105660"/>
            <a:ext cx="2469052"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FFFFFF"/>
                </a:solidFill>
                <a:latin typeface="Noto Sans SC"/>
                <a:ea typeface="Noto Sans SC"/>
                <a:cs typeface="Noto Sans SC"/>
                <a:sym typeface="Noto Sans SC"/>
              </a:rPr>
              <a:t>TaskState</a:t>
            </a:r>
            <a:r>
              <a:rPr lang="en-US" sz="1200" b="1" i="0" u="none" strike="noStrike" dirty="0">
                <a:solidFill>
                  <a:srgbClr val="FFFFFF"/>
                </a:solidFill>
                <a:latin typeface="Noto Sans SC"/>
                <a:ea typeface="Noto Sans SC"/>
                <a:cs typeface="Noto Sans SC"/>
                <a:sym typeface="Noto Sans SC"/>
              </a:rPr>
              <a:t> </a:t>
            </a:r>
            <a:r>
              <a:rPr lang="en-US" sz="1200" b="1" i="0" u="none" strike="noStrike" dirty="0" err="1">
                <a:solidFill>
                  <a:srgbClr val="FFFFFF"/>
                </a:solidFill>
                <a:latin typeface="Noto Sans SC"/>
                <a:ea typeface="Noto Sans SC"/>
                <a:cs typeface="Noto Sans SC"/>
                <a:sym typeface="Noto Sans SC"/>
              </a:rPr>
              <a:t>状态标识：</a:t>
            </a:r>
            <a:r>
              <a:rPr lang="en-US" sz="1200" b="0" i="0" u="none" strike="noStrike" dirty="0" err="1">
                <a:solidFill>
                  <a:srgbClr val="FFFFFF">
                    <a:alpha val="80000"/>
                  </a:srgbClr>
                </a:solidFill>
                <a:latin typeface="Noto Sans SC"/>
                <a:ea typeface="Noto Sans SC"/>
                <a:cs typeface="Noto Sans SC"/>
                <a:sym typeface="Noto Sans SC"/>
              </a:rPr>
              <a:t>原子化状态流转标记，驱动生命周期管理</a:t>
            </a:r>
            <a:endParaRPr lang="en-US" sz="1100" dirty="0"/>
          </a:p>
        </p:txBody>
      </p:sp>
      <p:sp>
        <p:nvSpPr>
          <p:cNvPr id="11" name="AutoShape 11"/>
          <p:cNvSpPr/>
          <p:nvPr/>
        </p:nvSpPr>
        <p:spPr>
          <a:xfrm>
            <a:off x="605474" y="2723388"/>
            <a:ext cx="2562224" cy="533400"/>
          </a:xfrm>
          <a:prstGeom prst="roundRect">
            <a:avLst>
              <a:gd name="adj" fmla="val 0"/>
            </a:avLst>
          </a:prstGeom>
          <a:solidFill>
            <a:srgbClr val="84CC16">
              <a:alpha val="25000"/>
            </a:srgbClr>
          </a:solidFill>
          <a:ln w="12700" cap="flat" cmpd="sng">
            <a:solidFill>
              <a:srgbClr val="84CC16">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68974" y="2786888"/>
            <a:ext cx="2461745"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a:solidFill>
                  <a:srgbClr val="FFFFFF"/>
                </a:solidFill>
                <a:latin typeface="Noto Sans SC"/>
                <a:ea typeface="Noto Sans SC"/>
                <a:cs typeface="Noto Sans SC"/>
                <a:sym typeface="Noto Sans SC"/>
              </a:rPr>
              <a:t>Relations </a:t>
            </a:r>
            <a:r>
              <a:rPr lang="en-US" sz="1200" b="1" i="0" u="none" strike="noStrike" dirty="0" err="1">
                <a:solidFill>
                  <a:srgbClr val="FFFFFF"/>
                </a:solidFill>
                <a:latin typeface="Noto Sans SC"/>
                <a:ea typeface="Noto Sans SC"/>
                <a:cs typeface="Noto Sans SC"/>
                <a:sym typeface="Noto Sans SC"/>
              </a:rPr>
              <a:t>关联：</a:t>
            </a:r>
            <a:r>
              <a:rPr lang="en-US" sz="1200" b="0" i="0" u="none" strike="noStrike" dirty="0" err="1">
                <a:solidFill>
                  <a:srgbClr val="FFFFFF">
                    <a:alpha val="80000"/>
                  </a:srgbClr>
                </a:solidFill>
                <a:latin typeface="Noto Sans SC"/>
                <a:ea typeface="Noto Sans SC"/>
                <a:cs typeface="Noto Sans SC"/>
                <a:sym typeface="Noto Sans SC"/>
              </a:rPr>
              <a:t>parent</a:t>
            </a:r>
            <a:r>
              <a:rPr lang="en-US" sz="1200" b="0" i="0" u="none" strike="noStrike" dirty="0">
                <a:solidFill>
                  <a:srgbClr val="FFFFFF">
                    <a:alpha val="80000"/>
                  </a:srgbClr>
                </a:solidFill>
                <a:latin typeface="Noto Sans SC"/>
                <a:ea typeface="Noto Sans SC"/>
                <a:cs typeface="Noto Sans SC"/>
                <a:sym typeface="Noto Sans SC"/>
              </a:rPr>
              <a:t>/children </a:t>
            </a:r>
            <a:r>
              <a:rPr lang="en-US" sz="1200" b="0" i="0" u="none" strike="noStrike" dirty="0" err="1">
                <a:solidFill>
                  <a:srgbClr val="FFFFFF">
                    <a:alpha val="80000"/>
                  </a:srgbClr>
                </a:solidFill>
                <a:latin typeface="Noto Sans SC"/>
                <a:ea typeface="Noto Sans SC"/>
                <a:cs typeface="Noto Sans SC"/>
                <a:sym typeface="Noto Sans SC"/>
              </a:rPr>
              <a:t>链表与进程组归属</a:t>
            </a:r>
            <a:endParaRPr lang="en-US" sz="1100" dirty="0"/>
          </a:p>
        </p:txBody>
      </p:sp>
      <p:sp>
        <p:nvSpPr>
          <p:cNvPr id="13" name="AutoShape 13"/>
          <p:cNvSpPr/>
          <p:nvPr/>
        </p:nvSpPr>
        <p:spPr>
          <a:xfrm>
            <a:off x="3269298" y="2718435"/>
            <a:ext cx="2562224" cy="533400"/>
          </a:xfrm>
          <a:prstGeom prst="roundRect">
            <a:avLst>
              <a:gd name="adj" fmla="val 0"/>
            </a:avLst>
          </a:prstGeom>
          <a:solidFill>
            <a:srgbClr val="F59E0B">
              <a:alpha val="25000"/>
            </a:srgbClr>
          </a:solidFill>
          <a:ln w="12700" cap="flat" cmpd="sng">
            <a:solidFill>
              <a:srgbClr val="F59E0B">
                <a:alpha val="5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332798" y="2781935"/>
            <a:ext cx="2461745"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a:ea typeface="Noto Sans SC"/>
                <a:cs typeface="Noto Sans SC"/>
                <a:sym typeface="Noto Sans SC"/>
              </a:rPr>
              <a:t>Credentials 凭据：</a:t>
            </a:r>
            <a:r>
              <a:rPr lang="en-US" sz="1200" b="0" i="0" u="none" strike="noStrike">
                <a:solidFill>
                  <a:srgbClr val="FFFFFF">
                    <a:alpha val="80000"/>
                  </a:srgbClr>
                </a:solidFill>
                <a:latin typeface="Noto Sans SC"/>
                <a:ea typeface="Noto Sans SC"/>
                <a:cs typeface="Noto Sans SC"/>
                <a:sym typeface="Noto Sans SC"/>
              </a:rPr>
              <a:t>UID/GID 权限快照，确保不可变性与安全</a:t>
            </a:r>
            <a:endParaRPr lang="en-US" sz="1100"/>
          </a:p>
        </p:txBody>
      </p:sp>
      <p:sp>
        <p:nvSpPr>
          <p:cNvPr id="16" name="AutoShape 16"/>
          <p:cNvSpPr/>
          <p:nvPr/>
        </p:nvSpPr>
        <p:spPr>
          <a:xfrm>
            <a:off x="605474" y="3394202"/>
            <a:ext cx="2565400" cy="533400"/>
          </a:xfrm>
          <a:prstGeom prst="roundRect">
            <a:avLst>
              <a:gd name="adj" fmla="val 0"/>
            </a:avLst>
          </a:prstGeom>
          <a:solidFill>
            <a:srgbClr val="EC4899">
              <a:alpha val="25000"/>
            </a:srgbClr>
          </a:solidFill>
          <a:ln w="12700" cap="flat" cmpd="sng">
            <a:solidFill>
              <a:srgbClr val="EC4899">
                <a:alpha val="5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8974" y="3457702"/>
            <a:ext cx="246126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FFFFFF"/>
                </a:solidFill>
                <a:latin typeface="Noto Sans SC"/>
                <a:ea typeface="Noto Sans SC"/>
                <a:cs typeface="Noto Sans SC"/>
                <a:sym typeface="Noto Sans SC"/>
              </a:rPr>
              <a:t>HotTaskExt</a:t>
            </a:r>
            <a:r>
              <a:rPr lang="en-US" sz="1200" b="1" i="0" u="none" strike="noStrike" dirty="0">
                <a:solidFill>
                  <a:srgbClr val="FFFFFF"/>
                </a:solidFill>
                <a:latin typeface="Noto Sans SC"/>
                <a:ea typeface="Noto Sans SC"/>
                <a:cs typeface="Noto Sans SC"/>
                <a:sym typeface="Noto Sans SC"/>
              </a:rPr>
              <a:t> </a:t>
            </a:r>
            <a:r>
              <a:rPr lang="en-US" sz="1200" b="1" i="0" u="none" strike="noStrike" dirty="0" err="1">
                <a:solidFill>
                  <a:srgbClr val="FFFFFF"/>
                </a:solidFill>
                <a:latin typeface="Noto Sans SC"/>
                <a:ea typeface="Noto Sans SC"/>
                <a:cs typeface="Noto Sans SC"/>
                <a:sym typeface="Noto Sans SC"/>
              </a:rPr>
              <a:t>热资源：</a:t>
            </a:r>
            <a:r>
              <a:rPr lang="en-US" sz="1200" b="0" i="0" u="none" strike="noStrike" dirty="0" err="1">
                <a:solidFill>
                  <a:srgbClr val="FFFFFF">
                    <a:alpha val="80000"/>
                  </a:srgbClr>
                </a:solidFill>
                <a:latin typeface="Noto Sans SC"/>
                <a:ea typeface="Noto Sans SC"/>
                <a:cs typeface="Noto Sans SC"/>
                <a:sym typeface="Noto Sans SC"/>
              </a:rPr>
              <a:t>VFS节点、文件描述符表与虚拟内存空间</a:t>
            </a:r>
            <a:endParaRPr lang="en-US" sz="1100" dirty="0"/>
          </a:p>
        </p:txBody>
      </p:sp>
      <p:sp>
        <p:nvSpPr>
          <p:cNvPr id="18" name="AutoShape 18"/>
          <p:cNvSpPr/>
          <p:nvPr/>
        </p:nvSpPr>
        <p:spPr>
          <a:xfrm>
            <a:off x="3269298" y="3394202"/>
            <a:ext cx="2562224" cy="533400"/>
          </a:xfrm>
          <a:prstGeom prst="roundRect">
            <a:avLst>
              <a:gd name="adj" fmla="val 0"/>
            </a:avLst>
          </a:prstGeom>
          <a:solidFill>
            <a:srgbClr val="6B7280">
              <a:alpha val="35000"/>
            </a:srgbClr>
          </a:solidFill>
          <a:ln w="12700" cap="flat" cmpd="sng">
            <a:solidFill>
              <a:srgbClr val="6B7280">
                <a:alpha val="6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332798" y="3457702"/>
            <a:ext cx="2465536"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a:ea typeface="Noto Sans SC"/>
                <a:cs typeface="Noto Sans SC"/>
                <a:sym typeface="Noto Sans SC"/>
              </a:rPr>
              <a:t>ExtVector 扩展向量：</a:t>
            </a:r>
            <a:r>
              <a:rPr lang="en-US" sz="1200" b="0" i="0" u="none" strike="noStrike">
                <a:solidFill>
                  <a:srgbClr val="FFFFFF">
                    <a:alpha val="80000"/>
                  </a:srgbClr>
                </a:solidFill>
                <a:latin typeface="Noto Sans SC"/>
                <a:ea typeface="Noto Sans SC"/>
                <a:cs typeface="Noto Sans SC"/>
                <a:sym typeface="Noto Sans SC"/>
              </a:rPr>
              <a:t>子系统动态挂载点，支持功能的模块化扩展</a:t>
            </a:r>
            <a:endParaRPr lang="en-US" sz="1100"/>
          </a:p>
        </p:txBody>
      </p:sp>
      <p:sp>
        <p:nvSpPr>
          <p:cNvPr id="20" name="AutoShape 20"/>
          <p:cNvSpPr/>
          <p:nvPr/>
        </p:nvSpPr>
        <p:spPr>
          <a:xfrm>
            <a:off x="605475" y="3998722"/>
            <a:ext cx="5226048" cy="632460"/>
          </a:xfrm>
          <a:prstGeom prst="rect">
            <a:avLst/>
          </a:prstGeom>
          <a:noFill/>
          <a:ln w="12700" cap="flat" cmpd="sng">
            <a:noFill/>
            <a:prstDash val="solid"/>
            <a:round/>
          </a:ln>
        </p:spPr>
        <p:txBody>
          <a:bodyPr vert="horz" wrap="square" lIns="0" tIns="0" rIns="0" bIns="0" rtlCol="0" anchor="ctr" anchorCtr="0"/>
          <a:lstStyle/>
          <a:p>
            <a:pPr marL="0" indent="0">
              <a:lnSpc>
                <a:spcPct val="125000"/>
              </a:lnSpc>
              <a:defRPr/>
            </a:pPr>
            <a:r>
              <a:rPr lang="en-US" sz="1400" b="0" i="0" u="none" strike="noStrike" dirty="0" err="1">
                <a:solidFill>
                  <a:srgbClr val="FFFFFF">
                    <a:alpha val="70196"/>
                  </a:srgbClr>
                </a:solidFill>
                <a:latin typeface="Noto Sans SC"/>
                <a:ea typeface="Noto Sans SC"/>
                <a:cs typeface="Noto Sans SC"/>
                <a:sym typeface="Noto Sans SC"/>
              </a:rPr>
              <a:t>核心机制：进程与线程不再有本质差异，完全由</a:t>
            </a:r>
            <a:r>
              <a:rPr lang="en-US" sz="1400" b="0" i="0" u="none" strike="noStrike" dirty="0">
                <a:solidFill>
                  <a:srgbClr val="FFFFFF">
                    <a:alpha val="70196"/>
                  </a:srgbClr>
                </a:solidFill>
                <a:latin typeface="Noto Sans SC"/>
                <a:ea typeface="Noto Sans SC"/>
                <a:cs typeface="Noto Sans SC"/>
                <a:sym typeface="Noto Sans SC"/>
              </a:rPr>
              <a:t> clone </a:t>
            </a:r>
            <a:r>
              <a:rPr lang="en-US" sz="1400" b="0" i="0" u="none" strike="noStrike" dirty="0" err="1">
                <a:solidFill>
                  <a:srgbClr val="FFFFFF">
                    <a:alpha val="70196"/>
                  </a:srgbClr>
                </a:solidFill>
                <a:latin typeface="Noto Sans SC"/>
                <a:ea typeface="Noto Sans SC"/>
                <a:cs typeface="Noto Sans SC"/>
                <a:sym typeface="Noto Sans SC"/>
              </a:rPr>
              <a:t>标志位决定资源共享策略；PID</a:t>
            </a:r>
            <a:r>
              <a:rPr lang="en-US" sz="1400" b="0" i="0" u="none" strike="noStrike" dirty="0">
                <a:solidFill>
                  <a:srgbClr val="FFFFFF">
                    <a:alpha val="70196"/>
                  </a:srgbClr>
                </a:solidFill>
                <a:latin typeface="Noto Sans SC"/>
                <a:ea typeface="Noto Sans SC"/>
                <a:cs typeface="Noto Sans SC"/>
                <a:sym typeface="Noto Sans SC"/>
              </a:rPr>
              <a:t> </a:t>
            </a:r>
            <a:r>
              <a:rPr lang="en-US" sz="1400" b="0" i="0" u="none" strike="noStrike" dirty="0" err="1">
                <a:solidFill>
                  <a:srgbClr val="FFFFFF">
                    <a:alpha val="70196"/>
                  </a:srgbClr>
                </a:solidFill>
                <a:latin typeface="Noto Sans SC"/>
                <a:ea typeface="Noto Sans SC"/>
                <a:cs typeface="Noto Sans SC"/>
                <a:sym typeface="Noto Sans SC"/>
              </a:rPr>
              <a:t>仅作为</a:t>
            </a:r>
            <a:r>
              <a:rPr lang="en-US" sz="1400" b="0" i="0" u="none" strike="noStrike" dirty="0">
                <a:solidFill>
                  <a:srgbClr val="FFFFFF">
                    <a:alpha val="70196"/>
                  </a:srgbClr>
                </a:solidFill>
                <a:latin typeface="Noto Sans SC"/>
                <a:ea typeface="Noto Sans SC"/>
                <a:cs typeface="Noto Sans SC"/>
                <a:sym typeface="Noto Sans SC"/>
              </a:rPr>
              <a:t> ABI </a:t>
            </a:r>
            <a:r>
              <a:rPr lang="en-US" sz="1400" b="0" i="0" u="none" strike="noStrike" dirty="0" err="1">
                <a:solidFill>
                  <a:srgbClr val="FFFFFF">
                    <a:alpha val="70196"/>
                  </a:srgbClr>
                </a:solidFill>
                <a:latin typeface="Noto Sans SC"/>
                <a:ea typeface="Noto Sans SC"/>
                <a:cs typeface="Noto Sans SC"/>
                <a:sym typeface="Noto Sans SC"/>
              </a:rPr>
              <a:t>兼容层存在</a:t>
            </a:r>
            <a:r>
              <a:rPr lang="en-US" sz="1400" b="0" i="0" u="none" strike="noStrike" dirty="0">
                <a:solidFill>
                  <a:srgbClr val="FFFFFF">
                    <a:alpha val="70196"/>
                  </a:srgbClr>
                </a:solidFill>
                <a:latin typeface="Noto Sans SC"/>
                <a:ea typeface="Noto Sans SC"/>
                <a:cs typeface="Noto Sans SC"/>
                <a:sym typeface="Noto Sans SC"/>
              </a:rPr>
              <a:t>。</a:t>
            </a:r>
            <a:endParaRPr lang="en-US" sz="1100" dirty="0"/>
          </a:p>
        </p:txBody>
      </p:sp>
      <p:cxnSp>
        <p:nvCxnSpPr>
          <p:cNvPr id="21" name="Connector 21"/>
          <p:cNvCxnSpPr>
            <a:cxnSpLocks/>
          </p:cNvCxnSpPr>
          <p:nvPr/>
        </p:nvCxnSpPr>
        <p:spPr>
          <a:xfrm>
            <a:off x="6096000" y="1587499"/>
            <a:ext cx="0" cy="5001896"/>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2" name="AutoShape 22"/>
          <p:cNvSpPr/>
          <p:nvPr/>
        </p:nvSpPr>
        <p:spPr>
          <a:xfrm>
            <a:off x="6252464" y="1460500"/>
            <a:ext cx="546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FFFFFF"/>
                </a:solidFill>
                <a:latin typeface="Noto Sans SC"/>
                <a:ea typeface="Noto Sans SC"/>
                <a:cs typeface="Noto Sans SC"/>
                <a:sym typeface="Noto Sans SC"/>
              </a:rPr>
              <a:t>▌ </a:t>
            </a:r>
            <a:r>
              <a:rPr lang="en-US" sz="1800" b="1" i="0" u="none" strike="noStrike" dirty="0" err="1">
                <a:solidFill>
                  <a:srgbClr val="FFFFFF"/>
                </a:solidFill>
                <a:latin typeface="Noto Sans SC"/>
                <a:ea typeface="Noto Sans SC"/>
                <a:cs typeface="Noto Sans SC"/>
                <a:sym typeface="Noto Sans SC"/>
              </a:rPr>
              <a:t>任务生命周期状态机</a:t>
            </a:r>
            <a:endParaRPr lang="en-US" sz="1100" dirty="0"/>
          </a:p>
        </p:txBody>
      </p:sp>
      <p:sp>
        <p:nvSpPr>
          <p:cNvPr id="25" name="AutoShape 25"/>
          <p:cNvSpPr/>
          <p:nvPr/>
        </p:nvSpPr>
        <p:spPr>
          <a:xfrm>
            <a:off x="503934" y="4790567"/>
            <a:ext cx="520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FFFFFF"/>
                </a:solidFill>
                <a:latin typeface="Noto Sans SC"/>
                <a:ea typeface="Noto Sans SC"/>
                <a:cs typeface="Noto Sans SC"/>
                <a:sym typeface="Noto Sans SC"/>
              </a:rPr>
              <a:t>▌ </a:t>
            </a:r>
            <a:r>
              <a:rPr lang="en-US" sz="1800" b="1" i="0" u="none" strike="noStrike" dirty="0" err="1">
                <a:solidFill>
                  <a:srgbClr val="FFFFFF"/>
                </a:solidFill>
                <a:latin typeface="Noto Sans SC"/>
                <a:ea typeface="Noto Sans SC"/>
                <a:cs typeface="Noto Sans SC"/>
                <a:sym typeface="Noto Sans SC"/>
              </a:rPr>
              <a:t>核心设计策略</a:t>
            </a:r>
            <a:endParaRPr lang="en-US" sz="1100" dirty="0"/>
          </a:p>
        </p:txBody>
      </p:sp>
      <p:sp>
        <p:nvSpPr>
          <p:cNvPr id="26" name="AutoShape 26"/>
          <p:cNvSpPr/>
          <p:nvPr/>
        </p:nvSpPr>
        <p:spPr>
          <a:xfrm>
            <a:off x="503934" y="5155057"/>
            <a:ext cx="2514600" cy="635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05534" y="5282057"/>
            <a:ext cx="304800" cy="304800"/>
          </a:xfrm>
          <a:prstGeom prst="rect">
            <a:avLst/>
          </a:prstGeom>
        </p:spPr>
      </p:pic>
      <p:sp>
        <p:nvSpPr>
          <p:cNvPr id="28" name="AutoShape 28"/>
          <p:cNvSpPr/>
          <p:nvPr/>
        </p:nvSpPr>
        <p:spPr>
          <a:xfrm>
            <a:off x="1011934" y="5218557"/>
            <a:ext cx="190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Noto Sans SC"/>
                <a:ea typeface="Noto Sans SC"/>
                <a:cs typeface="Noto Sans SC"/>
                <a:sym typeface="Noto Sans SC"/>
              </a:rPr>
              <a:t>统一身份管理</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60000"/>
                  </a:srgbClr>
                </a:solidFill>
                <a:latin typeface="Noto Sans SC"/>
                <a:ea typeface="Noto Sans SC"/>
                <a:cs typeface="Noto Sans SC"/>
                <a:sym typeface="Noto Sans SC"/>
              </a:rPr>
              <a:t>采用 Arc&lt;Task&gt; 智能指针，确保对象生命周期安全托管。</a:t>
            </a:r>
            <a:endParaRPr lang="en-US" sz="1100"/>
          </a:p>
        </p:txBody>
      </p:sp>
      <p:sp>
        <p:nvSpPr>
          <p:cNvPr id="29" name="AutoShape 29"/>
          <p:cNvSpPr/>
          <p:nvPr/>
        </p:nvSpPr>
        <p:spPr>
          <a:xfrm>
            <a:off x="3424935" y="5160264"/>
            <a:ext cx="2514600" cy="635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526535" y="5287264"/>
            <a:ext cx="304800" cy="304800"/>
          </a:xfrm>
          <a:prstGeom prst="rect">
            <a:avLst/>
          </a:prstGeom>
        </p:spPr>
      </p:pic>
      <p:sp>
        <p:nvSpPr>
          <p:cNvPr id="31" name="AutoShape 31"/>
          <p:cNvSpPr/>
          <p:nvPr/>
        </p:nvSpPr>
        <p:spPr>
          <a:xfrm>
            <a:off x="3932935" y="5223764"/>
            <a:ext cx="190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b="1">
                <a:solidFill>
                  <a:srgbClr val="FFFFFF"/>
                </a:solidFill>
              </a:rPr>
              <a:t>冷热分离扩展</a:t>
            </a:r>
            <a:endParaRPr lang="en-US" sz="1100"/>
          </a:p>
          <a:p>
            <a:r>
              <a:rPr sz="850">
                <a:solidFill>
                  <a:srgbClr val="D1D5DB"/>
                </a:solidFill>
              </a:rPr>
              <a:t>热路径走 HotTaskExt 热槽位 (fdtable/vm/VFS)，冷路径走类型擦除 Vec，热路径不锁扩展向量。</a:t>
            </a:r>
          </a:p>
        </p:txBody>
      </p:sp>
      <p:sp>
        <p:nvSpPr>
          <p:cNvPr id="32" name="AutoShape 32"/>
          <p:cNvSpPr/>
          <p:nvPr/>
        </p:nvSpPr>
        <p:spPr>
          <a:xfrm>
            <a:off x="503934" y="5917057"/>
            <a:ext cx="2514600" cy="635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05534" y="6044057"/>
            <a:ext cx="304800" cy="304800"/>
          </a:xfrm>
          <a:prstGeom prst="rect">
            <a:avLst/>
          </a:prstGeom>
        </p:spPr>
      </p:pic>
      <p:sp>
        <p:nvSpPr>
          <p:cNvPr id="34" name="AutoShape 34"/>
          <p:cNvSpPr/>
          <p:nvPr/>
        </p:nvSpPr>
        <p:spPr>
          <a:xfrm>
            <a:off x="1011934" y="5980557"/>
            <a:ext cx="190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Noto Sans SC"/>
                <a:ea typeface="Noto Sans SC"/>
                <a:cs typeface="Noto Sans SC"/>
                <a:sym typeface="Noto Sans SC"/>
              </a:rPr>
              <a:t>凭据快照安全</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60000"/>
                  </a:srgbClr>
                </a:solidFill>
                <a:latin typeface="Noto Sans SC"/>
                <a:ea typeface="Noto Sans SC"/>
                <a:cs typeface="Noto Sans SC"/>
                <a:sym typeface="Noto Sans SC"/>
              </a:rPr>
              <a:t>Credentials 不可变设计，修改时整体替换，消除中间状态。</a:t>
            </a:r>
            <a:endParaRPr lang="en-US" sz="1100"/>
          </a:p>
        </p:txBody>
      </p:sp>
      <p:sp>
        <p:nvSpPr>
          <p:cNvPr id="35" name="AutoShape 35"/>
          <p:cNvSpPr/>
          <p:nvPr/>
        </p:nvSpPr>
        <p:spPr>
          <a:xfrm>
            <a:off x="3424935" y="5917057"/>
            <a:ext cx="2514600" cy="635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3526535" y="6044057"/>
            <a:ext cx="304800" cy="304800"/>
          </a:xfrm>
          <a:prstGeom prst="rect">
            <a:avLst/>
          </a:prstGeom>
        </p:spPr>
      </p:pic>
      <p:sp>
        <p:nvSpPr>
          <p:cNvPr id="37" name="AutoShape 37"/>
          <p:cNvSpPr/>
          <p:nvPr/>
        </p:nvSpPr>
        <p:spPr>
          <a:xfrm>
            <a:off x="3932935" y="5980557"/>
            <a:ext cx="190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Noto Sans SC"/>
                <a:ea typeface="Noto Sans SC"/>
                <a:cs typeface="Noto Sans SC"/>
                <a:sym typeface="Noto Sans SC"/>
              </a:rPr>
              <a:t>完整生命周期闭环</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60000"/>
                  </a:srgbClr>
                </a:solidFill>
                <a:latin typeface="Noto Sans SC"/>
                <a:ea typeface="Noto Sans SC"/>
                <a:cs typeface="Noto Sans SC"/>
                <a:sym typeface="Noto Sans SC"/>
              </a:rPr>
              <a:t>标准化 clone/exit/wait 流程，确保资源无泄漏回收。</a:t>
            </a:r>
            <a:endParaRPr lang="en-US" sz="1100"/>
          </a:p>
        </p:txBody>
      </p:sp>
      <p:graphicFrame>
        <p:nvGraphicFramePr>
          <p:cNvPr id="87" name="Table 21">
            <a:extLst>
              <a:ext uri="{FF2B5EF4-FFF2-40B4-BE49-F238E27FC236}">
                <a16:creationId xmlns:a16="http://schemas.microsoft.com/office/drawing/2014/main" xmlns="" id="{0BECBD9C-EDB9-4519-8E23-B27C7DE2A1FE}"/>
              </a:ext>
            </a:extLst>
          </p:cNvPr>
          <p:cNvGraphicFramePr>
            <a:graphicFrameLocks noGrp="1"/>
          </p:cNvGraphicFramePr>
          <p:nvPr>
            <p:extLst>
              <p:ext uri="{D42A27DB-BD31-4B8C-83A1-F6EECF244321}">
                <p14:modId xmlns:p14="http://schemas.microsoft.com/office/powerpoint/2010/main" val="99839395"/>
              </p:ext>
            </p:extLst>
          </p:nvPr>
        </p:nvGraphicFramePr>
        <p:xfrm>
          <a:off x="6254879" y="1871980"/>
          <a:ext cx="5729475" cy="4694738"/>
        </p:xfrm>
        <a:graphic>
          <a:graphicData uri="http://schemas.openxmlformats.org/drawingml/2006/table">
            <a:tbl>
              <a:tblPr>
                <a:effectLst/>
              </a:tblPr>
              <a:tblGrid>
                <a:gridCol w="1351201">
                  <a:extLst>
                    <a:ext uri="{9D8B030D-6E8A-4147-A177-3AD203B41FA5}">
                      <a16:colId xmlns:a16="http://schemas.microsoft.com/office/drawing/2014/main" xmlns="" val="20000"/>
                    </a:ext>
                  </a:extLst>
                </a:gridCol>
                <a:gridCol w="2375038">
                  <a:extLst>
                    <a:ext uri="{9D8B030D-6E8A-4147-A177-3AD203B41FA5}">
                      <a16:colId xmlns:a16="http://schemas.microsoft.com/office/drawing/2014/main" xmlns="" val="20001"/>
                    </a:ext>
                  </a:extLst>
                </a:gridCol>
                <a:gridCol w="2003236">
                  <a:extLst>
                    <a:ext uri="{9D8B030D-6E8A-4147-A177-3AD203B41FA5}">
                      <a16:colId xmlns:a16="http://schemas.microsoft.com/office/drawing/2014/main" xmlns="" val="20002"/>
                    </a:ext>
                  </a:extLst>
                </a:gridCol>
              </a:tblGrid>
              <a:tr h="462861">
                <a:tc>
                  <a:txBody>
                    <a:bodyPr/>
                    <a:lstStyle/>
                    <a:p>
                      <a:pPr marL="0" indent="0" algn="ctr">
                        <a:lnSpc>
                          <a:spcPct val="100000"/>
                        </a:lnSpc>
                        <a:defRPr/>
                      </a:pPr>
                      <a:endParaRPr lang="en-US" sz="1200" dirty="0"/>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2B384B">
                        <a:alpha val="80000"/>
                      </a:srgbClr>
                    </a:solidFill>
                  </a:tcPr>
                </a:tc>
                <a:tc>
                  <a:txBody>
                    <a:bodyPr/>
                    <a:lstStyle/>
                    <a:p>
                      <a:pPr algn="ctr"/>
                      <a:r>
                        <a:rPr lang="zh-CN" altLang="en-US" sz="1800" b="1" dirty="0">
                          <a:solidFill>
                            <a:srgbClr val="FFFFFF"/>
                          </a:solidFill>
                        </a:rPr>
                        <a:t>核心含义</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2B384B">
                        <a:alpha val="80000"/>
                      </a:srgbClr>
                    </a:solidFill>
                  </a:tcPr>
                </a:tc>
                <a:tc>
                  <a:txBody>
                    <a:bodyPr/>
                    <a:lstStyle/>
                    <a:p>
                      <a:pPr algn="ctr"/>
                      <a:r>
                        <a:rPr lang="zh-CN" altLang="en-US" sz="1800" b="1" dirty="0">
                          <a:solidFill>
                            <a:srgbClr val="FFFFFF"/>
                          </a:solidFill>
                        </a:rPr>
                        <a:t>关键允许操作</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2B384B">
                        <a:alpha val="80000"/>
                      </a:srgbClr>
                    </a:solidFill>
                  </a:tcPr>
                </a:tc>
                <a:extLst>
                  <a:ext uri="{0D108BD9-81ED-4DB2-BD59-A6C34878D82A}">
                    <a16:rowId xmlns:a16="http://schemas.microsoft.com/office/drawing/2014/main" xmlns="" val="10000"/>
                  </a:ext>
                </a:extLst>
              </a:tr>
              <a:tr h="443406">
                <a:tc>
                  <a:txBody>
                    <a:bodyPr/>
                    <a:lstStyle/>
                    <a:p>
                      <a:pPr algn="ctr"/>
                      <a:r>
                        <a:rPr lang="en-US" altLang="zh-CN" sz="1200" b="1" dirty="0">
                          <a:solidFill>
                            <a:srgbClr val="A78BFA"/>
                          </a:solidFill>
                        </a:rPr>
                        <a:t>New</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0B1220"/>
                    </a:solidFill>
                  </a:tcPr>
                </a:tc>
                <a:tc>
                  <a:txBody>
                    <a:bodyPr/>
                    <a:lstStyle/>
                    <a:p>
                      <a:pPr algn="ctr"/>
                      <a:r>
                        <a:rPr lang="zh-CN" altLang="en-US" sz="1200" b="0" dirty="0">
                          <a:solidFill>
                            <a:srgbClr val="E5E7EB"/>
                          </a:solidFill>
                        </a:rPr>
                        <a:t>刚创建，资源未完全初始化</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B1220"/>
                    </a:solidFill>
                  </a:tcPr>
                </a:tc>
                <a:tc>
                  <a:txBody>
                    <a:bodyPr/>
                    <a:lstStyle/>
                    <a:p>
                      <a:pPr algn="ctr"/>
                      <a:r>
                        <a:rPr lang="zh-CN" altLang="en-US" sz="1200" b="0" dirty="0">
                          <a:solidFill>
                            <a:srgbClr val="E5E7EB"/>
                          </a:solidFill>
                        </a:rPr>
                        <a:t>初始化与资源扩展</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0B1220"/>
                    </a:solidFill>
                  </a:tcPr>
                </a:tc>
                <a:extLst>
                  <a:ext uri="{0D108BD9-81ED-4DB2-BD59-A6C34878D82A}">
                    <a16:rowId xmlns:a16="http://schemas.microsoft.com/office/drawing/2014/main" xmlns="" val="10001"/>
                  </a:ext>
                </a:extLst>
              </a:tr>
              <a:tr h="551428">
                <a:tc>
                  <a:txBody>
                    <a:bodyPr/>
                    <a:lstStyle/>
                    <a:p>
                      <a:pPr algn="ctr"/>
                      <a:r>
                        <a:rPr lang="en-US" altLang="zh-CN" sz="1200" b="1" dirty="0">
                          <a:solidFill>
                            <a:srgbClr val="22D3EE"/>
                          </a:solidFill>
                        </a:rPr>
                        <a:t>Runnable</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1F2937"/>
                    </a:solidFill>
                  </a:tcPr>
                </a:tc>
                <a:tc>
                  <a:txBody>
                    <a:bodyPr/>
                    <a:lstStyle/>
                    <a:p>
                      <a:pPr algn="ctr"/>
                      <a:r>
                        <a:rPr lang="zh-CN" altLang="en-US" sz="1200" b="0" dirty="0">
                          <a:solidFill>
                            <a:srgbClr val="E5E7EB"/>
                          </a:solidFill>
                        </a:rPr>
                        <a:t>就绪队列中，等待 </a:t>
                      </a:r>
                      <a:r>
                        <a:rPr lang="en-US" altLang="zh-CN" sz="1200" b="0" dirty="0">
                          <a:solidFill>
                            <a:srgbClr val="E5E7EB"/>
                          </a:solidFill>
                        </a:rPr>
                        <a:t>CPU </a:t>
                      </a:r>
                      <a:r>
                        <a:rPr lang="zh-CN" altLang="en-US" sz="1200" b="0" dirty="0">
                          <a:solidFill>
                            <a:srgbClr val="E5E7EB"/>
                          </a:solidFill>
                        </a:rPr>
                        <a:t>调度</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2937"/>
                    </a:solidFill>
                  </a:tcPr>
                </a:tc>
                <a:tc>
                  <a:txBody>
                    <a:bodyPr/>
                    <a:lstStyle/>
                    <a:p>
                      <a:pPr algn="ctr"/>
                      <a:r>
                        <a:rPr lang="zh-CN" altLang="en-US" sz="1200" b="0" dirty="0">
                          <a:solidFill>
                            <a:srgbClr val="E5E7EB"/>
                          </a:solidFill>
                        </a:rPr>
                        <a:t>调度器 </a:t>
                      </a:r>
                      <a:r>
                        <a:rPr lang="en-US" altLang="zh-CN" sz="1200" b="0" dirty="0" err="1">
                          <a:solidFill>
                            <a:srgbClr val="E5E7EB"/>
                          </a:solidFill>
                        </a:rPr>
                        <a:t>pick_next</a:t>
                      </a:r>
                      <a:r>
                        <a:rPr lang="en-US" altLang="zh-CN" sz="1200" b="0" dirty="0">
                          <a:solidFill>
                            <a:srgbClr val="E5E7EB"/>
                          </a:solidFill>
                        </a:rPr>
                        <a:t> </a:t>
                      </a:r>
                      <a:r>
                        <a:rPr lang="zh-CN" altLang="en-US" sz="1200" b="0" dirty="0">
                          <a:solidFill>
                            <a:srgbClr val="E5E7EB"/>
                          </a:solidFill>
                        </a:rPr>
                        <a:t>选中执行</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1F2937"/>
                    </a:solidFill>
                  </a:tcPr>
                </a:tc>
                <a:extLst>
                  <a:ext uri="{0D108BD9-81ED-4DB2-BD59-A6C34878D82A}">
                    <a16:rowId xmlns:a16="http://schemas.microsoft.com/office/drawing/2014/main" xmlns="" val="10002"/>
                  </a:ext>
                </a:extLst>
              </a:tr>
              <a:tr h="443406">
                <a:tc>
                  <a:txBody>
                    <a:bodyPr/>
                    <a:lstStyle/>
                    <a:p>
                      <a:pPr algn="ctr"/>
                      <a:r>
                        <a:rPr lang="en-US" altLang="zh-CN" sz="1200" b="1" dirty="0">
                          <a:solidFill>
                            <a:srgbClr val="34D399"/>
                          </a:solidFill>
                        </a:rPr>
                        <a:t>Running</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0B1220"/>
                    </a:solidFill>
                  </a:tcPr>
                </a:tc>
                <a:tc>
                  <a:txBody>
                    <a:bodyPr/>
                    <a:lstStyle/>
                    <a:p>
                      <a:pPr algn="ctr"/>
                      <a:r>
                        <a:rPr lang="zh-CN" altLang="en-US" sz="1200" b="0" dirty="0">
                          <a:solidFill>
                            <a:srgbClr val="E5E7EB"/>
                          </a:solidFill>
                        </a:rPr>
                        <a:t>正在 </a:t>
                      </a:r>
                      <a:r>
                        <a:rPr lang="en-US" altLang="zh-CN" sz="1200" b="0" dirty="0">
                          <a:solidFill>
                            <a:srgbClr val="E5E7EB"/>
                          </a:solidFill>
                        </a:rPr>
                        <a:t>CPU </a:t>
                      </a:r>
                      <a:r>
                        <a:rPr lang="zh-CN" altLang="en-US" sz="1200" b="0" dirty="0">
                          <a:solidFill>
                            <a:srgbClr val="E5E7EB"/>
                          </a:solidFill>
                        </a:rPr>
                        <a:t>上执行用户</a:t>
                      </a:r>
                      <a:r>
                        <a:rPr lang="en-US" altLang="zh-CN" sz="1200" b="0" dirty="0">
                          <a:solidFill>
                            <a:srgbClr val="E5E7EB"/>
                          </a:solidFill>
                        </a:rPr>
                        <a:t>/</a:t>
                      </a:r>
                      <a:r>
                        <a:rPr lang="zh-CN" altLang="en-US" sz="1200" b="0" dirty="0">
                          <a:solidFill>
                            <a:srgbClr val="E5E7EB"/>
                          </a:solidFill>
                        </a:rPr>
                        <a:t>内核代码</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B1220"/>
                    </a:solidFill>
                  </a:tcPr>
                </a:tc>
                <a:tc>
                  <a:txBody>
                    <a:bodyPr/>
                    <a:lstStyle/>
                    <a:p>
                      <a:pPr algn="ctr"/>
                      <a:r>
                        <a:rPr lang="zh-CN" altLang="en-US" sz="1200" b="0" dirty="0">
                          <a:solidFill>
                            <a:srgbClr val="E5E7EB"/>
                          </a:solidFill>
                        </a:rPr>
                        <a:t>时间片推进 </a:t>
                      </a:r>
                      <a:r>
                        <a:rPr lang="en-US" altLang="zh-CN" sz="1200" b="0" dirty="0">
                          <a:solidFill>
                            <a:srgbClr val="E5E7EB"/>
                          </a:solidFill>
                        </a:rPr>
                        <a:t>/ </a:t>
                      </a:r>
                      <a:r>
                        <a:rPr lang="zh-CN" altLang="en-US" sz="1200" b="0" dirty="0">
                          <a:solidFill>
                            <a:srgbClr val="E5E7EB"/>
                          </a:solidFill>
                        </a:rPr>
                        <a:t>主动 </a:t>
                      </a:r>
                      <a:r>
                        <a:rPr lang="en-US" altLang="zh-CN" sz="1200" b="0" dirty="0">
                          <a:solidFill>
                            <a:srgbClr val="E5E7EB"/>
                          </a:solidFill>
                        </a:rPr>
                        <a:t>yield</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0B1220"/>
                    </a:solidFill>
                  </a:tcPr>
                </a:tc>
                <a:extLst>
                  <a:ext uri="{0D108BD9-81ED-4DB2-BD59-A6C34878D82A}">
                    <a16:rowId xmlns:a16="http://schemas.microsoft.com/office/drawing/2014/main" xmlns="" val="10003"/>
                  </a:ext>
                </a:extLst>
              </a:tr>
              <a:tr h="443406">
                <a:tc>
                  <a:txBody>
                    <a:bodyPr/>
                    <a:lstStyle/>
                    <a:p>
                      <a:pPr algn="ctr"/>
                      <a:r>
                        <a:rPr lang="en-US" altLang="zh-CN" sz="1200" b="1" dirty="0">
                          <a:solidFill>
                            <a:srgbClr val="FBBF24"/>
                          </a:solidFill>
                        </a:rPr>
                        <a:t>Sleeping</a:t>
                      </a:r>
                      <a:endParaRPr lang="en-US" altLang="zh-CN" sz="1200" b="1" dirty="0">
                        <a:solidFill>
                          <a:srgbClr val="34D399"/>
                        </a:solidFill>
                      </a:endParaRP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1F293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可中断睡眠，等待事件就绪</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293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等待队列唤醒 </a:t>
                      </a:r>
                      <a:r>
                        <a:rPr lang="en-US" altLang="zh-CN" sz="1200" b="0" dirty="0">
                          <a:solidFill>
                            <a:srgbClr val="E5E7EB"/>
                          </a:solidFill>
                        </a:rPr>
                        <a:t>/ </a:t>
                      </a:r>
                      <a:r>
                        <a:rPr lang="zh-CN" altLang="en-US" sz="1200" b="0" dirty="0">
                          <a:solidFill>
                            <a:srgbClr val="E5E7EB"/>
                          </a:solidFill>
                        </a:rPr>
                        <a:t>信号打断</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1F2937"/>
                    </a:solidFill>
                  </a:tcPr>
                </a:tc>
                <a:extLst>
                  <a:ext uri="{0D108BD9-81ED-4DB2-BD59-A6C34878D82A}">
                    <a16:rowId xmlns:a16="http://schemas.microsoft.com/office/drawing/2014/main" xmlns="" val="1934730593"/>
                  </a:ext>
                </a:extLst>
              </a:tr>
              <a:tr h="443406">
                <a:tc>
                  <a:txBody>
                    <a:bodyPr/>
                    <a:lstStyle/>
                    <a:p>
                      <a:pPr algn="ctr"/>
                      <a:r>
                        <a:rPr lang="en-US" altLang="zh-CN" sz="1200" b="1" dirty="0">
                          <a:solidFill>
                            <a:srgbClr val="F87171"/>
                          </a:solidFill>
                        </a:rPr>
                        <a:t>Uninterruptible</a:t>
                      </a:r>
                      <a:endParaRPr lang="en-US" altLang="zh-CN" sz="1200" b="1" dirty="0">
                        <a:solidFill>
                          <a:srgbClr val="34D399"/>
                        </a:solidFill>
                      </a:endParaRP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不可中断睡眠（</a:t>
                      </a:r>
                      <a:r>
                        <a:rPr lang="en-US" altLang="zh-CN" sz="1200" b="0" dirty="0">
                          <a:solidFill>
                            <a:srgbClr val="E5E7EB"/>
                          </a:solidFill>
                        </a:rPr>
                        <a:t>D</a:t>
                      </a:r>
                      <a:r>
                        <a:rPr lang="zh-CN" altLang="en-US" sz="1200" b="0" dirty="0">
                          <a:solidFill>
                            <a:srgbClr val="E5E7EB"/>
                          </a:solidFill>
                        </a:rPr>
                        <a:t> 状态）</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仅资源就绪可唤醒</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0B1220"/>
                    </a:solidFill>
                  </a:tcPr>
                </a:tc>
                <a:extLst>
                  <a:ext uri="{0D108BD9-81ED-4DB2-BD59-A6C34878D82A}">
                    <a16:rowId xmlns:a16="http://schemas.microsoft.com/office/drawing/2014/main" xmlns="" val="1438435467"/>
                  </a:ext>
                </a:extLst>
              </a:tr>
              <a:tr h="509612">
                <a:tc>
                  <a:txBody>
                    <a:bodyPr/>
                    <a:lstStyle/>
                    <a:p>
                      <a:pPr algn="ctr"/>
                      <a:r>
                        <a:rPr lang="en-US" altLang="zh-CN" sz="1200" b="1" dirty="0">
                          <a:solidFill>
                            <a:srgbClr val="A78BFA"/>
                          </a:solidFill>
                        </a:rPr>
                        <a:t>Stopped</a:t>
                      </a:r>
                      <a:endParaRPr lang="en-US" altLang="zh-CN" sz="1200" b="1" dirty="0">
                        <a:solidFill>
                          <a:srgbClr val="34D399"/>
                        </a:solidFill>
                      </a:endParaRP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1F2937"/>
                    </a:solidFill>
                  </a:tcPr>
                </a:tc>
                <a:tc>
                  <a:txBody>
                    <a:bodyPr/>
                    <a:lstStyle/>
                    <a:p>
                      <a:pPr algn="ctr"/>
                      <a:r>
                        <a:rPr lang="zh-CN" altLang="en-US" sz="1200" b="0" dirty="0">
                          <a:solidFill>
                            <a:srgbClr val="E5E7EB"/>
                          </a:solidFill>
                        </a:rPr>
                        <a:t>收到 </a:t>
                      </a:r>
                      <a:r>
                        <a:rPr lang="en-US" altLang="zh-CN" sz="1200" b="0" dirty="0">
                          <a:solidFill>
                            <a:srgbClr val="E5E7EB"/>
                          </a:solidFill>
                        </a:rPr>
                        <a:t>SIGSTOP </a:t>
                      </a:r>
                      <a:r>
                        <a:rPr lang="zh-CN" altLang="en-US" sz="1200" b="0" dirty="0">
                          <a:solidFill>
                            <a:srgbClr val="E5E7EB"/>
                          </a:solidFill>
                        </a:rPr>
                        <a:t>等停止信号</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293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仅 </a:t>
                      </a:r>
                      <a:r>
                        <a:rPr lang="en-US" altLang="zh-CN" sz="1200" b="0" dirty="0">
                          <a:solidFill>
                            <a:srgbClr val="E5E7EB"/>
                          </a:solidFill>
                        </a:rPr>
                        <a:t>SIGCONT </a:t>
                      </a:r>
                      <a:r>
                        <a:rPr lang="zh-CN" altLang="en-US" sz="1200" b="0" dirty="0">
                          <a:solidFill>
                            <a:srgbClr val="E5E7EB"/>
                          </a:solidFill>
                        </a:rPr>
                        <a:t>可恢复</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1F2937"/>
                    </a:solidFill>
                  </a:tcPr>
                </a:tc>
                <a:extLst>
                  <a:ext uri="{0D108BD9-81ED-4DB2-BD59-A6C34878D82A}">
                    <a16:rowId xmlns:a16="http://schemas.microsoft.com/office/drawing/2014/main" xmlns="" val="1275033964"/>
                  </a:ext>
                </a:extLst>
              </a:tr>
              <a:tr h="49574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rgbClr val="22D3EE"/>
                          </a:solidFill>
                        </a:rPr>
                        <a:t>Continued</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收到 </a:t>
                      </a:r>
                      <a:r>
                        <a:rPr lang="en-US" altLang="zh-CN" sz="1200" b="0" dirty="0">
                          <a:solidFill>
                            <a:srgbClr val="E5E7EB"/>
                          </a:solidFill>
                        </a:rPr>
                        <a:t>SIGCONT</a:t>
                      </a:r>
                      <a:r>
                        <a:rPr lang="zh-CN" altLang="en-US" sz="1200" b="0" dirty="0">
                          <a:solidFill>
                            <a:srgbClr val="E5E7EB"/>
                          </a:solidFill>
                        </a:rPr>
                        <a:t>，尚未真正恢复</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转入 </a:t>
                      </a:r>
                      <a:r>
                        <a:rPr lang="en-US" altLang="zh-CN" sz="1200" b="0" dirty="0">
                          <a:solidFill>
                            <a:srgbClr val="E5E7EB"/>
                          </a:solidFill>
                        </a:rPr>
                        <a:t>Runnable </a:t>
                      </a:r>
                      <a:r>
                        <a:rPr lang="zh-CN" altLang="en-US" sz="1200" b="0" dirty="0">
                          <a:solidFill>
                            <a:srgbClr val="E5E7EB"/>
                          </a:solidFill>
                        </a:rPr>
                        <a:t>等待调度</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0B1220"/>
                    </a:solidFill>
                  </a:tcPr>
                </a:tc>
                <a:extLst>
                  <a:ext uri="{0D108BD9-81ED-4DB2-BD59-A6C34878D82A}">
                    <a16:rowId xmlns:a16="http://schemas.microsoft.com/office/drawing/2014/main" xmlns="" val="1423482160"/>
                  </a:ext>
                </a:extLst>
              </a:tr>
              <a:tr h="4434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rgbClr val="FBBF24"/>
                          </a:solidFill>
                        </a:rPr>
                        <a:t>Zombie</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1F293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已 </a:t>
                      </a:r>
                      <a:r>
                        <a:rPr lang="en-US" altLang="zh-CN" sz="1200" b="0" dirty="0">
                          <a:solidFill>
                            <a:srgbClr val="E5E7EB"/>
                          </a:solidFill>
                        </a:rPr>
                        <a:t>exit</a:t>
                      </a:r>
                      <a:r>
                        <a:rPr lang="zh-CN" altLang="en-US" sz="1200" b="0" dirty="0">
                          <a:solidFill>
                            <a:srgbClr val="E5E7EB"/>
                          </a:solidFill>
                        </a:rPr>
                        <a:t>，等待父任务 </a:t>
                      </a:r>
                      <a:r>
                        <a:rPr lang="en-US" altLang="zh-CN" sz="1200" b="0" dirty="0">
                          <a:solidFill>
                            <a:srgbClr val="E5E7EB"/>
                          </a:solidFill>
                        </a:rPr>
                        <a:t>wait </a:t>
                      </a:r>
                      <a:r>
                        <a:rPr lang="zh-CN" altLang="en-US" sz="1200" b="0" dirty="0">
                          <a:solidFill>
                            <a:srgbClr val="E5E7EB"/>
                          </a:solidFill>
                        </a:rPr>
                        <a:t>回收</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293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仅父任务 </a:t>
                      </a:r>
                      <a:r>
                        <a:rPr lang="en-US" altLang="zh-CN" sz="1200" b="0" dirty="0">
                          <a:solidFill>
                            <a:srgbClr val="E5E7EB"/>
                          </a:solidFill>
                        </a:rPr>
                        <a:t>wait </a:t>
                      </a:r>
                      <a:r>
                        <a:rPr lang="zh-CN" altLang="en-US" sz="1200" b="0" dirty="0">
                          <a:solidFill>
                            <a:srgbClr val="E5E7EB"/>
                          </a:solidFill>
                        </a:rPr>
                        <a:t>可见</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1F2937"/>
                    </a:solidFill>
                  </a:tcPr>
                </a:tc>
                <a:extLst>
                  <a:ext uri="{0D108BD9-81ED-4DB2-BD59-A6C34878D82A}">
                    <a16:rowId xmlns:a16="http://schemas.microsoft.com/office/drawing/2014/main" xmlns="" val="1289125008"/>
                  </a:ext>
                </a:extLst>
              </a:tr>
              <a:tr h="4434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rgbClr val="9CA3AF"/>
                          </a:solidFill>
                        </a:rPr>
                        <a:t>Dead</a:t>
                      </a:r>
                    </a:p>
                  </a:txBody>
                  <a:tcPr marL="101600" marR="101600" marT="101600" marB="101600" anchor="ctr">
                    <a:lnL>
                      <a:noFill/>
                    </a:lnL>
                    <a:lnR w="12700" cap="flat" cmpd="sng" algn="ctr">
                      <a:solidFill>
                        <a:schemeClr val="bg2">
                          <a:lumMod val="75000"/>
                        </a:schemeClr>
                      </a:solidFill>
                      <a:prstDash val="solid"/>
                      <a:round/>
                      <a:headEnd type="none" w="med" len="med"/>
                      <a:tailEnd type="none" w="med" len="med"/>
                    </a:lnR>
                    <a:lnT>
                      <a:noFill/>
                    </a:lnT>
                    <a:lnB>
                      <a:noFill/>
                    </a:lnB>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资源已回收，仅余 </a:t>
                      </a:r>
                      <a:r>
                        <a:rPr lang="en-US" altLang="zh-CN" sz="1200" b="0" dirty="0">
                          <a:solidFill>
                            <a:srgbClr val="E5E7EB"/>
                          </a:solidFill>
                        </a:rPr>
                        <a:t>Arc </a:t>
                      </a:r>
                      <a:r>
                        <a:rPr lang="zh-CN" altLang="en-US" sz="1200" b="0" dirty="0">
                          <a:solidFill>
                            <a:srgbClr val="E5E7EB"/>
                          </a:solidFill>
                        </a:rPr>
                        <a:t>引用计数</a:t>
                      </a:r>
                    </a:p>
                  </a:txBody>
                  <a:tcPr marL="101600" marR="101600" marT="101600" marB="10160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B122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200" b="0" dirty="0">
                          <a:solidFill>
                            <a:srgbClr val="E5E7EB"/>
                          </a:solidFill>
                        </a:rPr>
                        <a:t>等待 </a:t>
                      </a:r>
                      <a:r>
                        <a:rPr lang="en-US" altLang="zh-CN" sz="1200" b="0" dirty="0">
                          <a:solidFill>
                            <a:srgbClr val="E5E7EB"/>
                          </a:solidFill>
                        </a:rPr>
                        <a:t>Arc </a:t>
                      </a:r>
                      <a:r>
                        <a:rPr lang="zh-CN" altLang="en-US" sz="1200" b="0" dirty="0">
                          <a:solidFill>
                            <a:srgbClr val="E5E7EB"/>
                          </a:solidFill>
                        </a:rPr>
                        <a:t>归零后销毁</a:t>
                      </a:r>
                    </a:p>
                  </a:txBody>
                  <a:tcPr marL="101600" marR="101600" marT="101600" marB="101600" anchor="ctr">
                    <a:lnL w="12700" cap="flat" cmpd="sng" algn="ctr">
                      <a:solidFill>
                        <a:schemeClr val="bg2">
                          <a:lumMod val="75000"/>
                        </a:schemeClr>
                      </a:solidFill>
                      <a:prstDash val="solid"/>
                      <a:round/>
                      <a:headEnd type="none" w="med" len="med"/>
                      <a:tailEnd type="none" w="med" len="med"/>
                    </a:lnL>
                    <a:lnR>
                      <a:noFill/>
                    </a:lnR>
                    <a:lnT>
                      <a:noFill/>
                    </a:lnT>
                    <a:lnB>
                      <a:noFill/>
                    </a:lnB>
                    <a:solidFill>
                      <a:srgbClr val="0B1220"/>
                    </a:solidFill>
                  </a:tcPr>
                </a:tc>
                <a:extLst>
                  <a:ext uri="{0D108BD9-81ED-4DB2-BD59-A6C34878D82A}">
                    <a16:rowId xmlns:a16="http://schemas.microsoft.com/office/drawing/2014/main" xmlns="" val="32877124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42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并发与同步机制</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128577" y="1059180"/>
            <a:ext cx="168084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FFFFFF"/>
                </a:solidFill>
                <a:latin typeface="Noto Sans SC"/>
                <a:ea typeface="Noto Sans SC"/>
                <a:cs typeface="Noto Sans SC"/>
                <a:sym typeface="Noto Sans SC"/>
              </a:rPr>
              <a:t>同步原语边界</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2221609826"/>
              </p:ext>
            </p:extLst>
          </p:nvPr>
        </p:nvGraphicFramePr>
        <p:xfrm>
          <a:off x="508000" y="1504950"/>
          <a:ext cx="11176000" cy="2321560"/>
        </p:xfrm>
        <a:graphic>
          <a:graphicData uri="http://schemas.openxmlformats.org/drawingml/2006/table">
            <a:tbl>
              <a:tblPr>
                <a:effectLst/>
              </a:tblPr>
              <a:tblGrid>
                <a:gridCol w="2032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gridCol w="3048000">
                  <a:extLst>
                    <a:ext uri="{9D8B030D-6E8A-4147-A177-3AD203B41FA5}">
                      <a16:colId xmlns:a16="http://schemas.microsoft.com/office/drawing/2014/main" xmlns="" val="20002"/>
                    </a:ext>
                  </a:extLst>
                </a:gridCol>
                <a:gridCol w="3048000">
                  <a:extLst>
                    <a:ext uri="{9D8B030D-6E8A-4147-A177-3AD203B41FA5}">
                      <a16:colId xmlns:a16="http://schemas.microsoft.com/office/drawing/2014/main" xmlns="" val="20003"/>
                    </a:ext>
                  </a:extLst>
                </a:gridCol>
              </a:tblGrid>
              <a:tr h="333062">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同步原语</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500" b="1" i="0" u="none" strike="noStrike" dirty="0" err="1">
                          <a:solidFill>
                            <a:srgbClr val="FFFFFF"/>
                          </a:solidFill>
                          <a:latin typeface="Noto Sans SC"/>
                          <a:ea typeface="Noto Sans SC"/>
                          <a:cs typeface="Noto Sans SC"/>
                          <a:sym typeface="Noto Sans SC"/>
                        </a:rPr>
                        <a:t>核心适用场景</a:t>
                      </a:r>
                      <a:endParaRPr lang="en-US" sz="1100" dirty="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上下文与调用限制</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保护粒度与特性</a:t>
                      </a:r>
                      <a:endParaRPr lang="en-US" sz="1100"/>
                    </a:p>
                  </a:txBody>
                  <a:tcPr marL="101600" marR="101600" marT="101600" marB="101600" anchor="ctr">
                    <a:lnL>
                      <a:noFill/>
                    </a:lnL>
                    <a:lnR>
                      <a:noFill/>
                    </a:lnR>
                    <a:lnT>
                      <a:noFill/>
                    </a:lnT>
                    <a:lnB>
                      <a:noFill/>
                    </a:lnB>
                    <a:solidFill>
                      <a:srgbClr val="2A2A4A">
                        <a:alpha val="100000"/>
                      </a:srgbClr>
                    </a:solidFill>
                  </a:tcPr>
                </a:tc>
                <a:extLst>
                  <a:ext uri="{0D108BD9-81ED-4DB2-BD59-A6C34878D82A}">
                    <a16:rowId xmlns:a16="http://schemas.microsoft.com/office/drawing/2014/main" xmlns="" val="10000"/>
                  </a:ext>
                </a:extLst>
              </a:tr>
              <a:tr h="485879">
                <a:tc>
                  <a:txBody>
                    <a:bodyPr/>
                    <a:lstStyle/>
                    <a:p>
                      <a:pPr marL="0" indent="0" algn="ctr">
                        <a:lnSpc>
                          <a:spcPct val="100000"/>
                        </a:lnSpc>
                        <a:defRPr/>
                      </a:pPr>
                      <a:r>
                        <a:rPr lang="en-US" sz="1400" b="0" i="0" u="none" strike="noStrike">
                          <a:solidFill>
                            <a:srgbClr val="E5E7EB"/>
                          </a:solidFill>
                          <a:latin typeface="Noto Sans SC"/>
                          <a:ea typeface="Noto Sans SC"/>
                          <a:cs typeface="Noto Sans SC"/>
                          <a:sym typeface="Noto Sans SC"/>
                        </a:rPr>
                        <a:t>Spinlock (自旋锁)</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临界区极短，预计持有时间远小于调度延迟</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禁止睡眠/阻塞，不可重入；中断上下文可用</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细粒度，通常保护单一共享数据结构</a:t>
                      </a:r>
                      <a:endParaRPr lang="en-US" sz="110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1"/>
                  </a:ext>
                </a:extLst>
              </a:tr>
              <a:tr h="485879">
                <a:tc>
                  <a:txBody>
                    <a:bodyPr/>
                    <a:lstStyle/>
                    <a:p>
                      <a:pPr marL="0" indent="0" algn="ctr">
                        <a:lnSpc>
                          <a:spcPct val="100000"/>
                        </a:lnSpc>
                        <a:defRPr/>
                      </a:pPr>
                      <a:r>
                        <a:rPr lang="en-US" sz="1400" b="0" i="0" u="none" strike="noStrike" dirty="0">
                          <a:solidFill>
                            <a:srgbClr val="E5E7EB"/>
                          </a:solidFill>
                          <a:latin typeface="Noto Sans SC"/>
                          <a:ea typeface="Noto Sans SC"/>
                          <a:cs typeface="Noto Sans SC"/>
                          <a:sym typeface="Noto Sans SC"/>
                        </a:rPr>
                        <a:t>Mutex (</a:t>
                      </a:r>
                      <a:r>
                        <a:rPr lang="en-US" sz="1400" b="0" i="0" u="none" strike="noStrike" dirty="0" err="1">
                          <a:solidFill>
                            <a:srgbClr val="E5E7EB"/>
                          </a:solidFill>
                          <a:latin typeface="Noto Sans SC"/>
                          <a:ea typeface="Noto Sans SC"/>
                          <a:cs typeface="Noto Sans SC"/>
                          <a:sym typeface="Noto Sans SC"/>
                        </a:rPr>
                        <a:t>互斥锁</a:t>
                      </a:r>
                      <a:r>
                        <a:rPr lang="en-US" sz="1400" b="0" i="0" u="none" strike="noStrike" dirty="0">
                          <a:solidFill>
                            <a:srgbClr val="E5E7EB"/>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252545">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临界区较长，可能引发阻塞或IO等待</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仅允许在进程上下文使用，可配置是否可中断</a:t>
                      </a:r>
                      <a:endParaRPr lang="en-US" sz="1100"/>
                    </a:p>
                  </a:txBody>
                  <a:tcPr marL="101600" marR="101600" marT="101600" marB="101600" anchor="ctr">
                    <a:lnL>
                      <a:noFill/>
                    </a:lnL>
                    <a:lnR>
                      <a:noFill/>
                    </a:lnR>
                    <a:lnT>
                      <a:noFill/>
                    </a:lnT>
                    <a:lnB>
                      <a:noFill/>
                    </a:lnB>
                    <a:solidFill>
                      <a:srgbClr val="252545">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对象级保护，支持优先级继承/天花板协议</a:t>
                      </a:r>
                      <a:endParaRPr lang="en-US" sz="1100"/>
                    </a:p>
                  </a:txBody>
                  <a:tcPr marL="101600" marR="101600" marT="101600" marB="101600" anchor="ctr">
                    <a:lnL>
                      <a:noFill/>
                    </a:lnL>
                    <a:lnR>
                      <a:noFill/>
                    </a:lnR>
                    <a:lnT>
                      <a:noFill/>
                    </a:lnT>
                    <a:lnB>
                      <a:noFill/>
                    </a:lnB>
                    <a:solidFill>
                      <a:srgbClr val="252545">
                        <a:alpha val="100000"/>
                      </a:srgbClr>
                    </a:solidFill>
                  </a:tcPr>
                </a:tc>
                <a:extLst>
                  <a:ext uri="{0D108BD9-81ED-4DB2-BD59-A6C34878D82A}">
                    <a16:rowId xmlns:a16="http://schemas.microsoft.com/office/drawing/2014/main" xmlns="" val="10002"/>
                  </a:ext>
                </a:extLst>
              </a:tr>
              <a:tr h="485879">
                <a:tc>
                  <a:txBody>
                    <a:bodyPr/>
                    <a:lstStyle/>
                    <a:p>
                      <a:pPr marL="0" indent="0" algn="ctr">
                        <a:lnSpc>
                          <a:spcPct val="100000"/>
                        </a:lnSpc>
                        <a:defRPr/>
                      </a:pPr>
                      <a:r>
                        <a:rPr lang="en-US" sz="1400" b="0" i="0" u="none" strike="noStrike">
                          <a:solidFill>
                            <a:srgbClr val="E5E7EB"/>
                          </a:solidFill>
                          <a:latin typeface="Noto Sans SC"/>
                          <a:ea typeface="Noto Sans SC"/>
                          <a:cs typeface="Noto Sans SC"/>
                          <a:sym typeface="Noto Sans SC"/>
                        </a:rPr>
                        <a:t>WaitQueue (等待队列)</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事件驱动等待（如等待数据就绪、资源释放）</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a:solidFill>
                            <a:srgbClr val="D1D5DB"/>
                          </a:solidFill>
                          <a:latin typeface="Noto Sans SC"/>
                          <a:ea typeface="Noto Sans SC"/>
                          <a:cs typeface="Noto Sans SC"/>
                          <a:sym typeface="Noto Sans SC"/>
                        </a:rPr>
                        <a:t>必须配合自旋锁使用，允许睡眠上下文</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127000" indent="0" algn="l">
                        <a:lnSpc>
                          <a:spcPct val="100000"/>
                        </a:lnSpc>
                        <a:defRPr/>
                      </a:pPr>
                      <a:r>
                        <a:rPr lang="en-US" sz="1400" b="0" i="0" u="none" strike="noStrike" dirty="0" err="1">
                          <a:solidFill>
                            <a:srgbClr val="D1D5DB"/>
                          </a:solidFill>
                          <a:latin typeface="Noto Sans SC"/>
                          <a:ea typeface="Noto Sans SC"/>
                          <a:cs typeface="Noto Sans SC"/>
                          <a:sym typeface="Noto Sans SC"/>
                        </a:rPr>
                        <a:t>不直接保护业务条件，仅用于线程间同步通知</a:t>
                      </a:r>
                      <a:endParaRPr lang="en-US" sz="1100" dirty="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3"/>
                  </a:ext>
                </a:extLst>
              </a:tr>
            </a:tbl>
          </a:graphicData>
        </a:graphic>
      </p:graphicFrame>
      <p:sp>
        <p:nvSpPr>
          <p:cNvPr id="6" name="AutoShape 6"/>
          <p:cNvSpPr/>
          <p:nvPr/>
        </p:nvSpPr>
        <p:spPr>
          <a:xfrm>
            <a:off x="508000" y="4011295"/>
            <a:ext cx="3632200" cy="698500"/>
          </a:xfrm>
          <a:prstGeom prst="roundRect">
            <a:avLst>
              <a:gd name="adj" fmla="val 0"/>
            </a:avLst>
          </a:prstGeom>
          <a:solidFill>
            <a:srgbClr val="2A2A4A">
              <a:alpha val="50000"/>
            </a:srgbClr>
          </a:solidFill>
          <a:ln w="12700" cap="flat" cmpd="sng">
            <a:solidFill>
              <a:srgbClr val="06B6D4">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4074795"/>
            <a:ext cx="3378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6B6D4"/>
                </a:solidFill>
                <a:latin typeface="Noto Sans SC"/>
                <a:ea typeface="Noto Sans SC"/>
                <a:cs typeface="Noto Sans SC"/>
                <a:sym typeface="Noto Sans SC"/>
              </a:rPr>
              <a:t>自旋锁实现：</a:t>
            </a:r>
            <a:r>
              <a:rPr lang="en-US" sz="1300" b="0" i="0" u="none" strike="noStrike">
                <a:solidFill>
                  <a:srgbClr val="D1D5DB"/>
                </a:solidFill>
                <a:latin typeface="Noto Sans SC"/>
                <a:ea typeface="Noto Sans SC"/>
                <a:cs typeface="Noto Sans SC"/>
                <a:sym typeface="Noto Sans SC"/>
              </a:rPr>
              <a:t>基于 AtomicBool + TTAS (Test-And-Test-And-Set) 策略减少总线风暴，严格遵循 Acquire/Release 内存语义。</a:t>
            </a:r>
            <a:endParaRPr lang="en-US" sz="1100"/>
          </a:p>
        </p:txBody>
      </p:sp>
      <p:sp>
        <p:nvSpPr>
          <p:cNvPr id="8" name="AutoShape 8"/>
          <p:cNvSpPr/>
          <p:nvPr/>
        </p:nvSpPr>
        <p:spPr>
          <a:xfrm>
            <a:off x="4318000" y="4011295"/>
            <a:ext cx="3632200" cy="698500"/>
          </a:xfrm>
          <a:prstGeom prst="roundRect">
            <a:avLst>
              <a:gd name="adj" fmla="val 0"/>
            </a:avLst>
          </a:prstGeom>
          <a:solidFill>
            <a:srgbClr val="2A2A4A">
              <a:alpha val="50000"/>
            </a:srgbClr>
          </a:solidFill>
          <a:ln w="12700" cap="flat" cmpd="sng">
            <a:solidFill>
              <a:srgbClr val="06B6D4">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445000" y="4074795"/>
            <a:ext cx="3378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6B6D4"/>
                </a:solidFill>
                <a:latin typeface="Noto Sans SC"/>
                <a:ea typeface="Noto Sans SC"/>
                <a:cs typeface="Noto Sans SC"/>
                <a:sym typeface="Noto Sans SC"/>
              </a:rPr>
              <a:t>可睡眠互斥锁：</a:t>
            </a:r>
            <a:r>
              <a:rPr lang="en-US" sz="1300" b="0" i="0" u="none" strike="noStrike">
                <a:solidFill>
                  <a:srgbClr val="D1D5DB"/>
                </a:solidFill>
                <a:latin typeface="Noto Sans SC"/>
                <a:ea typeface="Noto Sans SC"/>
                <a:cs typeface="Noto Sans SC"/>
                <a:sym typeface="Noto Sans SC"/>
              </a:rPr>
              <a:t>快速路径使用 CAS 原子操作；竞争时进入慢路径，将任务挂入等待队列，唤醒后执行二次检查防止虚假唤醒。</a:t>
            </a:r>
            <a:endParaRPr lang="en-US" sz="1100"/>
          </a:p>
        </p:txBody>
      </p:sp>
      <p:sp>
        <p:nvSpPr>
          <p:cNvPr id="10" name="AutoShape 10"/>
          <p:cNvSpPr/>
          <p:nvPr/>
        </p:nvSpPr>
        <p:spPr>
          <a:xfrm>
            <a:off x="8051800" y="4011295"/>
            <a:ext cx="3632200" cy="698500"/>
          </a:xfrm>
          <a:prstGeom prst="roundRect">
            <a:avLst>
              <a:gd name="adj" fmla="val 0"/>
            </a:avLst>
          </a:prstGeom>
          <a:solidFill>
            <a:srgbClr val="2A2A4A">
              <a:alpha val="50000"/>
            </a:srgbClr>
          </a:solidFill>
          <a:ln w="12700" cap="flat" cmpd="sng">
            <a:solidFill>
              <a:srgbClr val="06B6D4">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78800" y="4074795"/>
            <a:ext cx="3378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6B6D4"/>
                </a:solidFill>
                <a:latin typeface="Noto Sans SC"/>
                <a:ea typeface="Noto Sans SC"/>
                <a:cs typeface="Noto Sans SC"/>
                <a:sym typeface="Noto Sans SC"/>
              </a:rPr>
              <a:t>等待队列优化：</a:t>
            </a:r>
            <a:r>
              <a:rPr lang="en-US" sz="1300" b="0" i="0" u="none" strike="noStrike">
                <a:solidFill>
                  <a:srgbClr val="D1D5DB"/>
                </a:solidFill>
                <a:latin typeface="Noto Sans SC"/>
                <a:ea typeface="Noto Sans SC"/>
                <a:cs typeface="Noto Sans SC"/>
                <a:sym typeface="Noto Sans SC"/>
              </a:rPr>
              <a:t>采用弱引用保存等待节点，使用双重检查协议确保安全，严格执行“锁外唤醒”原则以避免死锁。</a:t>
            </a:r>
            <a:endParaRPr lang="en-US" sz="1100"/>
          </a:p>
        </p:txBody>
      </p:sp>
      <p:cxnSp>
        <p:nvCxnSpPr>
          <p:cNvPr id="12" name="Connector 12"/>
          <p:cNvCxnSpPr/>
          <p:nvPr/>
        </p:nvCxnSpPr>
        <p:spPr>
          <a:xfrm rot="-3906">
            <a:off x="508004" y="4883150"/>
            <a:ext cx="1117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3" name="AutoShape 13"/>
          <p:cNvSpPr/>
          <p:nvPr/>
        </p:nvSpPr>
        <p:spPr>
          <a:xfrm>
            <a:off x="508000" y="5080000"/>
            <a:ext cx="5461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上下文分类与同步限制</a:t>
            </a:r>
            <a:endParaRPr lang="en-US" sz="1100"/>
          </a:p>
        </p:txBody>
      </p:sp>
      <p:cxnSp>
        <p:nvCxnSpPr>
          <p:cNvPr id="14" name="Connector 14"/>
          <p:cNvCxnSpPr/>
          <p:nvPr/>
        </p:nvCxnSpPr>
        <p:spPr>
          <a:xfrm rot="-7994">
            <a:off x="508007" y="5454650"/>
            <a:ext cx="5461000" cy="12700"/>
          </a:xfrm>
          <a:prstGeom prst="straightConnector1">
            <a:avLst/>
          </a:prstGeom>
          <a:solidFill>
            <a:srgbClr val="DEE0E3">
              <a:alpha val="100000"/>
            </a:srgbClr>
          </a:solidFill>
          <a:ln w="25400" cap="flat" cmpd="sng">
            <a:solidFill>
              <a:srgbClr val="06B6D4">
                <a:alpha val="100000"/>
              </a:srgbClr>
            </a:solidFill>
            <a:prstDash val="solid"/>
            <a:round/>
            <a:headEnd type="none" w="lg" len="lg"/>
            <a:tailEnd type="none" w="lg" len="lg"/>
          </a:ln>
        </p:spPr>
      </p:cxnSp>
      <p:sp>
        <p:nvSpPr>
          <p:cNvPr id="15" name="AutoShape 15"/>
          <p:cNvSpPr/>
          <p:nvPr/>
        </p:nvSpPr>
        <p:spPr>
          <a:xfrm>
            <a:off x="508000" y="5588000"/>
            <a:ext cx="546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06B6D4"/>
                </a:solidFill>
                <a:latin typeface="Noto Sans SC"/>
                <a:ea typeface="Noto Sans SC"/>
                <a:cs typeface="Noto Sans SC"/>
                <a:sym typeface="Noto Sans SC"/>
              </a:rPr>
              <a:t>用户态</a:t>
            </a:r>
            <a:r>
              <a:rPr lang="en-US" sz="1400" b="0" i="0" u="none" strike="noStrike" dirty="0">
                <a:solidFill>
                  <a:srgbClr val="06B6D4"/>
                </a:solidFill>
                <a:latin typeface="Noto Sans SC"/>
                <a:ea typeface="Noto Sans SC"/>
                <a:cs typeface="Noto Sans SC"/>
                <a:sym typeface="Noto Sans SC"/>
              </a:rPr>
              <a:t>/</a:t>
            </a:r>
            <a:r>
              <a:rPr lang="en-US" sz="1400" b="0" i="0" u="none" strike="noStrike" dirty="0" err="1">
                <a:solidFill>
                  <a:srgbClr val="06B6D4"/>
                </a:solidFill>
                <a:latin typeface="Noto Sans SC"/>
                <a:ea typeface="Noto Sans SC"/>
                <a:cs typeface="Noto Sans SC"/>
                <a:sym typeface="Noto Sans SC"/>
              </a:rPr>
              <a:t>进程内核态：</a:t>
            </a:r>
            <a:r>
              <a:rPr lang="en-US" sz="1400" b="0" i="0" u="none" strike="noStrike" dirty="0" err="1">
                <a:solidFill>
                  <a:srgbClr val="D1D5DB"/>
                </a:solidFill>
                <a:latin typeface="Noto Sans SC"/>
                <a:ea typeface="Noto Sans SC"/>
                <a:cs typeface="Noto Sans SC"/>
                <a:sym typeface="Noto Sans SC"/>
              </a:rPr>
              <a:t>支持睡眠、可抢占，优先使用</a:t>
            </a:r>
            <a:r>
              <a:rPr lang="en-US" sz="1400" b="0" i="0" u="none" strike="noStrike" dirty="0">
                <a:solidFill>
                  <a:srgbClr val="D1D5DB"/>
                </a:solidFill>
                <a:latin typeface="Noto Sans SC"/>
                <a:ea typeface="Noto Sans SC"/>
                <a:cs typeface="Noto Sans SC"/>
                <a:sym typeface="Noto Sans SC"/>
              </a:rPr>
              <a:t> Mutex。</a:t>
            </a:r>
          </a:p>
          <a:p>
            <a:pPr marL="0" indent="0" algn="l">
              <a:lnSpc>
                <a:spcPct val="125000"/>
              </a:lnSpc>
              <a:defRPr/>
            </a:pPr>
            <a:r>
              <a:rPr lang="en-US" sz="1400" b="0" i="0" u="none" strike="noStrike" dirty="0" err="1">
                <a:solidFill>
                  <a:srgbClr val="06B6D4"/>
                </a:solidFill>
                <a:latin typeface="Noto Sans SC"/>
                <a:ea typeface="Noto Sans SC"/>
                <a:cs typeface="Noto Sans SC"/>
                <a:sym typeface="Noto Sans SC"/>
              </a:rPr>
              <a:t>中断</a:t>
            </a:r>
            <a:r>
              <a:rPr lang="en-US" sz="1400" b="0" i="0" u="none" strike="noStrike" dirty="0">
                <a:solidFill>
                  <a:srgbClr val="06B6D4"/>
                </a:solidFill>
                <a:latin typeface="Noto Sans SC"/>
                <a:ea typeface="Noto Sans SC"/>
                <a:cs typeface="Noto Sans SC"/>
                <a:sym typeface="Noto Sans SC"/>
              </a:rPr>
              <a:t>/</a:t>
            </a:r>
            <a:r>
              <a:rPr lang="en-US" sz="1400" b="0" i="0" u="none" strike="noStrike" dirty="0" err="1">
                <a:solidFill>
                  <a:srgbClr val="06B6D4"/>
                </a:solidFill>
                <a:latin typeface="Noto Sans SC"/>
                <a:ea typeface="Noto Sans SC"/>
                <a:cs typeface="Noto Sans SC"/>
                <a:sym typeface="Noto Sans SC"/>
              </a:rPr>
              <a:t>异常上下文：</a:t>
            </a:r>
            <a:r>
              <a:rPr lang="en-US" sz="1400" b="0" i="0" u="none" strike="noStrike" dirty="0" err="1">
                <a:solidFill>
                  <a:srgbClr val="D1D5DB"/>
                </a:solidFill>
                <a:latin typeface="Noto Sans SC"/>
                <a:ea typeface="Noto Sans SC"/>
                <a:cs typeface="Noto Sans SC"/>
                <a:sym typeface="Noto Sans SC"/>
              </a:rPr>
              <a:t>严禁睡眠，仅可用自旋锁</a:t>
            </a:r>
            <a:r>
              <a:rPr lang="en-US" sz="1400" b="0" i="0" u="none" strike="noStrike" dirty="0">
                <a:solidFill>
                  <a:srgbClr val="D1D5DB"/>
                </a:solidFill>
                <a:latin typeface="Noto Sans SC"/>
                <a:ea typeface="Noto Sans SC"/>
                <a:cs typeface="Noto Sans SC"/>
                <a:sym typeface="Noto Sans SC"/>
              </a:rPr>
              <a:t>/</a:t>
            </a:r>
            <a:r>
              <a:rPr lang="en-US" sz="1400" b="0" i="0" u="none" strike="noStrike" dirty="0" err="1">
                <a:solidFill>
                  <a:srgbClr val="D1D5DB"/>
                </a:solidFill>
                <a:latin typeface="Noto Sans SC"/>
                <a:ea typeface="Noto Sans SC"/>
                <a:cs typeface="Noto Sans SC"/>
                <a:sym typeface="Noto Sans SC"/>
              </a:rPr>
              <a:t>原子操作，且需关中断防止重入</a:t>
            </a:r>
            <a:r>
              <a:rPr lang="en-US" sz="1400" b="0" i="0" u="none" strike="noStrike" dirty="0">
                <a:solidFill>
                  <a:srgbClr val="D1D5DB"/>
                </a:solidFill>
                <a:latin typeface="Noto Sans SC"/>
                <a:ea typeface="Noto Sans SC"/>
                <a:cs typeface="Noto Sans SC"/>
                <a:sym typeface="Noto Sans SC"/>
              </a:rPr>
              <a:t>。</a:t>
            </a:r>
            <a:endParaRPr lang="en-US" sz="1100" dirty="0"/>
          </a:p>
        </p:txBody>
      </p:sp>
      <p:cxnSp>
        <p:nvCxnSpPr>
          <p:cNvPr id="16" name="Connector 16"/>
          <p:cNvCxnSpPr/>
          <p:nvPr/>
        </p:nvCxnSpPr>
        <p:spPr>
          <a:xfrm rot="5368748">
            <a:off x="5524500" y="5772179"/>
            <a:ext cx="1397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6477000" y="5080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核心锁序规则（关键原则）</a:t>
            </a:r>
            <a:endParaRPr lang="en-US" sz="1100"/>
          </a:p>
        </p:txBody>
      </p:sp>
      <p:cxnSp>
        <p:nvCxnSpPr>
          <p:cNvPr id="18" name="Connector 18"/>
          <p:cNvCxnSpPr/>
          <p:nvPr/>
        </p:nvCxnSpPr>
        <p:spPr>
          <a:xfrm rot="-8384">
            <a:off x="6477008" y="5454650"/>
            <a:ext cx="5207000" cy="12700"/>
          </a:xfrm>
          <a:prstGeom prst="straightConnector1">
            <a:avLst/>
          </a:prstGeom>
          <a:solidFill>
            <a:srgbClr val="DEE0E3">
              <a:alpha val="100000"/>
            </a:srgbClr>
          </a:solidFill>
          <a:ln w="25400" cap="flat" cmpd="sng">
            <a:solidFill>
              <a:srgbClr val="06B6D4">
                <a:alpha val="100000"/>
              </a:srgbClr>
            </a:solidFill>
            <a:prstDash val="solid"/>
            <a:round/>
            <a:headEnd type="none" w="lg" len="lg"/>
            <a:tailEnd type="none" w="lg" len="lg"/>
          </a:ln>
        </p:spPr>
      </p:cxnSp>
      <p:sp>
        <p:nvSpPr>
          <p:cNvPr id="19" name="AutoShape 19"/>
          <p:cNvSpPr/>
          <p:nvPr/>
        </p:nvSpPr>
        <p:spPr>
          <a:xfrm>
            <a:off x="6477000" y="5588000"/>
            <a:ext cx="5207000" cy="1016000"/>
          </a:xfrm>
          <a:prstGeom prst="rect">
            <a:avLst/>
          </a:prstGeom>
          <a:noFill/>
          <a:ln w="12700" cap="flat" cmpd="sng">
            <a:noFill/>
            <a:prstDash val="solid"/>
            <a:round/>
          </a:ln>
        </p:spPr>
        <p:txBody>
          <a:bodyPr vert="horz" wrap="square" lIns="0" tIns="0" rIns="0" bIns="0" rtlCol="0" anchor="ctr" anchorCtr="0"/>
          <a:lstStyle/>
          <a:p>
            <a:pPr algn="l">
              <a:lnSpc>
                <a:spcPct val="125000"/>
              </a:lnSpc>
              <a:defRPr/>
            </a:pPr>
            <a:r>
              <a:rPr lang="en-US" sz="1400" b="0" i="0" u="none" strike="noStrike" dirty="0">
                <a:solidFill>
                  <a:srgbClr val="06B6D4"/>
                </a:solidFill>
                <a:latin typeface="Noto Sans SC"/>
                <a:ea typeface="Noto Sans SC"/>
                <a:cs typeface="Noto Sans SC"/>
                <a:sym typeface="Noto Sans SC"/>
              </a:rPr>
              <a:t>1.禁止嵌套死锁：</a:t>
            </a:r>
            <a:r>
              <a:rPr lang="en-US" sz="1400" b="0" i="0" u="none" strike="noStrike" dirty="0">
                <a:solidFill>
                  <a:srgbClr val="D1D5DB"/>
                </a:solidFill>
                <a:latin typeface="Noto Sans SC"/>
                <a:ea typeface="Noto Sans SC"/>
                <a:cs typeface="Noto Sans SC"/>
                <a:sym typeface="Noto Sans SC"/>
              </a:rPr>
              <a:t>持有rq锁不嵌套睡眠锁。</a:t>
            </a:r>
          </a:p>
          <a:p>
            <a:pPr algn="l">
              <a:lnSpc>
                <a:spcPct val="125000"/>
              </a:lnSpc>
              <a:defRPr/>
            </a:pPr>
            <a:r>
              <a:rPr lang="en-US" sz="1400" b="0" i="0" u="none" strike="noStrike" dirty="0">
                <a:solidFill>
                  <a:srgbClr val="06B6D4"/>
                </a:solidFill>
                <a:latin typeface="Noto Sans SC"/>
                <a:ea typeface="Noto Sans SC"/>
                <a:cs typeface="Noto Sans SC"/>
                <a:sym typeface="Noto Sans SC"/>
              </a:rPr>
              <a:t>2. </a:t>
            </a:r>
            <a:r>
              <a:rPr lang="en-US" sz="1400" b="0" i="0" u="none" strike="noStrike" dirty="0" err="1">
                <a:solidFill>
                  <a:srgbClr val="06B6D4"/>
                </a:solidFill>
                <a:latin typeface="Noto Sans SC"/>
                <a:ea typeface="Noto Sans SC"/>
                <a:cs typeface="Noto Sans SC"/>
                <a:sym typeface="Noto Sans SC"/>
              </a:rPr>
              <a:t>锁外释放：</a:t>
            </a:r>
            <a:r>
              <a:rPr lang="en-US" sz="1400" b="0" i="0" u="none" strike="noStrike" dirty="0" err="1">
                <a:solidFill>
                  <a:srgbClr val="D1D5DB"/>
                </a:solidFill>
                <a:latin typeface="Noto Sans SC"/>
                <a:ea typeface="Noto Sans SC"/>
                <a:cs typeface="Noto Sans SC"/>
                <a:sym typeface="Noto Sans SC"/>
              </a:rPr>
              <a:t>FdTable</a:t>
            </a:r>
            <a:r>
              <a:rPr lang="en-US" sz="1400" b="0" i="0" u="none" strike="noStrike" dirty="0">
                <a:solidFill>
                  <a:srgbClr val="D1D5DB"/>
                </a:solidFill>
                <a:latin typeface="Noto Sans SC"/>
                <a:ea typeface="Noto Sans SC"/>
                <a:cs typeface="Noto Sans SC"/>
                <a:sym typeface="Noto Sans SC"/>
              </a:rPr>
              <a:t>/</a:t>
            </a:r>
            <a:r>
              <a:rPr lang="en-US" sz="1400" b="0" i="0" u="none" strike="noStrike" dirty="0" err="1">
                <a:solidFill>
                  <a:srgbClr val="D1D5DB"/>
                </a:solidFill>
                <a:latin typeface="Noto Sans SC"/>
                <a:ea typeface="Noto Sans SC"/>
                <a:cs typeface="Noto Sans SC"/>
                <a:sym typeface="Noto Sans SC"/>
              </a:rPr>
              <a:t>VFS路径锁内摘取对象，锁外异步释放，杜绝锁持有期间的阻塞风险</a:t>
            </a:r>
            <a:r>
              <a:rPr lang="en-US" sz="1400" b="0" i="0" u="none" strike="noStrike" dirty="0">
                <a:solidFill>
                  <a:srgbClr val="D1D5DB"/>
                </a:solidFill>
                <a:latin typeface="Noto Sans SC"/>
                <a:ea typeface="Noto Sans SC"/>
                <a:cs typeface="Noto Sans SC"/>
                <a:sym typeface="Noto Sans SC"/>
              </a:rPr>
              <a: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41423">
                <a:alpha val="100000"/>
              </a:srgbClr>
            </a:gs>
            <a:gs pos="100000">
              <a:srgbClr val="0A0A1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异常处理机制</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524000"/>
            <a:ext cx="11176000" cy="16256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5875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solidFill>
                <a:latin typeface="Noto Sans SC"/>
                <a:ea typeface="Noto Sans SC"/>
                <a:cs typeface="Noto Sans SC"/>
                <a:sym typeface="Noto Sans SC"/>
              </a:rPr>
              <a:t>双架构统一异常框架</a:t>
            </a:r>
            <a:endParaRPr lang="en-US" sz="1100"/>
          </a:p>
        </p:txBody>
      </p:sp>
      <p:cxnSp>
        <p:nvCxnSpPr>
          <p:cNvPr id="6" name="Connector 6"/>
          <p:cNvCxnSpPr/>
          <p:nvPr/>
        </p:nvCxnSpPr>
        <p:spPr>
          <a:xfrm rot="-3906">
            <a:off x="508004" y="2025650"/>
            <a:ext cx="11176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7" name="AutoShape 7"/>
          <p:cNvSpPr/>
          <p:nvPr/>
        </p:nvSpPr>
        <p:spPr>
          <a:xfrm>
            <a:off x="635000" y="2222500"/>
            <a:ext cx="1778000" cy="762000"/>
          </a:xfrm>
          <a:prstGeom prst="roundRect">
            <a:avLst>
              <a:gd name="adj" fmla="val 0"/>
            </a:avLst>
          </a:prstGeom>
          <a:solidFill>
            <a:srgbClr val="FFFFFF">
              <a:alpha val="10000"/>
            </a:srgbClr>
          </a:solidFill>
          <a:ln w="12700" cap="flat" cmpd="sng">
            <a:solidFill>
              <a:srgbClr val="FFFFFF">
                <a:alpha val="3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a:ea typeface="Noto Sans SC"/>
                <a:cs typeface="Noto Sans SC"/>
                <a:sym typeface="Noto Sans SC"/>
              </a:rPr>
              <a:t>硬件异常入口</a:t>
            </a:r>
            <a:endParaRPr lang="en-US" sz="1100"/>
          </a:p>
          <a:p>
            <a:pPr marL="0" indent="0" algn="ctr">
              <a:lnSpc>
                <a:spcPct val="125000"/>
              </a:lnSpc>
            </a:pPr>
            <a:r>
              <a:rPr lang="en-US" sz="1100" b="0" i="0" u="none" strike="noStrike">
                <a:solidFill>
                  <a:srgbClr val="FFFFFF">
                    <a:alpha val="60000"/>
                  </a:srgbClr>
                </a:solidFill>
                <a:latin typeface="Noto Sans SC"/>
                <a:ea typeface="Noto Sans SC"/>
                <a:cs typeface="Noto Sans SC"/>
                <a:sym typeface="Noto Sans SC"/>
              </a:rPr>
              <a:t>统一向量入口接管</a:t>
            </a:r>
          </a:p>
        </p:txBody>
      </p:sp>
      <p:cxnSp>
        <p:nvCxnSpPr>
          <p:cNvPr id="8" name="Connector 8"/>
          <p:cNvCxnSpPr/>
          <p:nvPr/>
        </p:nvCxnSpPr>
        <p:spPr>
          <a:xfrm rot="-68745">
            <a:off x="2540063" y="2597150"/>
            <a:ext cx="635000" cy="12700"/>
          </a:xfrm>
          <a:prstGeom prst="line">
            <a:avLst/>
          </a:prstGeom>
          <a:solidFill>
            <a:srgbClr val="DEE0E3">
              <a:alpha val="100000"/>
            </a:srgbClr>
          </a:solidFill>
          <a:ln w="12700" cap="flat" cmpd="sng">
            <a:solidFill>
              <a:srgbClr val="FFFFFF">
                <a:alpha val="40000"/>
              </a:srgbClr>
            </a:solidFill>
            <a:prstDash val="solid"/>
            <a:round/>
            <a:headEnd type="none" w="med" len="med"/>
            <a:tailEnd type="arrow" w="sm" len="sm"/>
          </a:ln>
        </p:spPr>
      </p:cxnSp>
      <p:sp>
        <p:nvSpPr>
          <p:cNvPr id="9" name="AutoShape 9"/>
          <p:cNvSpPr/>
          <p:nvPr/>
        </p:nvSpPr>
        <p:spPr>
          <a:xfrm>
            <a:off x="3302000" y="2222500"/>
            <a:ext cx="1905000" cy="762000"/>
          </a:xfrm>
          <a:prstGeom prst="roundRect">
            <a:avLst>
              <a:gd name="adj" fmla="val 0"/>
            </a:avLst>
          </a:prstGeom>
          <a:solidFill>
            <a:srgbClr val="FFFFFF">
              <a:alpha val="15000"/>
            </a:srgbClr>
          </a:solidFill>
          <a:ln w="12700" cap="flat" cmpd="sng">
            <a:solidFill>
              <a:srgbClr val="FFFFFF">
                <a:alpha val="5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a:ea typeface="Noto Sans SC"/>
                <a:cs typeface="Noto Sans SC"/>
                <a:sym typeface="Noto Sans SC"/>
              </a:rPr>
              <a:t>架构分发层</a:t>
            </a:r>
            <a:endParaRPr lang="en-US" sz="1100"/>
          </a:p>
          <a:p>
            <a:pPr marL="0" indent="0" algn="ctr">
              <a:lnSpc>
                <a:spcPct val="125000"/>
              </a:lnSpc>
            </a:pPr>
            <a:r>
              <a:rPr lang="en-US" sz="1100" b="0" i="0" u="none" strike="noStrike">
                <a:solidFill>
                  <a:srgbClr val="FFFFFF">
                    <a:alpha val="60000"/>
                  </a:srgbClr>
                </a:solidFill>
                <a:latin typeface="Noto Sans SC"/>
                <a:ea typeface="Noto Sans SC"/>
                <a:cs typeface="Noto Sans SC"/>
                <a:sym typeface="Noto Sans SC"/>
              </a:rPr>
              <a:t>CPU 异常向量表解析</a:t>
            </a:r>
          </a:p>
        </p:txBody>
      </p:sp>
      <p:cxnSp>
        <p:nvCxnSpPr>
          <p:cNvPr id="10" name="Connector 10"/>
          <p:cNvCxnSpPr/>
          <p:nvPr/>
        </p:nvCxnSpPr>
        <p:spPr>
          <a:xfrm rot="-85925">
            <a:off x="5334079" y="2597150"/>
            <a:ext cx="508000" cy="12700"/>
          </a:xfrm>
          <a:prstGeom prst="line">
            <a:avLst/>
          </a:prstGeom>
          <a:solidFill>
            <a:srgbClr val="DEE0E3">
              <a:alpha val="100000"/>
            </a:srgbClr>
          </a:solidFill>
          <a:ln w="12700" cap="flat" cmpd="sng">
            <a:solidFill>
              <a:srgbClr val="FFFFFF">
                <a:alpha val="40000"/>
              </a:srgbClr>
            </a:solidFill>
            <a:prstDash val="solid"/>
            <a:round/>
            <a:headEnd type="none" w="med" len="med"/>
            <a:tailEnd type="arrow" w="sm" len="sm"/>
          </a:ln>
        </p:spPr>
      </p:cxnSp>
      <p:sp>
        <p:nvSpPr>
          <p:cNvPr id="11" name="AutoShape 11"/>
          <p:cNvSpPr/>
          <p:nvPr/>
        </p:nvSpPr>
        <p:spPr>
          <a:xfrm>
            <a:off x="5969000" y="2222500"/>
            <a:ext cx="2794000" cy="762000"/>
          </a:xfrm>
          <a:prstGeom prst="roundRect">
            <a:avLst>
              <a:gd name="adj" fmla="val 0"/>
            </a:avLst>
          </a:prstGeom>
          <a:solidFill>
            <a:srgbClr val="FFFFFF">
              <a:alpha val="5000"/>
            </a:srgbClr>
          </a:solidFill>
          <a:ln w="12700" cap="flat" cmpd="sng">
            <a:solidFill>
              <a:srgbClr val="FFFFFF">
                <a:alpha val="10000"/>
              </a:srgbClr>
            </a:solidFill>
            <a:prstDash val="dash"/>
            <a:round/>
          </a:ln>
        </p:spPr>
        <p:txBody>
          <a:bodyPr vert="horz" wrap="square" lIns="63500" tIns="63500" rIns="63500" bIns="63500" rtlCol="0" anchor="ctr"/>
          <a:lstStyle/>
          <a:p>
            <a:pPr algn="ctr">
              <a:defRPr/>
            </a:pPr>
            <a:endParaRPr/>
          </a:p>
        </p:txBody>
      </p:sp>
      <p:sp>
        <p:nvSpPr>
          <p:cNvPr id="12" name="AutoShape 12"/>
          <p:cNvSpPr/>
          <p:nvPr/>
        </p:nvSpPr>
        <p:spPr>
          <a:xfrm>
            <a:off x="6032500" y="2286000"/>
            <a:ext cx="863600" cy="635000"/>
          </a:xfrm>
          <a:prstGeom prst="roundRect">
            <a:avLst>
              <a:gd name="adj" fmla="val 0"/>
            </a:avLst>
          </a:prstGeom>
          <a:solidFill>
            <a:srgbClr val="06B6D4">
              <a:alpha val="20000"/>
            </a:srgbClr>
          </a:solidFill>
          <a:ln w="12700" cap="flat" cmpd="sng">
            <a:solidFill>
              <a:srgbClr val="06B6D4">
                <a:alpha val="100000"/>
              </a:srgbClr>
            </a:solid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06B6D4"/>
                </a:solidFill>
                <a:latin typeface="Noto Sans SC"/>
                <a:ea typeface="Noto Sans SC"/>
                <a:cs typeface="Noto Sans SC"/>
                <a:sym typeface="Noto Sans SC"/>
              </a:rPr>
              <a:t>系统调用</a:t>
            </a:r>
            <a:endParaRPr lang="en-US" sz="1100"/>
          </a:p>
        </p:txBody>
      </p:sp>
      <p:sp>
        <p:nvSpPr>
          <p:cNvPr id="13" name="AutoShape 13"/>
          <p:cNvSpPr/>
          <p:nvPr/>
        </p:nvSpPr>
        <p:spPr>
          <a:xfrm>
            <a:off x="6959600" y="2286000"/>
            <a:ext cx="863600" cy="635000"/>
          </a:xfrm>
          <a:prstGeom prst="roundRect">
            <a:avLst>
              <a:gd name="adj" fmla="val 0"/>
            </a:avLst>
          </a:prstGeom>
          <a:solidFill>
            <a:srgbClr val="10B981">
              <a:alpha val="20000"/>
            </a:srgbClr>
          </a:solidFill>
          <a:ln w="127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0B981"/>
                </a:solidFill>
                <a:latin typeface="Noto Sans SC"/>
                <a:ea typeface="Noto Sans SC"/>
                <a:cs typeface="Noto Sans SC"/>
                <a:sym typeface="Noto Sans SC"/>
              </a:rPr>
              <a:t>缺页异常</a:t>
            </a:r>
            <a:endParaRPr lang="en-US" sz="1100"/>
          </a:p>
        </p:txBody>
      </p:sp>
      <p:sp>
        <p:nvSpPr>
          <p:cNvPr id="14" name="AutoShape 14"/>
          <p:cNvSpPr/>
          <p:nvPr/>
        </p:nvSpPr>
        <p:spPr>
          <a:xfrm>
            <a:off x="7874000" y="2286000"/>
            <a:ext cx="863600" cy="635000"/>
          </a:xfrm>
          <a:prstGeom prst="roundRect">
            <a:avLst>
              <a:gd name="adj" fmla="val 0"/>
            </a:avLst>
          </a:prstGeom>
          <a:solidFill>
            <a:srgbClr val="8B5CF6">
              <a:alpha val="20000"/>
            </a:srgbClr>
          </a:solidFill>
          <a:ln w="12700" cap="flat" cmpd="sng">
            <a:solidFill>
              <a:srgbClr val="8B5CF6">
                <a:alpha val="100000"/>
              </a:srgbClr>
            </a:solid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8B5CF6"/>
                </a:solidFill>
                <a:latin typeface="Noto Sans SC"/>
                <a:ea typeface="Noto Sans SC"/>
                <a:cs typeface="Noto Sans SC"/>
                <a:sym typeface="Noto Sans SC"/>
              </a:rPr>
              <a:t>硬件中断</a:t>
            </a:r>
            <a:endParaRPr lang="en-US" sz="1100"/>
          </a:p>
        </p:txBody>
      </p:sp>
      <p:cxnSp>
        <p:nvCxnSpPr>
          <p:cNvPr id="15" name="Connector 15"/>
          <p:cNvCxnSpPr/>
          <p:nvPr/>
        </p:nvCxnSpPr>
        <p:spPr>
          <a:xfrm rot="-114549">
            <a:off x="8890106" y="2597150"/>
            <a:ext cx="381000" cy="12700"/>
          </a:xfrm>
          <a:prstGeom prst="line">
            <a:avLst/>
          </a:prstGeom>
          <a:solidFill>
            <a:srgbClr val="DEE0E3">
              <a:alpha val="100000"/>
            </a:srgbClr>
          </a:solidFill>
          <a:ln w="12700" cap="flat" cmpd="sng">
            <a:solidFill>
              <a:srgbClr val="FFFFFF">
                <a:alpha val="40000"/>
              </a:srgbClr>
            </a:solidFill>
            <a:prstDash val="solid"/>
            <a:round/>
            <a:headEnd type="none" w="med" len="med"/>
            <a:tailEnd type="arrow" w="sm" len="sm"/>
          </a:ln>
        </p:spPr>
      </p:cxnSp>
      <p:sp>
        <p:nvSpPr>
          <p:cNvPr id="16" name="AutoShape 16"/>
          <p:cNvSpPr/>
          <p:nvPr/>
        </p:nvSpPr>
        <p:spPr>
          <a:xfrm>
            <a:off x="9398000" y="2222500"/>
            <a:ext cx="2032000" cy="762000"/>
          </a:xfrm>
          <a:prstGeom prst="roundRect">
            <a:avLst>
              <a:gd name="adj" fmla="val 0"/>
            </a:avLst>
          </a:prstGeom>
          <a:solidFill>
            <a:srgbClr val="00D9FF">
              <a:alpha val="20000"/>
            </a:srgbClr>
          </a:solidFill>
          <a:ln w="12700" cap="flat" cmpd="sng">
            <a:solidFill>
              <a:srgbClr val="00D9FF">
                <a:alpha val="10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D9FF"/>
                </a:solidFill>
                <a:latin typeface="Noto Sans SC"/>
                <a:ea typeface="Noto Sans SC"/>
                <a:cs typeface="Noto Sans SC"/>
                <a:sym typeface="Noto Sans SC"/>
              </a:rPr>
              <a:t>返回前安全点</a:t>
            </a:r>
            <a:endParaRPr lang="en-US" sz="1100"/>
          </a:p>
          <a:p>
            <a:pPr marL="0" indent="0" algn="ctr">
              <a:lnSpc>
                <a:spcPct val="125000"/>
              </a:lnSpc>
            </a:pPr>
            <a:r>
              <a:rPr lang="en-US" sz="1100" b="0" i="0" u="none" strike="noStrike">
                <a:solidFill>
                  <a:srgbClr val="FFFFFF">
                    <a:alpha val="80000"/>
                  </a:srgbClr>
                </a:solidFill>
                <a:latin typeface="Noto Sans SC"/>
                <a:ea typeface="Noto Sans SC"/>
                <a:cs typeface="Noto Sans SC"/>
                <a:sym typeface="Noto Sans SC"/>
              </a:rPr>
              <a:t>信号投递 + 调度让出</a:t>
            </a:r>
          </a:p>
        </p:txBody>
      </p:sp>
      <p:sp>
        <p:nvSpPr>
          <p:cNvPr id="17" name="AutoShape 17"/>
          <p:cNvSpPr/>
          <p:nvPr/>
        </p:nvSpPr>
        <p:spPr>
          <a:xfrm>
            <a:off x="495300" y="32385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solidFill>
                  <a:srgbClr val="FFFFFF">
                    <a:alpha val="70196"/>
                  </a:srgbClr>
                </a:solidFill>
                <a:latin typeface="Noto Sans SC"/>
                <a:ea typeface="Noto Sans SC"/>
                <a:cs typeface="Noto Sans SC"/>
                <a:sym typeface="Noto Sans SC"/>
              </a:rPr>
              <a:t>SyscallFrameOps</a:t>
            </a:r>
            <a:r>
              <a:rPr lang="en-US" sz="1400" b="0" i="0" u="none" strike="noStrike" dirty="0">
                <a:solidFill>
                  <a:srgbClr val="FFFFFF">
                    <a:alpha val="70196"/>
                  </a:srgbClr>
                </a:solidFill>
                <a:latin typeface="Noto Sans SC"/>
                <a:ea typeface="Noto Sans SC"/>
                <a:cs typeface="Noto Sans SC"/>
                <a:sym typeface="Noto Sans SC"/>
              </a:rPr>
              <a:t> </a:t>
            </a:r>
            <a:r>
              <a:rPr lang="en-US" sz="1400" b="0" i="0" u="none" strike="noStrike" dirty="0" err="1">
                <a:solidFill>
                  <a:srgbClr val="FFFFFF">
                    <a:alpha val="70196"/>
                  </a:srgbClr>
                </a:solidFill>
                <a:latin typeface="Noto Sans SC"/>
                <a:ea typeface="Noto Sans SC"/>
                <a:cs typeface="Noto Sans SC"/>
                <a:sym typeface="Noto Sans SC"/>
              </a:rPr>
              <a:t>四个回调收束</a:t>
            </a:r>
            <a:r>
              <a:rPr lang="en-US" sz="1400" b="0" i="0" u="none" strike="noStrike" dirty="0">
                <a:solidFill>
                  <a:srgbClr val="FFFFFF">
                    <a:alpha val="70196"/>
                  </a:srgbClr>
                </a:solidFill>
                <a:latin typeface="Noto Sans SC"/>
                <a:ea typeface="Noto Sans SC"/>
                <a:cs typeface="Noto Sans SC"/>
                <a:sym typeface="Noto Sans SC"/>
              </a:rPr>
              <a:t> ABI </a:t>
            </a:r>
            <a:r>
              <a:rPr lang="en-US" sz="1400" b="0" i="0" u="none" strike="noStrike" dirty="0" err="1">
                <a:solidFill>
                  <a:srgbClr val="FFFFFF">
                    <a:alpha val="70196"/>
                  </a:srgbClr>
                </a:solidFill>
                <a:latin typeface="Noto Sans SC"/>
                <a:ea typeface="Noto Sans SC"/>
                <a:cs typeface="Noto Sans SC"/>
                <a:sym typeface="Noto Sans SC"/>
              </a:rPr>
              <a:t>差异：取号、取参、写返回值、推进PC，屏蔽底层架构细节</a:t>
            </a:r>
            <a:r>
              <a:rPr lang="en-US" sz="1400" b="0" i="0" u="none" strike="noStrike" dirty="0">
                <a:solidFill>
                  <a:srgbClr val="FFFFFF">
                    <a:alpha val="70196"/>
                  </a:srgbClr>
                </a:solidFill>
                <a:latin typeface="Noto Sans SC"/>
                <a:ea typeface="Noto Sans SC"/>
                <a:cs typeface="Noto Sans SC"/>
                <a:sym typeface="Noto Sans SC"/>
              </a:rPr>
              <a:t>。</a:t>
            </a:r>
            <a:endParaRPr lang="en-US" sz="1100" dirty="0"/>
          </a:p>
        </p:txBody>
      </p:sp>
      <p:cxnSp>
        <p:nvCxnSpPr>
          <p:cNvPr id="18" name="Connector 18"/>
          <p:cNvCxnSpPr/>
          <p:nvPr/>
        </p:nvCxnSpPr>
        <p:spPr>
          <a:xfrm rot="5379778">
            <a:off x="5016500" y="5391169"/>
            <a:ext cx="2159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9" name="AutoShape 19"/>
          <p:cNvSpPr/>
          <p:nvPr/>
        </p:nvSpPr>
        <p:spPr>
          <a:xfrm>
            <a:off x="508000" y="4013835"/>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异常类型分类体系</a:t>
            </a:r>
            <a:endParaRPr lang="en-US" sz="1100"/>
          </a:p>
        </p:txBody>
      </p:sp>
      <p:sp>
        <p:nvSpPr>
          <p:cNvPr id="20" name="AutoShape 20"/>
          <p:cNvSpPr/>
          <p:nvPr/>
        </p:nvSpPr>
        <p:spPr>
          <a:xfrm>
            <a:off x="508000" y="4521835"/>
            <a:ext cx="5334000" cy="1841500"/>
          </a:xfrm>
          <a:prstGeom prst="roundRect">
            <a:avLst>
              <a:gd name="adj" fmla="val 0"/>
            </a:avLst>
          </a:prstGeom>
          <a:solidFill>
            <a:srgbClr val="FFFFFF">
              <a:alpha val="2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08000" y="4521835"/>
            <a:ext cx="5334000" cy="3556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571500" y="4547235"/>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异常类型</a:t>
            </a:r>
            <a:endParaRPr lang="en-US" sz="1100"/>
          </a:p>
        </p:txBody>
      </p:sp>
      <p:sp>
        <p:nvSpPr>
          <p:cNvPr id="23" name="AutoShape 23"/>
          <p:cNvSpPr/>
          <p:nvPr/>
        </p:nvSpPr>
        <p:spPr>
          <a:xfrm>
            <a:off x="2222500" y="4547235"/>
            <a:ext cx="146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触发来源</a:t>
            </a:r>
            <a:endParaRPr lang="en-US" sz="1100"/>
          </a:p>
        </p:txBody>
      </p:sp>
      <p:sp>
        <p:nvSpPr>
          <p:cNvPr id="24" name="AutoShape 24"/>
          <p:cNvSpPr/>
          <p:nvPr/>
        </p:nvSpPr>
        <p:spPr>
          <a:xfrm>
            <a:off x="3810000" y="4547235"/>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核心处理策略</a:t>
            </a:r>
            <a:endParaRPr lang="en-US" sz="1100" dirty="0"/>
          </a:p>
        </p:txBody>
      </p:sp>
      <p:sp>
        <p:nvSpPr>
          <p:cNvPr id="25" name="AutoShape 25"/>
          <p:cNvSpPr/>
          <p:nvPr/>
        </p:nvSpPr>
        <p:spPr>
          <a:xfrm>
            <a:off x="508000" y="4902835"/>
            <a:ext cx="5334000" cy="292100"/>
          </a:xfrm>
          <a:prstGeom prst="roundRect">
            <a:avLst>
              <a:gd name="adj" fmla="val 0"/>
            </a:avLst>
          </a:prstGeom>
          <a:solidFill>
            <a:srgbClr val="1E1E3A">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571500" y="4915535"/>
            <a:ext cx="15240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系统调用</a:t>
            </a:r>
            <a:endParaRPr lang="en-US" sz="1100"/>
          </a:p>
        </p:txBody>
      </p:sp>
      <p:sp>
        <p:nvSpPr>
          <p:cNvPr id="27" name="AutoShape 27"/>
          <p:cNvSpPr/>
          <p:nvPr/>
        </p:nvSpPr>
        <p:spPr>
          <a:xfrm>
            <a:off x="2222500" y="4915535"/>
            <a:ext cx="1460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用户态 ecall</a:t>
            </a:r>
            <a:endParaRPr lang="en-US" sz="1100"/>
          </a:p>
        </p:txBody>
      </p:sp>
      <p:sp>
        <p:nvSpPr>
          <p:cNvPr id="28" name="AutoShape 28"/>
          <p:cNvSpPr/>
          <p:nvPr/>
        </p:nvSpPr>
        <p:spPr>
          <a:xfrm>
            <a:off x="3810000" y="4915535"/>
            <a:ext cx="1968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表驱动分发，无锁读取</a:t>
            </a:r>
            <a:endParaRPr lang="en-US" sz="1100"/>
          </a:p>
        </p:txBody>
      </p:sp>
      <p:sp>
        <p:nvSpPr>
          <p:cNvPr id="29" name="AutoShape 29"/>
          <p:cNvSpPr/>
          <p:nvPr/>
        </p:nvSpPr>
        <p:spPr>
          <a:xfrm>
            <a:off x="508000" y="5220335"/>
            <a:ext cx="5334000" cy="292100"/>
          </a:xfrm>
          <a:prstGeom prst="roundRect">
            <a:avLst>
              <a:gd name="adj" fmla="val 0"/>
            </a:avLst>
          </a:prstGeom>
          <a:solidFill>
            <a:srgbClr val="252545">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571500" y="5233035"/>
            <a:ext cx="15240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缺页/中断</a:t>
            </a:r>
            <a:endParaRPr lang="en-US" sz="1100"/>
          </a:p>
        </p:txBody>
      </p:sp>
      <p:sp>
        <p:nvSpPr>
          <p:cNvPr id="31" name="AutoShape 31"/>
          <p:cNvSpPr/>
          <p:nvPr/>
        </p:nvSpPr>
        <p:spPr>
          <a:xfrm>
            <a:off x="2222500" y="5233035"/>
            <a:ext cx="1460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MMU/外设信号</a:t>
            </a:r>
            <a:endParaRPr lang="en-US" sz="1100"/>
          </a:p>
        </p:txBody>
      </p:sp>
      <p:sp>
        <p:nvSpPr>
          <p:cNvPr id="32" name="AutoShape 32"/>
          <p:cNvSpPr/>
          <p:nvPr/>
        </p:nvSpPr>
        <p:spPr>
          <a:xfrm>
            <a:off x="3810000" y="5233035"/>
            <a:ext cx="1968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VmSpace分派/中断控制器</a:t>
            </a:r>
            <a:endParaRPr lang="en-US" sz="1100"/>
          </a:p>
        </p:txBody>
      </p:sp>
      <p:sp>
        <p:nvSpPr>
          <p:cNvPr id="33" name="AutoShape 33"/>
          <p:cNvSpPr/>
          <p:nvPr/>
        </p:nvSpPr>
        <p:spPr>
          <a:xfrm>
            <a:off x="508000" y="5537835"/>
            <a:ext cx="5334000" cy="292100"/>
          </a:xfrm>
          <a:prstGeom prst="roundRect">
            <a:avLst>
              <a:gd name="adj" fmla="val 0"/>
            </a:avLst>
          </a:prstGeom>
          <a:solidFill>
            <a:srgbClr val="1E1E3A">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571500" y="5550535"/>
            <a:ext cx="15240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非法指令</a:t>
            </a:r>
            <a:endParaRPr lang="en-US" sz="1100"/>
          </a:p>
        </p:txBody>
      </p:sp>
      <p:sp>
        <p:nvSpPr>
          <p:cNvPr id="35" name="AutoShape 35"/>
          <p:cNvSpPr/>
          <p:nvPr/>
        </p:nvSpPr>
        <p:spPr>
          <a:xfrm>
            <a:off x="2222500" y="5550535"/>
            <a:ext cx="1460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用户/内核态指令</a:t>
            </a:r>
            <a:endParaRPr lang="en-US" sz="1100"/>
          </a:p>
        </p:txBody>
      </p:sp>
      <p:sp>
        <p:nvSpPr>
          <p:cNvPr id="36" name="AutoShape 36"/>
          <p:cNvSpPr/>
          <p:nvPr/>
        </p:nvSpPr>
        <p:spPr>
          <a:xfrm>
            <a:off x="3810000" y="5550535"/>
            <a:ext cx="1968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发SIGILL / 内核panic</a:t>
            </a:r>
            <a:endParaRPr lang="en-US" sz="1100"/>
          </a:p>
        </p:txBody>
      </p:sp>
      <p:sp>
        <p:nvSpPr>
          <p:cNvPr id="37" name="AutoShape 37"/>
          <p:cNvSpPr/>
          <p:nvPr/>
        </p:nvSpPr>
        <p:spPr>
          <a:xfrm>
            <a:off x="508000" y="5855335"/>
            <a:ext cx="5334000" cy="292100"/>
          </a:xfrm>
          <a:prstGeom prst="roundRect">
            <a:avLst>
              <a:gd name="adj" fmla="val 0"/>
            </a:avLst>
          </a:prstGeom>
          <a:solidFill>
            <a:srgbClr val="252545">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571500" y="5868035"/>
            <a:ext cx="15240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0196"/>
                  </a:srgbClr>
                </a:solidFill>
                <a:latin typeface="Noto Sans SC"/>
                <a:ea typeface="Noto Sans SC"/>
                <a:cs typeface="Noto Sans SC"/>
                <a:sym typeface="Noto Sans SC"/>
              </a:rPr>
              <a:t>断点/调试</a:t>
            </a:r>
            <a:endParaRPr lang="en-US" sz="1100"/>
          </a:p>
        </p:txBody>
      </p:sp>
      <p:sp>
        <p:nvSpPr>
          <p:cNvPr id="39" name="AutoShape 39"/>
          <p:cNvSpPr/>
          <p:nvPr/>
        </p:nvSpPr>
        <p:spPr>
          <a:xfrm>
            <a:off x="2222500" y="5868035"/>
            <a:ext cx="1460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用户/内核断点</a:t>
            </a:r>
            <a:endParaRPr lang="en-US" sz="1100"/>
          </a:p>
        </p:txBody>
      </p:sp>
      <p:sp>
        <p:nvSpPr>
          <p:cNvPr id="40" name="AutoShape 40"/>
          <p:cNvSpPr/>
          <p:nvPr/>
        </p:nvSpPr>
        <p:spPr>
          <a:xfrm>
            <a:off x="3810000" y="5868035"/>
            <a:ext cx="1968500" cy="266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70196"/>
                  </a:srgbClr>
                </a:solidFill>
                <a:latin typeface="Noto Sans SC"/>
                <a:ea typeface="Noto Sans SC"/>
                <a:cs typeface="Noto Sans SC"/>
                <a:sym typeface="Noto Sans SC"/>
              </a:rPr>
              <a:t>投递SIGTRAP信号</a:t>
            </a:r>
            <a:endParaRPr lang="en-US" sz="1100"/>
          </a:p>
        </p:txBody>
      </p:sp>
      <p:sp>
        <p:nvSpPr>
          <p:cNvPr id="41" name="AutoShape 41"/>
          <p:cNvSpPr/>
          <p:nvPr/>
        </p:nvSpPr>
        <p:spPr>
          <a:xfrm>
            <a:off x="6350000" y="3785235"/>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核心设计决策与优化点</a:t>
            </a:r>
            <a:endParaRPr lang="en-US" sz="1100"/>
          </a:p>
        </p:txBody>
      </p:sp>
      <p:sp>
        <p:nvSpPr>
          <p:cNvPr id="42" name="AutoShape 42"/>
          <p:cNvSpPr/>
          <p:nvPr/>
        </p:nvSpPr>
        <p:spPr>
          <a:xfrm>
            <a:off x="6350000" y="4293234"/>
            <a:ext cx="2603500" cy="1040765"/>
          </a:xfrm>
          <a:prstGeom prst="roundRect">
            <a:avLst>
              <a:gd name="adj" fmla="val 0"/>
            </a:avLst>
          </a:prstGeom>
          <a:solidFill>
            <a:srgbClr val="06B6D4">
              <a:alpha val="10000"/>
            </a:srgbClr>
          </a:solidFill>
          <a:ln w="12700" cap="flat" cmpd="sng">
            <a:solidFill>
              <a:srgbClr val="06B6D4">
                <a:alpha val="30000"/>
              </a:srgbClr>
            </a:solidFill>
            <a:prstDash val="solid"/>
            <a:round/>
          </a:ln>
        </p:spPr>
        <p:txBody>
          <a:bodyPr vert="horz" wrap="square" lIns="63500" tIns="63500" rIns="63500" bIns="63500" rtlCol="0" anchor="ctr"/>
          <a:lstStyle/>
          <a:p>
            <a:pPr algn="ctr">
              <a:defRPr/>
            </a:pPr>
            <a:endParaRPr/>
          </a:p>
        </p:txBody>
      </p:sp>
      <p:pic>
        <p:nvPicPr>
          <p:cNvPr id="43" name="Picture 4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438900" y="4356100"/>
            <a:ext cx="304800" cy="304800"/>
          </a:xfrm>
          <a:prstGeom prst="rect">
            <a:avLst/>
          </a:prstGeom>
        </p:spPr>
      </p:pic>
      <p:sp>
        <p:nvSpPr>
          <p:cNvPr id="44" name="AutoShape 44"/>
          <p:cNvSpPr/>
          <p:nvPr/>
        </p:nvSpPr>
        <p:spPr>
          <a:xfrm>
            <a:off x="6800850" y="442214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快速路径分离</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最小化寄存器保存开销，常见路径（如系统调用）直接跳转，避免通用框架的冗余操作</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45" name="AutoShape 45"/>
          <p:cNvSpPr/>
          <p:nvPr/>
        </p:nvSpPr>
        <p:spPr>
          <a:xfrm>
            <a:off x="9194800" y="5481948"/>
            <a:ext cx="2603500" cy="1236350"/>
          </a:xfrm>
          <a:prstGeom prst="roundRect">
            <a:avLst>
              <a:gd name="adj" fmla="val 0"/>
            </a:avLst>
          </a:prstGeom>
          <a:solidFill>
            <a:srgbClr val="10B981">
              <a:alpha val="1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46" name="Picture 4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9245600" y="5563235"/>
            <a:ext cx="304800" cy="304800"/>
          </a:xfrm>
          <a:prstGeom prst="rect">
            <a:avLst/>
          </a:prstGeom>
        </p:spPr>
      </p:pic>
      <p:sp>
        <p:nvSpPr>
          <p:cNvPr id="47" name="AutoShape 47"/>
          <p:cNvSpPr/>
          <p:nvPr/>
        </p:nvSpPr>
        <p:spPr>
          <a:xfrm>
            <a:off x="9639300" y="570738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返回前安全点统一</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统一处理信号投递、NEED_RESCHED检查与异常恢复，确保上下文切换的安全性与一致性</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48" name="AutoShape 48"/>
          <p:cNvSpPr/>
          <p:nvPr/>
        </p:nvSpPr>
        <p:spPr>
          <a:xfrm>
            <a:off x="6350000" y="5460998"/>
            <a:ext cx="2603500" cy="1257300"/>
          </a:xfrm>
          <a:prstGeom prst="roundRect">
            <a:avLst>
              <a:gd name="adj" fmla="val 0"/>
            </a:avLst>
          </a:prstGeom>
          <a:solidFill>
            <a:srgbClr val="8B5CF6">
              <a:alpha val="10000"/>
            </a:srgbClr>
          </a:solidFill>
          <a:ln w="12700" cap="flat" cmpd="sng">
            <a:solidFill>
              <a:srgbClr val="8B5CF6">
                <a:alpha val="30000"/>
              </a:srgbClr>
            </a:solidFill>
            <a:prstDash val="solid"/>
            <a:round/>
          </a:ln>
        </p:spPr>
        <p:txBody>
          <a:bodyPr vert="horz" wrap="square" lIns="63500" tIns="63500" rIns="63500" bIns="63500" rtlCol="0" anchor="ctr"/>
          <a:lstStyle/>
          <a:p>
            <a:pPr algn="ctr">
              <a:defRPr/>
            </a:pPr>
            <a:endParaRPr/>
          </a:p>
        </p:txBody>
      </p:sp>
      <p:pic>
        <p:nvPicPr>
          <p:cNvPr id="49" name="Picture 4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438900" y="5554980"/>
            <a:ext cx="304800" cy="304800"/>
          </a:xfrm>
          <a:prstGeom prst="rect">
            <a:avLst/>
          </a:prstGeom>
        </p:spPr>
      </p:pic>
      <p:sp>
        <p:nvSpPr>
          <p:cNvPr id="50" name="AutoShape 50"/>
          <p:cNvSpPr/>
          <p:nvPr/>
        </p:nvSpPr>
        <p:spPr>
          <a:xfrm>
            <a:off x="6800850" y="5715038"/>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显式用户访问窗口</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标记可恢复区域，将用户态非法访问转为EFAULT错误码，而非直接panic，提升系统健壮性</a:t>
            </a:r>
            <a:r>
              <a:rPr lang="en-US" sz="1200" b="0" i="0" u="none" strike="noStrike" dirty="0">
                <a:solidFill>
                  <a:srgbClr val="FFFFFF">
                    <a:alpha val="60000"/>
                  </a:srgbClr>
                </a:solidFill>
                <a:latin typeface="Noto Sans SC"/>
                <a:ea typeface="Noto Sans SC"/>
                <a:cs typeface="Noto Sans SC"/>
                <a:sym typeface="Noto Sans SC"/>
              </a:rPr>
              <a:t>。</a:t>
            </a:r>
          </a:p>
        </p:txBody>
      </p:sp>
      <p:sp>
        <p:nvSpPr>
          <p:cNvPr id="51" name="AutoShape 51"/>
          <p:cNvSpPr/>
          <p:nvPr/>
        </p:nvSpPr>
        <p:spPr>
          <a:xfrm>
            <a:off x="9194800" y="4294505"/>
            <a:ext cx="2603500" cy="1039494"/>
          </a:xfrm>
          <a:prstGeom prst="roundRect">
            <a:avLst>
              <a:gd name="adj" fmla="val 0"/>
            </a:avLst>
          </a:prstGeom>
          <a:solidFill>
            <a:srgbClr val="F59E0B">
              <a:alpha val="1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pic>
        <p:nvPicPr>
          <p:cNvPr id="52" name="Picture 5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283700" y="4323080"/>
            <a:ext cx="304800" cy="304800"/>
          </a:xfrm>
          <a:prstGeom prst="rect">
            <a:avLst/>
          </a:prstGeom>
        </p:spPr>
      </p:pic>
      <p:sp>
        <p:nvSpPr>
          <p:cNvPr id="53" name="AutoShape 53"/>
          <p:cNvSpPr/>
          <p:nvPr/>
        </p:nvSpPr>
        <p:spPr>
          <a:xfrm>
            <a:off x="9639300" y="4394835"/>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FFFFF"/>
                </a:solidFill>
                <a:latin typeface="Noto Sans SC"/>
                <a:ea typeface="Noto Sans SC"/>
                <a:cs typeface="Noto Sans SC"/>
                <a:sym typeface="Noto Sans SC"/>
              </a:rPr>
              <a:t>缺页转错误处理</a:t>
            </a:r>
            <a:endParaRPr lang="en-US" sz="1100" dirty="0"/>
          </a:p>
          <a:p>
            <a:pPr marL="0" indent="0" algn="l">
              <a:lnSpc>
                <a:spcPct val="125000"/>
              </a:lnSpc>
            </a:pPr>
            <a:r>
              <a:rPr lang="en-US" sz="1200" b="0" i="0" u="none" strike="noStrike" dirty="0" err="1">
                <a:solidFill>
                  <a:srgbClr val="FFFFFF">
                    <a:alpha val="60000"/>
                  </a:srgbClr>
                </a:solidFill>
                <a:latin typeface="Noto Sans SC"/>
                <a:ea typeface="Noto Sans SC"/>
                <a:cs typeface="Noto Sans SC"/>
                <a:sym typeface="Noto Sans SC"/>
              </a:rPr>
              <a:t>缺页异常处理失败时，统一转换为EFAULT错误返回给用户，避免内核空间被非法访问击穿</a:t>
            </a:r>
            <a:r>
              <a:rPr lang="en-US" sz="1200" b="0" i="0" u="none" strike="noStrike" dirty="0">
                <a:solidFill>
                  <a:srgbClr val="FFFFFF">
                    <a:alpha val="60000"/>
                  </a:srgbClr>
                </a:solidFill>
                <a:latin typeface="Noto Sans SC"/>
                <a:ea typeface="Noto Sans SC"/>
                <a:cs typeface="Noto Sans SC"/>
                <a:sym typeface="Noto Sans SC"/>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22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用户态执行环境</a:t>
            </a:r>
            <a:endParaRPr lang="en-US" sz="1100"/>
          </a:p>
        </p:txBody>
      </p:sp>
      <p:sp>
        <p:nvSpPr>
          <p:cNvPr id="3" name="AutoShape 3"/>
          <p:cNvSpPr/>
          <p:nvPr/>
        </p:nvSpPr>
        <p:spPr>
          <a:xfrm>
            <a:off x="508000" y="1143000"/>
            <a:ext cx="1016000" cy="508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6510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solidFill>
                <a:latin typeface="Noto Sans SC"/>
                <a:ea typeface="Noto Sans SC"/>
                <a:cs typeface="Noto Sans SC"/>
                <a:sym typeface="Noto Sans SC"/>
              </a:rPr>
              <a:t>阶段化 ELF 装载 + 事务性 execve</a:t>
            </a:r>
            <a:endParaRPr lang="en-US" sz="1100"/>
          </a:p>
        </p:txBody>
      </p:sp>
      <p:sp>
        <p:nvSpPr>
          <p:cNvPr id="5" name="AutoShape 5"/>
          <p:cNvSpPr/>
          <p:nvPr/>
        </p:nvSpPr>
        <p:spPr>
          <a:xfrm>
            <a:off x="508000" y="2286000"/>
            <a:ext cx="3302000" cy="1079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2413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D9FF"/>
                </a:solidFill>
                <a:latin typeface="Noto Sans SC"/>
                <a:ea typeface="Noto Sans SC"/>
                <a:cs typeface="Noto Sans SC"/>
                <a:sym typeface="Noto Sans SC"/>
              </a:rPr>
              <a:t>01. ExecRequest (执行请求)</a:t>
            </a:r>
            <a:endParaRPr lang="en-US" sz="1100"/>
          </a:p>
          <a:p>
            <a:pPr marL="0" indent="0" algn="l">
              <a:lnSpc>
                <a:spcPct val="125000"/>
              </a:lnSpc>
            </a:pPr>
            <a:r>
              <a:rPr lang="en-US" sz="1300" b="0" i="0" u="none" strike="noStrike">
                <a:solidFill>
                  <a:srgbClr val="FFFFFF">
                    <a:alpha val="80000"/>
                  </a:srgbClr>
                </a:solidFill>
                <a:latin typeface="Noto Sans SC"/>
                <a:ea typeface="Noto Sans SC"/>
                <a:cs typeface="Noto Sans SC"/>
                <a:sym typeface="Noto Sans SC"/>
              </a:rPr>
              <a:t>解析用户参数，创建临时 VmSpace 骨架，验证系统调用合法性，建立执行上下文。</a:t>
            </a:r>
          </a:p>
        </p:txBody>
      </p:sp>
      <p:cxnSp>
        <p:nvCxnSpPr>
          <p:cNvPr id="7" name="Connector 7"/>
          <p:cNvCxnSpPr/>
          <p:nvPr/>
        </p:nvCxnSpPr>
        <p:spPr>
          <a:xfrm rot="-114549">
            <a:off x="4064106" y="2813050"/>
            <a:ext cx="381000" cy="12700"/>
          </a:xfrm>
          <a:prstGeom prst="line">
            <a:avLst/>
          </a:prstGeom>
          <a:solidFill>
            <a:srgbClr val="DEE0E3">
              <a:alpha val="100000"/>
            </a:srgbClr>
          </a:solidFill>
          <a:ln w="25400" cap="flat" cmpd="sng">
            <a:solidFill>
              <a:srgbClr val="FFFFFF">
                <a:alpha val="40000"/>
              </a:srgbClr>
            </a:solidFill>
            <a:prstDash val="solid"/>
            <a:round/>
            <a:headEnd type="none" w="lg" len="lg"/>
            <a:tailEnd type="arrow" w="sm" len="sm"/>
          </a:ln>
        </p:spPr>
      </p:cxnSp>
      <p:sp>
        <p:nvSpPr>
          <p:cNvPr id="8" name="AutoShape 8"/>
          <p:cNvSpPr/>
          <p:nvPr/>
        </p:nvSpPr>
        <p:spPr>
          <a:xfrm>
            <a:off x="4572000" y="2286000"/>
            <a:ext cx="3302000" cy="1079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699000" y="2413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D9FF"/>
                </a:solidFill>
                <a:latin typeface="Noto Sans SC"/>
                <a:ea typeface="Noto Sans SC"/>
                <a:cs typeface="Noto Sans SC"/>
                <a:sym typeface="Noto Sans SC"/>
              </a:rPr>
              <a:t>02. ParsedImage (解析镜像)</a:t>
            </a:r>
            <a:endParaRPr lang="en-US" sz="1100"/>
          </a:p>
          <a:p>
            <a:pPr marL="0" indent="0" algn="l">
              <a:lnSpc>
                <a:spcPct val="125000"/>
              </a:lnSpc>
            </a:pPr>
            <a:r>
              <a:rPr lang="en-US" sz="1300" b="0" i="0" u="none" strike="noStrike">
                <a:solidFill>
                  <a:srgbClr val="FFFFFF">
                    <a:alpha val="80000"/>
                  </a:srgbClr>
                </a:solidFill>
                <a:latin typeface="Noto Sans SC"/>
                <a:ea typeface="Noto Sans SC"/>
                <a:cs typeface="Noto Sans SC"/>
                <a:sym typeface="Noto Sans SC"/>
              </a:rPr>
              <a:t>校验 ELF 结构完整性，解析程序头/节头，处理解释器依赖，映射必要的元数据。</a:t>
            </a:r>
          </a:p>
        </p:txBody>
      </p:sp>
      <p:cxnSp>
        <p:nvCxnSpPr>
          <p:cNvPr id="10" name="Connector 10"/>
          <p:cNvCxnSpPr/>
          <p:nvPr/>
        </p:nvCxnSpPr>
        <p:spPr>
          <a:xfrm rot="-114549">
            <a:off x="8001106" y="2813050"/>
            <a:ext cx="381000" cy="12700"/>
          </a:xfrm>
          <a:prstGeom prst="line">
            <a:avLst/>
          </a:prstGeom>
          <a:solidFill>
            <a:srgbClr val="DEE0E3">
              <a:alpha val="100000"/>
            </a:srgbClr>
          </a:solidFill>
          <a:ln w="25400" cap="flat" cmpd="sng">
            <a:solidFill>
              <a:srgbClr val="FFFFFF">
                <a:alpha val="40000"/>
              </a:srgbClr>
            </a:solidFill>
            <a:prstDash val="solid"/>
            <a:round/>
            <a:headEnd type="none" w="lg" len="lg"/>
            <a:tailEnd type="arrow" w="sm" len="sm"/>
          </a:ln>
        </p:spPr>
      </p:cxnSp>
      <p:sp>
        <p:nvSpPr>
          <p:cNvPr id="11" name="AutoShape 11"/>
          <p:cNvSpPr/>
          <p:nvPr/>
        </p:nvSpPr>
        <p:spPr>
          <a:xfrm>
            <a:off x="8509000" y="2286000"/>
            <a:ext cx="3175000" cy="1079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636000" y="24130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00D9FF"/>
                </a:solidFill>
                <a:latin typeface="Noto Sans SC"/>
                <a:ea typeface="Noto Sans SC"/>
                <a:cs typeface="Noto Sans SC"/>
                <a:sym typeface="Noto Sans SC"/>
              </a:rPr>
              <a:t>03. </a:t>
            </a:r>
            <a:r>
              <a:rPr lang="en-US" sz="1600" b="1" i="0" u="none" strike="noStrike" dirty="0" err="1">
                <a:solidFill>
                  <a:srgbClr val="00D9FF"/>
                </a:solidFill>
                <a:latin typeface="Noto Sans SC"/>
                <a:ea typeface="Noto Sans SC"/>
                <a:cs typeface="Noto Sans SC"/>
                <a:sym typeface="Noto Sans SC"/>
              </a:rPr>
              <a:t>LoadedUserImage</a:t>
            </a:r>
            <a:r>
              <a:rPr lang="en-US" sz="1600" b="1" i="0" u="none" strike="noStrike" dirty="0">
                <a:solidFill>
                  <a:srgbClr val="00D9FF"/>
                </a:solidFill>
                <a:latin typeface="Noto Sans SC"/>
                <a:ea typeface="Noto Sans SC"/>
                <a:cs typeface="Noto Sans SC"/>
                <a:sym typeface="Noto Sans SC"/>
              </a:rPr>
              <a:t> (</a:t>
            </a:r>
            <a:r>
              <a:rPr lang="en-US" sz="1600" b="1" i="0" u="none" strike="noStrike" dirty="0" err="1">
                <a:solidFill>
                  <a:srgbClr val="00D9FF"/>
                </a:solidFill>
                <a:latin typeface="Noto Sans SC"/>
                <a:ea typeface="Noto Sans SC"/>
                <a:cs typeface="Noto Sans SC"/>
                <a:sym typeface="Noto Sans SC"/>
              </a:rPr>
              <a:t>加载完成</a:t>
            </a:r>
            <a:r>
              <a:rPr lang="en-US" sz="1600" b="1" i="0" u="none" strike="noStrike" dirty="0">
                <a:solidFill>
                  <a:srgbClr val="00D9FF"/>
                </a:solidFill>
                <a:latin typeface="Noto Sans SC"/>
                <a:ea typeface="Noto Sans SC"/>
                <a:cs typeface="Noto Sans SC"/>
                <a:sym typeface="Noto Sans SC"/>
              </a:rPr>
              <a:t>)</a:t>
            </a:r>
            <a:endParaRPr lang="en-US" sz="1100" dirty="0"/>
          </a:p>
          <a:p>
            <a:pPr marL="0" indent="0" algn="l">
              <a:lnSpc>
                <a:spcPct val="125000"/>
              </a:lnSpc>
            </a:pPr>
            <a:r>
              <a:rPr lang="en-US" sz="1300" b="0" i="0" u="none" strike="noStrike" dirty="0" err="1">
                <a:solidFill>
                  <a:srgbClr val="FFFFFF">
                    <a:alpha val="80000"/>
                  </a:srgbClr>
                </a:solidFill>
                <a:latin typeface="Noto Sans SC"/>
                <a:ea typeface="Noto Sans SC"/>
                <a:cs typeface="Noto Sans SC"/>
                <a:sym typeface="Noto Sans SC"/>
              </a:rPr>
              <a:t>映射</a:t>
            </a:r>
            <a:r>
              <a:rPr lang="en-US" sz="1300" b="0" i="0" u="none" strike="noStrike" dirty="0">
                <a:solidFill>
                  <a:srgbClr val="FFFFFF">
                    <a:alpha val="80000"/>
                  </a:srgbClr>
                </a:solidFill>
                <a:latin typeface="Noto Sans SC"/>
                <a:ea typeface="Noto Sans SC"/>
                <a:cs typeface="Noto Sans SC"/>
                <a:sym typeface="Noto Sans SC"/>
              </a:rPr>
              <a:t> PT_LOAD </a:t>
            </a:r>
            <a:r>
              <a:rPr lang="en-US" sz="1300" b="0" i="0" u="none" strike="noStrike" dirty="0" err="1">
                <a:solidFill>
                  <a:srgbClr val="FFFFFF">
                    <a:alpha val="80000"/>
                  </a:srgbClr>
                </a:solidFill>
                <a:latin typeface="Noto Sans SC"/>
                <a:ea typeface="Noto Sans SC"/>
                <a:cs typeface="Noto Sans SC"/>
                <a:sym typeface="Noto Sans SC"/>
              </a:rPr>
              <a:t>段，初始化堆栈空间，安装信号处理，原子替换旧地址空间</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13" name="AutoShape 13"/>
          <p:cNvSpPr/>
          <p:nvPr/>
        </p:nvSpPr>
        <p:spPr>
          <a:xfrm>
            <a:off x="508000" y="35560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00D9FF"/>
                </a:solidFill>
                <a:latin typeface="Noto Sans SC"/>
                <a:ea typeface="Noto Sans SC"/>
                <a:cs typeface="Noto Sans SC"/>
                <a:sym typeface="Noto Sans SC"/>
              </a:rPr>
              <a:t>核心机制：新 VmSpace 完全构造后才进行地址空间切换，失败时旧地址空间保持不变，确保系统稳定性。</a:t>
            </a:r>
            <a:endParaRPr lang="en-US" sz="1100"/>
          </a:p>
        </p:txBody>
      </p:sp>
      <p:cxnSp>
        <p:nvCxnSpPr>
          <p:cNvPr id="14" name="Connector 14"/>
          <p:cNvCxnSpPr/>
          <p:nvPr/>
        </p:nvCxnSpPr>
        <p:spPr>
          <a:xfrm rot="-3906">
            <a:off x="508004" y="4184650"/>
            <a:ext cx="11176000" cy="12700"/>
          </a:xfrm>
          <a:prstGeom prst="line">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5" name="AutoShape 15"/>
          <p:cNvSpPr/>
          <p:nvPr/>
        </p:nvSpPr>
        <p:spPr>
          <a:xfrm>
            <a:off x="508000" y="4290060"/>
            <a:ext cx="508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FFFFFF"/>
                </a:solidFill>
                <a:latin typeface="Noto Sans SC"/>
                <a:ea typeface="Noto Sans SC"/>
                <a:cs typeface="Noto Sans SC"/>
                <a:sym typeface="Noto Sans SC"/>
              </a:rPr>
              <a:t>▍</a:t>
            </a:r>
            <a:r>
              <a:rPr lang="en-US" sz="1800" b="1" i="0" u="none" strike="noStrike" dirty="0" err="1">
                <a:solidFill>
                  <a:srgbClr val="FFFFFF"/>
                </a:solidFill>
                <a:latin typeface="Noto Sans SC"/>
                <a:ea typeface="Noto Sans SC"/>
                <a:cs typeface="Noto Sans SC"/>
                <a:sym typeface="Noto Sans SC"/>
              </a:rPr>
              <a:t>用户地址空间布局</a:t>
            </a:r>
            <a:r>
              <a:rPr lang="en-US" sz="1800" b="1" i="0" u="none" strike="noStrike" dirty="0">
                <a:solidFill>
                  <a:srgbClr val="FFFFFF"/>
                </a:solidFill>
                <a:latin typeface="Noto Sans SC"/>
                <a:ea typeface="Noto Sans SC"/>
                <a:cs typeface="Noto Sans SC"/>
                <a:sym typeface="Noto Sans SC"/>
              </a:rPr>
              <a:t> (低 → 高)</a:t>
            </a:r>
            <a:endParaRPr lang="en-US" sz="1100" dirty="0"/>
          </a:p>
        </p:txBody>
      </p:sp>
      <p:sp>
        <p:nvSpPr>
          <p:cNvPr id="16" name="AutoShape 16"/>
          <p:cNvSpPr/>
          <p:nvPr/>
        </p:nvSpPr>
        <p:spPr>
          <a:xfrm>
            <a:off x="508000" y="4819015"/>
            <a:ext cx="825500" cy="762000"/>
          </a:xfrm>
          <a:prstGeom prst="roundRect">
            <a:avLst>
              <a:gd name="adj" fmla="val 0"/>
            </a:avLst>
          </a:prstGeom>
          <a:solidFill>
            <a:srgbClr val="64748B">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08000" y="4882515"/>
            <a:ext cx="825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alpha val="70196"/>
                  </a:srgbClr>
                </a:solidFill>
                <a:latin typeface="Noto Sans SC"/>
                <a:ea typeface="Noto Sans SC"/>
                <a:cs typeface="Noto Sans SC"/>
                <a:sym typeface="Noto Sans SC"/>
              </a:rPr>
              <a:t>保留区</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FFFFFF">
                    <a:alpha val="40000"/>
                  </a:srgbClr>
                </a:solidFill>
                <a:latin typeface="Noto Sans SC"/>
                <a:ea typeface="Noto Sans SC"/>
                <a:cs typeface="Noto Sans SC"/>
                <a:sym typeface="Noto Sans SC"/>
              </a:rPr>
              <a:t>0x0000</a:t>
            </a:r>
            <a:endParaRPr lang="en-US" sz="1100"/>
          </a:p>
        </p:txBody>
      </p:sp>
      <p:sp>
        <p:nvSpPr>
          <p:cNvPr id="18" name="AutoShape 18"/>
          <p:cNvSpPr/>
          <p:nvPr/>
        </p:nvSpPr>
        <p:spPr>
          <a:xfrm>
            <a:off x="1460500" y="4819015"/>
            <a:ext cx="825500" cy="7620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460500" y="4882515"/>
            <a:ext cx="825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alpha val="90196"/>
                  </a:srgbClr>
                </a:solidFill>
                <a:latin typeface="Noto Sans SC"/>
                <a:ea typeface="Noto Sans SC"/>
                <a:cs typeface="Noto Sans SC"/>
                <a:sym typeface="Noto Sans SC"/>
              </a:rPr>
              <a:t>程序映像</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FFFFFF">
                    <a:alpha val="50196"/>
                  </a:srgbClr>
                </a:solidFill>
                <a:latin typeface="Noto Sans SC"/>
                <a:ea typeface="Noto Sans SC"/>
                <a:cs typeface="Noto Sans SC"/>
                <a:sym typeface="Noto Sans SC"/>
              </a:rPr>
              <a:t>PIE/Interp</a:t>
            </a:r>
            <a:endParaRPr lang="en-US" sz="1100"/>
          </a:p>
        </p:txBody>
      </p:sp>
      <p:sp>
        <p:nvSpPr>
          <p:cNvPr id="20" name="AutoShape 20"/>
          <p:cNvSpPr/>
          <p:nvPr/>
        </p:nvSpPr>
        <p:spPr>
          <a:xfrm>
            <a:off x="2413000" y="4819015"/>
            <a:ext cx="825500" cy="762000"/>
          </a:xfrm>
          <a:prstGeom prst="roundRect">
            <a:avLst>
              <a:gd name="adj" fmla="val 0"/>
            </a:avLst>
          </a:prstGeom>
          <a:solidFill>
            <a:srgbClr val="84CC16">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2413000" y="4882515"/>
            <a:ext cx="825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alpha val="90196"/>
                  </a:srgbClr>
                </a:solidFill>
                <a:latin typeface="Noto Sans SC"/>
                <a:ea typeface="Noto Sans SC"/>
                <a:cs typeface="Noto Sans SC"/>
                <a:sym typeface="Noto Sans SC"/>
              </a:rPr>
              <a:t>堆 (brk)</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FFFFFF">
                    <a:alpha val="50196"/>
                  </a:srgbClr>
                </a:solidFill>
                <a:latin typeface="Noto Sans SC"/>
                <a:ea typeface="Noto Sans SC"/>
                <a:cs typeface="Noto Sans SC"/>
                <a:sym typeface="Noto Sans SC"/>
              </a:rPr>
              <a:t>向上生长</a:t>
            </a:r>
            <a:endParaRPr lang="en-US" sz="1100"/>
          </a:p>
        </p:txBody>
      </p:sp>
      <p:sp>
        <p:nvSpPr>
          <p:cNvPr id="22" name="AutoShape 22"/>
          <p:cNvSpPr/>
          <p:nvPr/>
        </p:nvSpPr>
        <p:spPr>
          <a:xfrm>
            <a:off x="3365500" y="4819015"/>
            <a:ext cx="825500" cy="762000"/>
          </a:xfrm>
          <a:prstGeom prst="roundRect">
            <a:avLst>
              <a:gd name="adj" fmla="val 0"/>
            </a:avLst>
          </a:prstGeom>
          <a:solidFill>
            <a:srgbClr val="06B6D4">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365500" y="4882515"/>
            <a:ext cx="825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alpha val="90196"/>
                  </a:srgbClr>
                </a:solidFill>
                <a:latin typeface="Noto Sans SC"/>
                <a:ea typeface="Noto Sans SC"/>
                <a:cs typeface="Noto Sans SC"/>
                <a:sym typeface="Noto Sans SC"/>
              </a:rPr>
              <a:t>MMap区</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FFFFFF">
                    <a:alpha val="50196"/>
                  </a:srgbClr>
                </a:solidFill>
                <a:latin typeface="Noto Sans SC"/>
                <a:ea typeface="Noto Sans SC"/>
                <a:cs typeface="Noto Sans SC"/>
                <a:sym typeface="Noto Sans SC"/>
              </a:rPr>
              <a:t>动态映射</a:t>
            </a:r>
            <a:endParaRPr lang="en-US" sz="1100"/>
          </a:p>
        </p:txBody>
      </p:sp>
      <p:sp>
        <p:nvSpPr>
          <p:cNvPr id="24" name="AutoShape 24"/>
          <p:cNvSpPr/>
          <p:nvPr/>
        </p:nvSpPr>
        <p:spPr>
          <a:xfrm>
            <a:off x="4318000" y="4819015"/>
            <a:ext cx="825500" cy="762000"/>
          </a:xfrm>
          <a:prstGeom prst="roundRect">
            <a:avLst>
              <a:gd name="adj" fmla="val 0"/>
            </a:avLst>
          </a:prstGeom>
          <a:solidFill>
            <a:srgbClr val="8B5CF6">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318000" y="4882515"/>
            <a:ext cx="825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alpha val="90196"/>
                  </a:srgbClr>
                </a:solidFill>
                <a:latin typeface="Noto Sans SC"/>
                <a:ea typeface="Noto Sans SC"/>
                <a:cs typeface="Noto Sans SC"/>
                <a:sym typeface="Noto Sans SC"/>
              </a:rPr>
              <a:t>vDSO</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FFFFFF">
                    <a:alpha val="50196"/>
                  </a:srgbClr>
                </a:solidFill>
                <a:latin typeface="Noto Sans SC"/>
                <a:ea typeface="Noto Sans SC"/>
                <a:cs typeface="Noto Sans SC"/>
                <a:sym typeface="Noto Sans SC"/>
              </a:rPr>
              <a:t>内核共享</a:t>
            </a:r>
            <a:endParaRPr lang="en-US" sz="1100"/>
          </a:p>
        </p:txBody>
      </p:sp>
      <p:sp>
        <p:nvSpPr>
          <p:cNvPr id="26" name="AutoShape 26"/>
          <p:cNvSpPr/>
          <p:nvPr/>
        </p:nvSpPr>
        <p:spPr>
          <a:xfrm>
            <a:off x="508000" y="5842000"/>
            <a:ext cx="4635500" cy="635000"/>
          </a:xfrm>
          <a:prstGeom prst="roundRect">
            <a:avLst>
              <a:gd name="adj" fmla="val 0"/>
            </a:avLst>
          </a:prstGeom>
          <a:solidFill>
            <a:srgbClr val="F59E0B">
              <a:alpha val="15000"/>
            </a:srgbClr>
          </a:solidFill>
          <a:ln w="12700" cap="flat" cmpd="sng">
            <a:solidFill>
              <a:srgbClr val="F59E0B">
                <a:alpha val="4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35000" y="5905500"/>
            <a:ext cx="438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59E0B"/>
                </a:solidFill>
                <a:latin typeface="Noto Sans SC"/>
                <a:ea typeface="Noto Sans SC"/>
                <a:cs typeface="Noto Sans SC"/>
                <a:sym typeface="Noto Sans SC"/>
              </a:rPr>
              <a:t>用户栈 (Stack)：</a:t>
            </a:r>
            <a:r>
              <a:rPr lang="en-US" sz="1200" b="0" i="0" u="none" strike="noStrike">
                <a:solidFill>
                  <a:srgbClr val="FFFFFF">
                    <a:alpha val="70196"/>
                  </a:srgbClr>
                </a:solidFill>
                <a:latin typeface="Noto Sans SC"/>
                <a:ea typeface="Noto Sans SC"/>
                <a:cs typeface="Noto Sans SC"/>
                <a:sym typeface="Noto Sans SC"/>
              </a:rPr>
              <a:t>位于高地址区域，向低地址生长 (GROWS_DOWN)，包含环境变量与命令行参数。</a:t>
            </a:r>
            <a:endParaRPr lang="en-US" sz="1100"/>
          </a:p>
        </p:txBody>
      </p:sp>
      <p:cxnSp>
        <p:nvCxnSpPr>
          <p:cNvPr id="28" name="Connector 28"/>
          <p:cNvCxnSpPr/>
          <p:nvPr/>
        </p:nvCxnSpPr>
        <p:spPr>
          <a:xfrm rot="5378514">
            <a:off x="4547235" y="5454670"/>
            <a:ext cx="2032000" cy="12700"/>
          </a:xfrm>
          <a:prstGeom prst="line">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9" name="AutoShape 29"/>
          <p:cNvSpPr/>
          <p:nvPr/>
        </p:nvSpPr>
        <p:spPr>
          <a:xfrm>
            <a:off x="5982970" y="4283714"/>
            <a:ext cx="5461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FFFFFF"/>
                </a:solidFill>
                <a:latin typeface="Noto Sans SC"/>
                <a:ea typeface="Noto Sans SC"/>
                <a:cs typeface="Noto Sans SC"/>
                <a:sym typeface="Noto Sans SC"/>
              </a:rPr>
              <a:t>▍</a:t>
            </a:r>
            <a:r>
              <a:rPr lang="en-US" sz="1800" b="1" i="0" u="none" strike="noStrike" dirty="0" err="1">
                <a:solidFill>
                  <a:srgbClr val="FFFFFF"/>
                </a:solidFill>
                <a:latin typeface="Noto Sans SC"/>
                <a:ea typeface="Noto Sans SC"/>
                <a:cs typeface="Noto Sans SC"/>
                <a:sym typeface="Noto Sans SC"/>
              </a:rPr>
              <a:t>关键</a:t>
            </a:r>
            <a:r>
              <a:rPr lang="en-US" sz="1800" b="1" i="0" u="none" strike="noStrike" dirty="0">
                <a:solidFill>
                  <a:srgbClr val="FFFFFF"/>
                </a:solidFill>
                <a:latin typeface="Noto Sans SC"/>
                <a:ea typeface="Noto Sans SC"/>
                <a:cs typeface="Noto Sans SC"/>
                <a:sym typeface="Noto Sans SC"/>
              </a:rPr>
              <a:t> ELF </a:t>
            </a:r>
            <a:r>
              <a:rPr lang="en-US" sz="1800" b="1" i="0" u="none" strike="noStrike" dirty="0" err="1">
                <a:solidFill>
                  <a:srgbClr val="FFFFFF"/>
                </a:solidFill>
                <a:latin typeface="Noto Sans SC"/>
                <a:ea typeface="Noto Sans SC"/>
                <a:cs typeface="Noto Sans SC"/>
                <a:sym typeface="Noto Sans SC"/>
              </a:rPr>
              <a:t>合法性校验</a:t>
            </a:r>
            <a:endParaRPr lang="en-US" sz="1100" dirty="0"/>
          </a:p>
        </p:txBody>
      </p:sp>
      <p:graphicFrame>
        <p:nvGraphicFramePr>
          <p:cNvPr id="30" name="Table 30"/>
          <p:cNvGraphicFramePr>
            <a:graphicFrameLocks noGrp="1"/>
          </p:cNvGraphicFramePr>
          <p:nvPr>
            <p:extLst>
              <p:ext uri="{D42A27DB-BD31-4B8C-83A1-F6EECF244321}">
                <p14:modId xmlns:p14="http://schemas.microsoft.com/office/powerpoint/2010/main" val="896925976"/>
              </p:ext>
            </p:extLst>
          </p:nvPr>
        </p:nvGraphicFramePr>
        <p:xfrm>
          <a:off x="5977888" y="4693924"/>
          <a:ext cx="5699759" cy="1173480"/>
        </p:xfrm>
        <a:graphic>
          <a:graphicData uri="http://schemas.openxmlformats.org/drawingml/2006/table">
            <a:tbl>
              <a:tblPr>
                <a:effectLst/>
              </a:tblPr>
              <a:tblGrid>
                <a:gridCol w="1103624">
                  <a:extLst>
                    <a:ext uri="{9D8B030D-6E8A-4147-A177-3AD203B41FA5}">
                      <a16:colId xmlns:a16="http://schemas.microsoft.com/office/drawing/2014/main" xmlns="" val="20000"/>
                    </a:ext>
                  </a:extLst>
                </a:gridCol>
                <a:gridCol w="1011510">
                  <a:extLst>
                    <a:ext uri="{9D8B030D-6E8A-4147-A177-3AD203B41FA5}">
                      <a16:colId xmlns:a16="http://schemas.microsoft.com/office/drawing/2014/main" xmlns="" val="20001"/>
                    </a:ext>
                  </a:extLst>
                </a:gridCol>
                <a:gridCol w="3584625">
                  <a:extLst>
                    <a:ext uri="{9D8B030D-6E8A-4147-A177-3AD203B41FA5}">
                      <a16:colId xmlns:a16="http://schemas.microsoft.com/office/drawing/2014/main" xmlns="" val="20002"/>
                    </a:ext>
                  </a:extLst>
                </a:gridCol>
              </a:tblGrid>
              <a:tr h="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校验项</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错误码</a:t>
                      </a:r>
                      <a:endParaRPr lang="en-US" sz="1100"/>
                    </a:p>
                  </a:txBody>
                  <a:tcPr marL="101600" marR="101600" marT="101600" marB="101600" anchor="ctr">
                    <a:lnL>
                      <a:noFill/>
                    </a:lnL>
                    <a:lnR>
                      <a:noFill/>
                    </a:lnR>
                    <a:lnT>
                      <a:noFill/>
                    </a:lnT>
                    <a:lnB>
                      <a:noFill/>
                    </a:lnB>
                    <a:solidFill>
                      <a:srgbClr val="2A2A4A">
                        <a:alpha val="100000"/>
                      </a:srgbClr>
                    </a:solidFill>
                  </a:tcPr>
                </a:tc>
                <a:tc>
                  <a:txBody>
                    <a:bodyPr/>
                    <a:lstStyle/>
                    <a:p>
                      <a:pPr marL="0" indent="0" algn="ctr">
                        <a:lnSpc>
                          <a:spcPct val="100000"/>
                        </a:lnSpc>
                        <a:defRPr/>
                      </a:pPr>
                      <a:r>
                        <a:rPr lang="en-US" sz="1300" b="1" i="0" u="none" strike="noStrike" dirty="0" err="1">
                          <a:solidFill>
                            <a:srgbClr val="FFFFFF"/>
                          </a:solidFill>
                          <a:latin typeface="Noto Sans SC"/>
                          <a:ea typeface="Noto Sans SC"/>
                          <a:cs typeface="Noto Sans SC"/>
                          <a:sym typeface="Noto Sans SC"/>
                        </a:rPr>
                        <a:t>校验说明</a:t>
                      </a:r>
                      <a:endParaRPr lang="en-US" sz="1100" dirty="0"/>
                    </a:p>
                  </a:txBody>
                  <a:tcPr marL="101600" marR="101600" marT="101600" marB="101600" anchor="ctr">
                    <a:lnL>
                      <a:noFill/>
                    </a:lnL>
                    <a:lnR>
                      <a:noFill/>
                    </a:lnR>
                    <a:lnT>
                      <a:noFill/>
                    </a:lnT>
                    <a:lnB>
                      <a:noFill/>
                    </a:lnB>
                    <a:solidFill>
                      <a:srgbClr val="2A2A4A">
                        <a:alpha val="100000"/>
                      </a:srgbClr>
                    </a:solidFill>
                  </a:tcPr>
                </a:tc>
                <a:extLst>
                  <a:ext uri="{0D108BD9-81ED-4DB2-BD59-A6C34878D82A}">
                    <a16:rowId xmlns:a16="http://schemas.microsoft.com/office/drawing/2014/main" xmlns="" val="10000"/>
                  </a:ext>
                </a:extLst>
              </a:tr>
              <a:tr h="0">
                <a:tc>
                  <a:txBody>
                    <a:bodyPr/>
                    <a:lstStyle/>
                    <a:p>
                      <a:pPr marL="0" indent="0" algn="ctr">
                        <a:lnSpc>
                          <a:spcPct val="100000"/>
                        </a:lnSpc>
                        <a:defRPr/>
                      </a:pPr>
                      <a:r>
                        <a:rPr lang="en-US" sz="1200" b="0" i="0" u="none" strike="noStrike" dirty="0" err="1">
                          <a:solidFill>
                            <a:srgbClr val="FFFFFF">
                              <a:alpha val="80000"/>
                            </a:srgbClr>
                          </a:solidFill>
                          <a:latin typeface="Noto Sans SC"/>
                          <a:ea typeface="Noto Sans SC"/>
                          <a:cs typeface="Noto Sans SC"/>
                          <a:sym typeface="Noto Sans SC"/>
                        </a:rPr>
                        <a:t>文件头魔数</a:t>
                      </a:r>
                      <a:endParaRPr lang="en-US" sz="1100" dirty="0"/>
                    </a:p>
                  </a:txBody>
                  <a:tcPr marL="101600" marR="101600" marT="101600" marB="101600" anchor="ctr">
                    <a:lnL>
                      <a:noFill/>
                    </a:lnL>
                    <a:lnR>
                      <a:noFill/>
                    </a:lnR>
                    <a:lnT>
                      <a:noFill/>
                    </a:lnT>
                    <a:lnB>
                      <a:noFill/>
                    </a:lnB>
                    <a:solidFill>
                      <a:srgbClr val="1E1E3A">
                        <a:alpha val="100000"/>
                      </a:srgbClr>
                    </a:solidFill>
                  </a:tcPr>
                </a:tc>
                <a:tc>
                  <a:txBody>
                    <a:bodyPr/>
                    <a:lstStyle/>
                    <a:p>
                      <a:pPr marL="0" indent="0" algn="ctr">
                        <a:lnSpc>
                          <a:spcPct val="100000"/>
                        </a:lnSpc>
                        <a:defRPr/>
                      </a:pPr>
                      <a:r>
                        <a:rPr lang="en-US" sz="1200" b="0" i="0" u="none" strike="noStrike">
                          <a:solidFill>
                            <a:srgbClr val="FF6464"/>
                          </a:solidFill>
                          <a:latin typeface="Noto Sans SC"/>
                          <a:ea typeface="Noto Sans SC"/>
                          <a:cs typeface="Noto Sans SC"/>
                          <a:sym typeface="Noto Sans SC"/>
                        </a:rPr>
                        <a:t>ENOEXEC</a:t>
                      </a:r>
                      <a:endParaRPr lang="en-US" sz="1100"/>
                    </a:p>
                  </a:txBody>
                  <a:tcPr marL="101600" marR="101600" marT="101600" marB="101600" anchor="ctr">
                    <a:lnL>
                      <a:noFill/>
                    </a:lnL>
                    <a:lnR>
                      <a:noFill/>
                    </a:lnR>
                    <a:lnT>
                      <a:noFill/>
                    </a:lnT>
                    <a:lnB>
                      <a:noFill/>
                    </a:lnB>
                    <a:solidFill>
                      <a:srgbClr val="1E1E3A">
                        <a:alpha val="100000"/>
                      </a:srgbClr>
                    </a:solidFill>
                  </a:tcPr>
                </a:tc>
                <a:tc>
                  <a:txBody>
                    <a:bodyPr/>
                    <a:lstStyle/>
                    <a:p>
                      <a:pPr marL="0" indent="0" algn="l">
                        <a:lnSpc>
                          <a:spcPct val="100000"/>
                        </a:lnSpc>
                        <a:defRPr/>
                      </a:pPr>
                      <a:r>
                        <a:rPr lang="en-US" sz="1200" b="0" i="0" u="none" strike="noStrike" dirty="0">
                          <a:solidFill>
                            <a:srgbClr val="FFFFFF">
                              <a:alpha val="70196"/>
                            </a:srgbClr>
                          </a:solidFill>
                          <a:latin typeface="Noto Sans SC"/>
                          <a:ea typeface="Noto Sans SC"/>
                          <a:cs typeface="Noto Sans SC"/>
                          <a:sym typeface="Noto Sans SC"/>
                        </a:rPr>
                        <a:t>非 ELF </a:t>
                      </a:r>
                      <a:r>
                        <a:rPr lang="en-US" sz="1200" b="0" i="0" u="none" strike="noStrike" dirty="0" err="1">
                          <a:solidFill>
                            <a:srgbClr val="FFFFFF">
                              <a:alpha val="70196"/>
                            </a:srgbClr>
                          </a:solidFill>
                          <a:latin typeface="Noto Sans SC"/>
                          <a:ea typeface="Noto Sans SC"/>
                          <a:cs typeface="Noto Sans SC"/>
                          <a:sym typeface="Noto Sans SC"/>
                        </a:rPr>
                        <a:t>格式、魔数不匹配或文件结构损坏</a:t>
                      </a:r>
                      <a:endParaRPr lang="en-US" sz="1100" dirty="0"/>
                    </a:p>
                  </a:txBody>
                  <a:tcPr marL="101600" marR="101600" marT="101600" marB="101600" anchor="ctr">
                    <a:lnL>
                      <a:noFill/>
                    </a:lnL>
                    <a:lnR>
                      <a:noFill/>
                    </a:lnR>
                    <a:lnT>
                      <a:noFill/>
                    </a:lnT>
                    <a:lnB>
                      <a:noFill/>
                    </a:lnB>
                    <a:solidFill>
                      <a:srgbClr val="1E1E3A">
                        <a:alpha val="100000"/>
                      </a:srgbClr>
                    </a:solidFill>
                  </a:tcPr>
                </a:tc>
                <a:extLst>
                  <a:ext uri="{0D108BD9-81ED-4DB2-BD59-A6C34878D82A}">
                    <a16:rowId xmlns:a16="http://schemas.microsoft.com/office/drawing/2014/main" xmlns="" val="10001"/>
                  </a:ext>
                </a:extLst>
              </a:tr>
              <a:tr h="0">
                <a:tc>
                  <a:txBody>
                    <a:bodyPr/>
                    <a:lstStyle/>
                    <a:p>
                      <a:pPr marL="0" indent="0" algn="ctr">
                        <a:lnSpc>
                          <a:spcPct val="100000"/>
                        </a:lnSpc>
                        <a:defRPr/>
                      </a:pPr>
                      <a:r>
                        <a:rPr lang="en-US" sz="1200" b="0" i="0" u="none" strike="noStrike" dirty="0" err="1">
                          <a:solidFill>
                            <a:srgbClr val="FFFFFF">
                              <a:alpha val="80000"/>
                            </a:srgbClr>
                          </a:solidFill>
                          <a:latin typeface="Noto Sans SC"/>
                          <a:ea typeface="Noto Sans SC"/>
                          <a:cs typeface="Noto Sans SC"/>
                          <a:sym typeface="Noto Sans SC"/>
                        </a:rPr>
                        <a:t>权限</a:t>
                      </a:r>
                      <a:r>
                        <a:rPr lang="en-US" sz="1200" b="0" i="0" u="none" strike="noStrike" dirty="0">
                          <a:solidFill>
                            <a:srgbClr val="FFFFFF">
                              <a:alpha val="80000"/>
                            </a:srgbClr>
                          </a:solidFill>
                          <a:latin typeface="Noto Sans SC"/>
                          <a:ea typeface="Noto Sans SC"/>
                          <a:cs typeface="Noto Sans SC"/>
                          <a:sym typeface="Noto Sans SC"/>
                        </a:rPr>
                        <a:t>/</a:t>
                      </a:r>
                      <a:r>
                        <a:rPr lang="en-US" sz="1200" b="0" i="0" u="none" strike="noStrike" dirty="0" err="1">
                          <a:solidFill>
                            <a:srgbClr val="FFFFFF">
                              <a:alpha val="80000"/>
                            </a:srgbClr>
                          </a:solidFill>
                          <a:latin typeface="Noto Sans SC"/>
                          <a:ea typeface="Noto Sans SC"/>
                          <a:cs typeface="Noto Sans SC"/>
                          <a:sym typeface="Noto Sans SC"/>
                        </a:rPr>
                        <a:t>路径</a:t>
                      </a:r>
                      <a:endParaRPr lang="en-US" sz="1100" dirty="0"/>
                    </a:p>
                  </a:txBody>
                  <a:tcPr marL="101600" marR="101600" marT="101600" marB="101600" anchor="ctr">
                    <a:lnL>
                      <a:noFill/>
                    </a:lnL>
                    <a:lnR>
                      <a:noFill/>
                    </a:lnR>
                    <a:lnT>
                      <a:noFill/>
                    </a:lnT>
                    <a:lnB>
                      <a:noFill/>
                    </a:lnB>
                    <a:solidFill>
                      <a:srgbClr val="1E1E3A">
                        <a:alpha val="70000"/>
                      </a:srgbClr>
                    </a:solidFill>
                  </a:tcPr>
                </a:tc>
                <a:tc>
                  <a:txBody>
                    <a:bodyPr/>
                    <a:lstStyle/>
                    <a:p>
                      <a:pPr marL="0" indent="0" algn="ctr">
                        <a:lnSpc>
                          <a:spcPct val="100000"/>
                        </a:lnSpc>
                        <a:defRPr/>
                      </a:pPr>
                      <a:r>
                        <a:rPr lang="en-US" sz="1200" b="0" i="0" u="none" strike="noStrike" dirty="0">
                          <a:solidFill>
                            <a:srgbClr val="FF6464"/>
                          </a:solidFill>
                          <a:latin typeface="Noto Sans SC"/>
                          <a:ea typeface="Noto Sans SC"/>
                          <a:cs typeface="Noto Sans SC"/>
                          <a:sym typeface="Noto Sans SC"/>
                        </a:rPr>
                        <a:t>EACCES</a:t>
                      </a:r>
                      <a:endParaRPr lang="en-US" sz="1100" dirty="0"/>
                    </a:p>
                  </a:txBody>
                  <a:tcPr marL="101600" marR="101600" marT="101600" marB="101600" anchor="ctr">
                    <a:lnL>
                      <a:noFill/>
                    </a:lnL>
                    <a:lnR>
                      <a:noFill/>
                    </a:lnR>
                    <a:lnT>
                      <a:noFill/>
                    </a:lnT>
                    <a:lnB>
                      <a:noFill/>
                    </a:lnB>
                    <a:solidFill>
                      <a:srgbClr val="1E1E3A">
                        <a:alpha val="70000"/>
                      </a:srgbClr>
                    </a:solidFill>
                  </a:tcPr>
                </a:tc>
                <a:tc>
                  <a:txBody>
                    <a:bodyPr/>
                    <a:lstStyle/>
                    <a:p>
                      <a:pPr marL="0" indent="0" algn="l">
                        <a:lnSpc>
                          <a:spcPct val="100000"/>
                        </a:lnSpc>
                        <a:defRPr/>
                      </a:pPr>
                      <a:r>
                        <a:rPr lang="en-US" sz="1200" b="0" i="0" u="none" strike="noStrike" dirty="0" err="1">
                          <a:solidFill>
                            <a:srgbClr val="FFFFFF">
                              <a:alpha val="70196"/>
                            </a:srgbClr>
                          </a:solidFill>
                          <a:latin typeface="Noto Sans SC"/>
                          <a:ea typeface="Noto Sans SC"/>
                          <a:cs typeface="Noto Sans SC"/>
                          <a:sym typeface="Noto Sans SC"/>
                        </a:rPr>
                        <a:t>缺失读</a:t>
                      </a:r>
                      <a:r>
                        <a:rPr lang="en-US" sz="1200" b="0" i="0" u="none" strike="noStrike" dirty="0">
                          <a:solidFill>
                            <a:srgbClr val="FFFFFF">
                              <a:alpha val="70196"/>
                            </a:srgbClr>
                          </a:solidFill>
                          <a:latin typeface="Noto Sans SC"/>
                          <a:ea typeface="Noto Sans SC"/>
                          <a:cs typeface="Noto Sans SC"/>
                          <a:sym typeface="Noto Sans SC"/>
                        </a:rPr>
                        <a:t>/</a:t>
                      </a:r>
                      <a:r>
                        <a:rPr lang="en-US" sz="1200" b="0" i="0" u="none" strike="noStrike" dirty="0" err="1">
                          <a:solidFill>
                            <a:srgbClr val="FFFFFF">
                              <a:alpha val="70196"/>
                            </a:srgbClr>
                          </a:solidFill>
                          <a:latin typeface="Noto Sans SC"/>
                          <a:ea typeface="Noto Sans SC"/>
                          <a:cs typeface="Noto Sans SC"/>
                          <a:sym typeface="Noto Sans SC"/>
                        </a:rPr>
                        <a:t>执行权限，或解释器路径递归</a:t>
                      </a:r>
                      <a:r>
                        <a:rPr lang="en-US" sz="1200" b="0" i="0" u="none" strike="noStrike" dirty="0">
                          <a:solidFill>
                            <a:srgbClr val="FFFFFF">
                              <a:alpha val="70196"/>
                            </a:srgbClr>
                          </a:solidFill>
                          <a:latin typeface="Noto Sans SC"/>
                          <a:ea typeface="Noto Sans SC"/>
                          <a:cs typeface="Noto Sans SC"/>
                          <a:sym typeface="Noto Sans SC"/>
                        </a:rPr>
                        <a:t>/ELOOP</a:t>
                      </a:r>
                      <a:endParaRPr lang="en-US" sz="1100" dirty="0"/>
                    </a:p>
                  </a:txBody>
                  <a:tcPr marL="101600" marR="101600" marT="101600" marB="101600" anchor="ctr">
                    <a:lnL>
                      <a:noFill/>
                    </a:lnL>
                    <a:lnR>
                      <a:noFill/>
                    </a:lnR>
                    <a:lnT>
                      <a:noFill/>
                    </a:lnT>
                    <a:lnB>
                      <a:noFill/>
                    </a:lnB>
                    <a:solidFill>
                      <a:srgbClr val="1E1E3A">
                        <a:alpha val="70000"/>
                      </a:srgbClr>
                    </a:solidFill>
                  </a:tcPr>
                </a:tc>
                <a:extLst>
                  <a:ext uri="{0D108BD9-81ED-4DB2-BD59-A6C34878D82A}">
                    <a16:rowId xmlns:a16="http://schemas.microsoft.com/office/drawing/2014/main" xmlns="" val="10002"/>
                  </a:ext>
                </a:extLst>
              </a:tr>
            </a:tbl>
          </a:graphicData>
        </a:graphic>
      </p:graphicFrame>
      <p:sp>
        <p:nvSpPr>
          <p:cNvPr id="31" name="AutoShape 31"/>
          <p:cNvSpPr/>
          <p:nvPr/>
        </p:nvSpPr>
        <p:spPr>
          <a:xfrm>
            <a:off x="5976617" y="5869952"/>
            <a:ext cx="5701030" cy="607048"/>
          </a:xfrm>
          <a:prstGeom prst="roundRect">
            <a:avLst>
              <a:gd name="adj" fmla="val 0"/>
            </a:avLst>
          </a:prstGeom>
          <a:solidFill>
            <a:srgbClr val="00D9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096000" y="5964559"/>
            <a:ext cx="5642609"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00D9FF"/>
                </a:solidFill>
                <a:latin typeface="Noto Sans SC"/>
                <a:ea typeface="Noto Sans SC"/>
                <a:cs typeface="Noto Sans SC"/>
                <a:sym typeface="Noto Sans SC"/>
              </a:rPr>
              <a:t>辅助向量</a:t>
            </a:r>
            <a:r>
              <a:rPr lang="en-US" sz="1300" b="1" i="0" u="none" strike="noStrike" dirty="0">
                <a:solidFill>
                  <a:srgbClr val="00D9FF"/>
                </a:solidFill>
                <a:latin typeface="Noto Sans SC"/>
                <a:ea typeface="Noto Sans SC"/>
                <a:cs typeface="Noto Sans SC"/>
                <a:sym typeface="Noto Sans SC"/>
              </a:rPr>
              <a:t> ABI：</a:t>
            </a:r>
            <a:r>
              <a:rPr lang="en-US" sz="1200" b="0" i="0" u="none" strike="noStrike" dirty="0">
                <a:solidFill>
                  <a:srgbClr val="FFFFFF">
                    <a:alpha val="70196"/>
                  </a:srgbClr>
                </a:solidFill>
                <a:latin typeface="Noto Sans SC"/>
                <a:ea typeface="Noto Sans SC"/>
                <a:cs typeface="Noto Sans SC"/>
                <a:sym typeface="Noto Sans SC"/>
              </a:rPr>
              <a:t>AT_PHDR(</a:t>
            </a:r>
            <a:r>
              <a:rPr lang="en-US" sz="1200" b="0" i="0" u="none" strike="noStrike" dirty="0" err="1">
                <a:solidFill>
                  <a:srgbClr val="FFFFFF">
                    <a:alpha val="70196"/>
                  </a:srgbClr>
                </a:solidFill>
                <a:latin typeface="Noto Sans SC"/>
                <a:ea typeface="Noto Sans SC"/>
                <a:cs typeface="Noto Sans SC"/>
                <a:sym typeface="Noto Sans SC"/>
              </a:rPr>
              <a:t>程序头</a:t>
            </a:r>
            <a:r>
              <a:rPr lang="en-US" sz="1200" b="0" i="0" u="none" strike="noStrike" dirty="0">
                <a:solidFill>
                  <a:srgbClr val="FFFFFF">
                    <a:alpha val="70196"/>
                  </a:srgbClr>
                </a:solidFill>
                <a:latin typeface="Noto Sans SC"/>
                <a:ea typeface="Noto Sans SC"/>
                <a:cs typeface="Noto Sans SC"/>
                <a:sym typeface="Noto Sans SC"/>
              </a:rPr>
              <a:t>)、AT_ENTRY(</a:t>
            </a:r>
            <a:r>
              <a:rPr lang="en-US" sz="1200" b="0" i="0" u="none" strike="noStrike" dirty="0" err="1">
                <a:solidFill>
                  <a:srgbClr val="FFFFFF">
                    <a:alpha val="70196"/>
                  </a:srgbClr>
                </a:solidFill>
                <a:latin typeface="Noto Sans SC"/>
                <a:ea typeface="Noto Sans SC"/>
                <a:cs typeface="Noto Sans SC"/>
                <a:sym typeface="Noto Sans SC"/>
              </a:rPr>
              <a:t>入口点</a:t>
            </a:r>
            <a:r>
              <a:rPr lang="en-US" sz="1200" b="0" i="0" u="none" strike="noStrike" dirty="0">
                <a:solidFill>
                  <a:srgbClr val="FFFFFF">
                    <a:alpha val="70196"/>
                  </a:srgbClr>
                </a:solidFill>
                <a:latin typeface="Noto Sans SC"/>
                <a:ea typeface="Noto Sans SC"/>
                <a:cs typeface="Noto Sans SC"/>
                <a:sym typeface="Noto Sans SC"/>
              </a:rPr>
              <a:t>)、AT_RANDOM(</a:t>
            </a:r>
            <a:r>
              <a:rPr lang="en-US" sz="1200" b="0" i="0" u="none" strike="noStrike" dirty="0" err="1">
                <a:solidFill>
                  <a:srgbClr val="FFFFFF">
                    <a:alpha val="70196"/>
                  </a:srgbClr>
                </a:solidFill>
                <a:latin typeface="Noto Sans SC"/>
                <a:ea typeface="Noto Sans SC"/>
                <a:cs typeface="Noto Sans SC"/>
                <a:sym typeface="Noto Sans SC"/>
              </a:rPr>
              <a:t>随机栈</a:t>
            </a:r>
            <a:r>
              <a:rPr lang="en-US" sz="1200" b="0" i="0" u="none" strike="noStrike" dirty="0">
                <a:solidFill>
                  <a:srgbClr val="FFFFFF">
                    <a:alpha val="70196"/>
                  </a:srgbClr>
                </a:solidFill>
                <a:latin typeface="Noto Sans SC"/>
                <a:ea typeface="Noto Sans SC"/>
                <a:cs typeface="Noto Sans SC"/>
                <a:sym typeface="Noto Sans SC"/>
              </a:rPr>
              <a:t>)、AT_SYSINFO_EHDR(</a:t>
            </a:r>
            <a:r>
              <a:rPr lang="en-US" sz="1200" b="0" i="0" u="none" strike="noStrike" dirty="0" err="1">
                <a:solidFill>
                  <a:srgbClr val="FFFFFF">
                    <a:alpha val="70196"/>
                  </a:srgbClr>
                </a:solidFill>
                <a:latin typeface="Noto Sans SC"/>
                <a:ea typeface="Noto Sans SC"/>
                <a:cs typeface="Noto Sans SC"/>
                <a:sym typeface="Noto Sans SC"/>
              </a:rPr>
              <a:t>vDSO地址</a:t>
            </a:r>
            <a:r>
              <a:rPr lang="en-US" sz="1200" b="0" i="0" u="none" strike="noStrike" dirty="0">
                <a:solidFill>
                  <a:srgbClr val="FFFFFF">
                    <a:alpha val="70196"/>
                  </a:srgbClr>
                </a:solidFill>
                <a:latin typeface="Noto Sans SC"/>
                <a:ea typeface="Noto Sans SC"/>
                <a:cs typeface="Noto Sans SC"/>
                <a:sym typeface="Noto Sans SC"/>
              </a:rPr>
              <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21423">
                <a:alpha val="100000"/>
              </a:srgbClr>
            </a:gs>
            <a:gs pos="100000">
              <a:srgbClr val="1C1E32">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信号与异步事件</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6510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solidFill>
                <a:latin typeface="Noto Sans SC"/>
                <a:ea typeface="Noto Sans SC"/>
                <a:cs typeface="Noto Sans SC"/>
                <a:sym typeface="Noto Sans SC"/>
              </a:rPr>
              <a:t>信号生命周期：发送 → 排队 → 选择 → 投递 → 恢复</a:t>
            </a:r>
            <a:endParaRPr lang="en-US" sz="1100"/>
          </a:p>
        </p:txBody>
      </p:sp>
      <p:sp>
        <p:nvSpPr>
          <p:cNvPr id="5" name="AutoShape 5"/>
          <p:cNvSpPr/>
          <p:nvPr/>
        </p:nvSpPr>
        <p:spPr>
          <a:xfrm>
            <a:off x="508000" y="2159000"/>
            <a:ext cx="1206500" cy="1079500"/>
          </a:xfrm>
          <a:prstGeom prst="roundRect">
            <a:avLst>
              <a:gd name="adj" fmla="val 0"/>
            </a:avLst>
          </a:prstGeom>
          <a:solidFill>
            <a:srgbClr val="06B6D4">
              <a:alpha val="15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71500" y="2349500"/>
            <a:ext cx="1079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B6D4"/>
                </a:solidFill>
                <a:latin typeface="Noto Sans SC"/>
                <a:ea typeface="Noto Sans SC"/>
                <a:cs typeface="Noto Sans SC"/>
                <a:sym typeface="Noto Sans SC"/>
              </a:rPr>
              <a:t>01 待处理</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70196"/>
                  </a:srgbClr>
                </a:solidFill>
                <a:latin typeface="Noto Sans SC"/>
                <a:ea typeface="Noto Sans SC"/>
                <a:cs typeface="Noto Sans SC"/>
                <a:sym typeface="Noto Sans SC"/>
              </a:rPr>
              <a:t>检查pending &amp; mask掩码冲突，确保信号可达</a:t>
            </a:r>
            <a:endParaRPr lang="en-US" sz="1100"/>
          </a:p>
        </p:txBody>
      </p:sp>
      <p:cxnSp>
        <p:nvCxnSpPr>
          <p:cNvPr id="7" name="Connector 7"/>
          <p:cNvCxnSpPr/>
          <p:nvPr/>
        </p:nvCxnSpPr>
        <p:spPr>
          <a:xfrm rot="-171744">
            <a:off x="1778159" y="2686050"/>
            <a:ext cx="2540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8" name="AutoShape 8"/>
          <p:cNvSpPr/>
          <p:nvPr/>
        </p:nvSpPr>
        <p:spPr>
          <a:xfrm>
            <a:off x="2095500" y="2159000"/>
            <a:ext cx="1206500" cy="1079500"/>
          </a:xfrm>
          <a:prstGeom prst="roundRect">
            <a:avLst>
              <a:gd name="adj" fmla="val 0"/>
            </a:avLst>
          </a:prstGeom>
          <a:solidFill>
            <a:srgbClr val="06B6D4">
              <a:alpha val="15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159000" y="2349500"/>
            <a:ext cx="1079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06B6D4"/>
                </a:solidFill>
                <a:latin typeface="Noto Sans SC"/>
                <a:ea typeface="Noto Sans SC"/>
                <a:cs typeface="Noto Sans SC"/>
                <a:sym typeface="Noto Sans SC"/>
              </a:rPr>
              <a:t>02 </a:t>
            </a:r>
            <a:r>
              <a:rPr lang="en-US" sz="1400" b="1" i="0" u="none" strike="noStrike" dirty="0" err="1">
                <a:solidFill>
                  <a:srgbClr val="06B6D4"/>
                </a:solidFill>
                <a:latin typeface="Noto Sans SC"/>
                <a:ea typeface="Noto Sans SC"/>
                <a:cs typeface="Noto Sans SC"/>
                <a:sym typeface="Noto Sans SC"/>
              </a:rPr>
              <a:t>线程选路</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100" b="0" i="0" u="none" strike="noStrike" dirty="0" err="1">
                <a:solidFill>
                  <a:srgbClr val="FFFFFF">
                    <a:alpha val="70196"/>
                  </a:srgbClr>
                </a:solidFill>
                <a:latin typeface="Noto Sans SC"/>
                <a:ea typeface="Noto Sans SC"/>
                <a:cs typeface="Noto Sans SC"/>
                <a:sym typeface="Noto Sans SC"/>
              </a:rPr>
              <a:t>遍历线程组，寻找首个未阻塞该信号的目标线程</a:t>
            </a:r>
            <a:endParaRPr lang="en-US" sz="1100" dirty="0"/>
          </a:p>
        </p:txBody>
      </p:sp>
      <p:cxnSp>
        <p:nvCxnSpPr>
          <p:cNvPr id="10" name="Connector 10"/>
          <p:cNvCxnSpPr/>
          <p:nvPr/>
        </p:nvCxnSpPr>
        <p:spPr>
          <a:xfrm rot="-171744">
            <a:off x="3365659" y="2686050"/>
            <a:ext cx="2540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11" name="AutoShape 11"/>
          <p:cNvSpPr/>
          <p:nvPr/>
        </p:nvSpPr>
        <p:spPr>
          <a:xfrm>
            <a:off x="3683000" y="2286000"/>
            <a:ext cx="1397000" cy="825500"/>
          </a:xfrm>
          <a:prstGeom prst="roundRect">
            <a:avLst>
              <a:gd name="adj" fmla="val 0"/>
            </a:avLst>
          </a:prstGeom>
          <a:solidFill>
            <a:srgbClr val="F59E0B">
              <a:alpha val="15000"/>
            </a:srgbClr>
          </a:solidFill>
          <a:ln w="12700" cap="flat" cmpd="sng">
            <a:solidFill>
              <a:srgbClr val="F59E0B">
                <a:alpha val="6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746500" y="2349500"/>
            <a:ext cx="12700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59E0B"/>
                </a:solidFill>
                <a:latin typeface="Noto Sans SC"/>
                <a:ea typeface="Noto Sans SC"/>
                <a:cs typeface="Noto Sans SC"/>
                <a:sym typeface="Noto Sans SC"/>
              </a:rPr>
              <a:t>03 动作裁决</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70196"/>
                  </a:srgbClr>
                </a:solidFill>
                <a:latin typeface="Noto Sans SC"/>
                <a:ea typeface="Noto Sans SC"/>
                <a:cs typeface="Noto Sans SC"/>
                <a:sym typeface="Noto Sans SC"/>
              </a:rPr>
              <a:t>默认/忽略/捕获，分支决定后续执行路径</a:t>
            </a:r>
            <a:endParaRPr lang="en-US" sz="1100"/>
          </a:p>
        </p:txBody>
      </p:sp>
      <p:cxnSp>
        <p:nvCxnSpPr>
          <p:cNvPr id="13" name="Connector 13"/>
          <p:cNvCxnSpPr/>
          <p:nvPr/>
        </p:nvCxnSpPr>
        <p:spPr>
          <a:xfrm rot="-171744">
            <a:off x="5143659" y="2686050"/>
            <a:ext cx="2540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14" name="AutoShape 14"/>
          <p:cNvSpPr/>
          <p:nvPr/>
        </p:nvSpPr>
        <p:spPr>
          <a:xfrm>
            <a:off x="5461000" y="2082801"/>
            <a:ext cx="1206500" cy="1295400"/>
          </a:xfrm>
          <a:prstGeom prst="roundRect">
            <a:avLst>
              <a:gd name="adj" fmla="val 0"/>
            </a:avLst>
          </a:prstGeom>
          <a:solidFill>
            <a:srgbClr val="06B6D4">
              <a:alpha val="15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524500" y="2349500"/>
            <a:ext cx="1079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06B6D4"/>
                </a:solidFill>
                <a:latin typeface="Noto Sans SC"/>
                <a:ea typeface="Noto Sans SC"/>
                <a:cs typeface="Noto Sans SC"/>
                <a:sym typeface="Noto Sans SC"/>
              </a:rPr>
              <a:t>04 </a:t>
            </a:r>
            <a:r>
              <a:rPr lang="en-US" sz="1400" b="1" i="0" u="none" strike="noStrike" dirty="0" err="1">
                <a:solidFill>
                  <a:srgbClr val="06B6D4"/>
                </a:solidFill>
                <a:latin typeface="Noto Sans SC"/>
                <a:ea typeface="Noto Sans SC"/>
                <a:cs typeface="Noto Sans SC"/>
                <a:sym typeface="Noto Sans SC"/>
              </a:rPr>
              <a:t>构造帧</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100" b="0" i="0" u="none" strike="noStrike" dirty="0" err="1">
                <a:solidFill>
                  <a:srgbClr val="FFFFFF">
                    <a:alpha val="70196"/>
                  </a:srgbClr>
                </a:solidFill>
                <a:latin typeface="Noto Sans SC"/>
                <a:ea typeface="Noto Sans SC"/>
                <a:cs typeface="Noto Sans SC"/>
                <a:sym typeface="Noto Sans SC"/>
              </a:rPr>
              <a:t>内核构建sigframe，封装上下文与处理函数信息</a:t>
            </a:r>
            <a:endParaRPr lang="en-US" sz="1100" dirty="0"/>
          </a:p>
        </p:txBody>
      </p:sp>
      <p:cxnSp>
        <p:nvCxnSpPr>
          <p:cNvPr id="16" name="Connector 16"/>
          <p:cNvCxnSpPr/>
          <p:nvPr/>
        </p:nvCxnSpPr>
        <p:spPr>
          <a:xfrm rot="-171744">
            <a:off x="6731159" y="2686050"/>
            <a:ext cx="2540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17" name="AutoShape 17"/>
          <p:cNvSpPr/>
          <p:nvPr/>
        </p:nvSpPr>
        <p:spPr>
          <a:xfrm>
            <a:off x="7048500" y="2159000"/>
            <a:ext cx="1206500" cy="1079500"/>
          </a:xfrm>
          <a:prstGeom prst="roundRect">
            <a:avLst>
              <a:gd name="adj" fmla="val 0"/>
            </a:avLst>
          </a:prstGeom>
          <a:solidFill>
            <a:srgbClr val="06B6D4">
              <a:alpha val="15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112000" y="2349500"/>
            <a:ext cx="1079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B6D4"/>
                </a:solidFill>
                <a:latin typeface="Noto Sans SC"/>
                <a:ea typeface="Noto Sans SC"/>
                <a:cs typeface="Noto Sans SC"/>
                <a:sym typeface="Noto Sans SC"/>
              </a:rPr>
              <a:t>05 栈修改</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FFFFF">
                    <a:alpha val="70196"/>
                  </a:srgbClr>
                </a:solidFill>
                <a:latin typeface="Noto Sans SC"/>
                <a:ea typeface="Noto Sans SC"/>
                <a:cs typeface="Noto Sans SC"/>
                <a:sym typeface="Noto Sans SC"/>
              </a:rPr>
              <a:t>将信号帧压入用户栈/备用栈，修改寄存器状态</a:t>
            </a:r>
            <a:endParaRPr lang="en-US" sz="1100"/>
          </a:p>
        </p:txBody>
      </p:sp>
      <p:cxnSp>
        <p:nvCxnSpPr>
          <p:cNvPr id="19" name="Connector 19"/>
          <p:cNvCxnSpPr/>
          <p:nvPr/>
        </p:nvCxnSpPr>
        <p:spPr>
          <a:xfrm rot="-171744">
            <a:off x="8318659" y="2686050"/>
            <a:ext cx="2540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arrow" w="sm" len="sm"/>
          </a:ln>
        </p:spPr>
      </p:cxnSp>
      <p:sp>
        <p:nvSpPr>
          <p:cNvPr id="20" name="AutoShape 20"/>
          <p:cNvSpPr/>
          <p:nvPr/>
        </p:nvSpPr>
        <p:spPr>
          <a:xfrm>
            <a:off x="8636000" y="2159000"/>
            <a:ext cx="2984500" cy="1079500"/>
          </a:xfrm>
          <a:prstGeom prst="roundRect">
            <a:avLst>
              <a:gd name="adj" fmla="val 0"/>
            </a:avLst>
          </a:prstGeom>
          <a:solidFill>
            <a:srgbClr val="10B981">
              <a:alpha val="15000"/>
            </a:srgbClr>
          </a:solidFill>
          <a:ln w="12700" cap="flat" cmpd="sng">
            <a:solidFill>
              <a:srgbClr val="10B981">
                <a:alpha val="5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699500" y="2349500"/>
            <a:ext cx="2857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10B981"/>
                </a:solidFill>
                <a:latin typeface="Noto Sans SC"/>
                <a:ea typeface="Noto Sans SC"/>
                <a:cs typeface="Noto Sans SC"/>
                <a:sym typeface="Noto Sans SC"/>
              </a:rPr>
              <a:t>06 </a:t>
            </a:r>
            <a:r>
              <a:rPr lang="en-US" sz="1400" b="1" i="0" u="none" strike="noStrike" dirty="0" err="1">
                <a:solidFill>
                  <a:srgbClr val="10B981"/>
                </a:solidFill>
                <a:latin typeface="Noto Sans SC"/>
                <a:ea typeface="Noto Sans SC"/>
                <a:cs typeface="Noto Sans SC"/>
                <a:sym typeface="Noto Sans SC"/>
              </a:rPr>
              <a:t>执行Handler</a:t>
            </a:r>
            <a:r>
              <a:rPr lang="en-US" sz="1400" b="1" i="0" u="none" strike="noStrike" dirty="0">
                <a:solidFill>
                  <a:srgbClr val="10B981"/>
                </a:solidFill>
                <a:latin typeface="Noto Sans SC"/>
                <a:ea typeface="Noto Sans SC"/>
                <a:cs typeface="Noto Sans SC"/>
                <a:sym typeface="Noto Sans SC"/>
              </a:rPr>
              <a:t> &amp; </a:t>
            </a:r>
            <a:r>
              <a:rPr lang="en-US" sz="1400" b="1" i="0" u="none" strike="noStrike" dirty="0" err="1">
                <a:solidFill>
                  <a:srgbClr val="10B981"/>
                </a:solidFill>
                <a:latin typeface="Noto Sans SC"/>
                <a:ea typeface="Noto Sans SC"/>
                <a:cs typeface="Noto Sans SC"/>
                <a:sym typeface="Noto Sans SC"/>
              </a:rPr>
              <a:t>恢复</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100" b="0" i="0" u="none" strike="noStrike" dirty="0" err="1">
                <a:solidFill>
                  <a:srgbClr val="FFFFFF">
                    <a:alpha val="70196"/>
                  </a:srgbClr>
                </a:solidFill>
                <a:latin typeface="Noto Sans SC"/>
                <a:ea typeface="Noto Sans SC"/>
                <a:cs typeface="Noto Sans SC"/>
                <a:sym typeface="Noto Sans SC"/>
              </a:rPr>
              <a:t>返回用户态执行逻辑，完成后通过</a:t>
            </a:r>
            <a:r>
              <a:rPr lang="en-US" sz="1100" b="0" i="0" u="none" strike="noStrike" dirty="0">
                <a:solidFill>
                  <a:srgbClr val="FFFFFF">
                    <a:alpha val="70196"/>
                  </a:srgbClr>
                </a:solidFill>
                <a:latin typeface="Noto Sans SC"/>
                <a:ea typeface="Noto Sans SC"/>
                <a:cs typeface="Noto Sans SC"/>
                <a:sym typeface="Noto Sans SC"/>
              </a:rPr>
              <a:t> </a:t>
            </a:r>
            <a:r>
              <a:rPr lang="en-US" sz="1100" b="0" i="0" u="none" strike="noStrike" dirty="0" err="1">
                <a:solidFill>
                  <a:srgbClr val="FFFFFF">
                    <a:alpha val="70196"/>
                  </a:srgbClr>
                </a:solidFill>
                <a:latin typeface="Noto Sans SC"/>
                <a:ea typeface="Noto Sans SC"/>
                <a:cs typeface="Noto Sans SC"/>
                <a:sym typeface="Noto Sans SC"/>
              </a:rPr>
              <a:t>rt_sigreturn</a:t>
            </a:r>
            <a:r>
              <a:rPr lang="en-US" sz="1100" b="0" i="0" u="none" strike="noStrike" dirty="0">
                <a:solidFill>
                  <a:srgbClr val="FFFFFF">
                    <a:alpha val="70196"/>
                  </a:srgbClr>
                </a:solidFill>
                <a:latin typeface="Noto Sans SC"/>
                <a:ea typeface="Noto Sans SC"/>
                <a:cs typeface="Noto Sans SC"/>
                <a:sym typeface="Noto Sans SC"/>
              </a:rPr>
              <a:t> </a:t>
            </a:r>
            <a:r>
              <a:rPr lang="en-US" sz="1100" b="0" i="0" u="none" strike="noStrike" dirty="0" err="1">
                <a:solidFill>
                  <a:srgbClr val="FFFFFF">
                    <a:alpha val="70196"/>
                  </a:srgbClr>
                </a:solidFill>
                <a:latin typeface="Noto Sans SC"/>
                <a:ea typeface="Noto Sans SC"/>
                <a:cs typeface="Noto Sans SC"/>
                <a:sym typeface="Noto Sans SC"/>
              </a:rPr>
              <a:t>系统调用恢复原上下文，清理信号帧</a:t>
            </a:r>
            <a:endParaRPr lang="en-US" sz="1100" dirty="0"/>
          </a:p>
        </p:txBody>
      </p:sp>
      <p:sp>
        <p:nvSpPr>
          <p:cNvPr id="22" name="AutoShape 22"/>
          <p:cNvSpPr/>
          <p:nvPr/>
        </p:nvSpPr>
        <p:spPr>
          <a:xfrm>
            <a:off x="508000" y="3556000"/>
            <a:ext cx="1117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FFFFFF">
                    <a:alpha val="80000"/>
                  </a:srgbClr>
                </a:solidFill>
                <a:latin typeface="Noto Sans SC"/>
                <a:ea typeface="Noto Sans SC"/>
                <a:cs typeface="Noto Sans SC"/>
                <a:sym typeface="Noto Sans SC"/>
              </a:rPr>
              <a:t>核心机制：信号帧在用户栈或备用信号栈上保存完整上下文（寄存器、指令指针等</a:t>
            </a:r>
            <a:r>
              <a:rPr lang="en-US" sz="1400" b="0" i="0" u="none" strike="noStrike" dirty="0">
                <a:solidFill>
                  <a:srgbClr val="FFFFFF">
                    <a:alpha val="80000"/>
                  </a:srgbClr>
                </a:solidFill>
                <a:latin typeface="Noto Sans SC"/>
                <a:ea typeface="Noto Sans SC"/>
                <a:cs typeface="Noto Sans SC"/>
                <a:sym typeface="Noto Sans SC"/>
              </a:rPr>
              <a:t>），</a:t>
            </a:r>
            <a:r>
              <a:rPr lang="en-US" sz="1400" b="0" i="0" u="none" strike="noStrike" dirty="0" err="1">
                <a:solidFill>
                  <a:srgbClr val="FFFFFF">
                    <a:alpha val="80000"/>
                  </a:srgbClr>
                </a:solidFill>
                <a:latin typeface="Noto Sans SC"/>
                <a:ea typeface="Noto Sans SC"/>
                <a:cs typeface="Noto Sans SC"/>
                <a:sym typeface="Noto Sans SC"/>
              </a:rPr>
              <a:t>确保异步中断后能安全恢复到原执行流</a:t>
            </a:r>
            <a:r>
              <a:rPr lang="en-US" sz="1400" b="0" i="0" u="none" strike="noStrike" dirty="0">
                <a:solidFill>
                  <a:srgbClr val="FFFFFF">
                    <a:alpha val="80000"/>
                  </a:srgbClr>
                </a:solidFill>
                <a:latin typeface="Noto Sans SC"/>
                <a:ea typeface="Noto Sans SC"/>
                <a:cs typeface="Noto Sans SC"/>
                <a:sym typeface="Noto Sans SC"/>
              </a:rPr>
              <a:t>。</a:t>
            </a:r>
            <a:endParaRPr lang="en-US" sz="1100" dirty="0"/>
          </a:p>
        </p:txBody>
      </p:sp>
      <p:cxnSp>
        <p:nvCxnSpPr>
          <p:cNvPr id="23" name="Connector 23"/>
          <p:cNvCxnSpPr/>
          <p:nvPr/>
        </p:nvCxnSpPr>
        <p:spPr>
          <a:xfrm rot="-3906">
            <a:off x="508004" y="4248150"/>
            <a:ext cx="11176000" cy="12700"/>
          </a:xfrm>
          <a:prstGeom prst="line">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4" name="AutoShape 24"/>
          <p:cNvSpPr/>
          <p:nvPr/>
        </p:nvSpPr>
        <p:spPr>
          <a:xfrm>
            <a:off x="508000" y="4381500"/>
            <a:ext cx="558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信号发送入口 API 矩阵</a:t>
            </a:r>
            <a:endParaRPr lang="en-US" sz="1100"/>
          </a:p>
        </p:txBody>
      </p:sp>
      <p:sp>
        <p:nvSpPr>
          <p:cNvPr id="25" name="AutoShape 25"/>
          <p:cNvSpPr/>
          <p:nvPr/>
        </p:nvSpPr>
        <p:spPr>
          <a:xfrm>
            <a:off x="508000" y="4826000"/>
            <a:ext cx="5588000" cy="3810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571500" y="4889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系统调用</a:t>
            </a:r>
            <a:endParaRPr lang="en-US" sz="1100"/>
          </a:p>
        </p:txBody>
      </p:sp>
      <p:sp>
        <p:nvSpPr>
          <p:cNvPr id="27" name="AutoShape 27"/>
          <p:cNvSpPr/>
          <p:nvPr/>
        </p:nvSpPr>
        <p:spPr>
          <a:xfrm>
            <a:off x="2222500" y="4889500"/>
            <a:ext cx="177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目标作用范围</a:t>
            </a:r>
            <a:endParaRPr lang="en-US" sz="1100"/>
          </a:p>
        </p:txBody>
      </p:sp>
      <p:sp>
        <p:nvSpPr>
          <p:cNvPr id="28" name="AutoShape 28"/>
          <p:cNvSpPr/>
          <p:nvPr/>
        </p:nvSpPr>
        <p:spPr>
          <a:xfrm>
            <a:off x="4127500" y="4889500"/>
            <a:ext cx="190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核心特性</a:t>
            </a:r>
            <a:endParaRPr lang="en-US" sz="1100"/>
          </a:p>
        </p:txBody>
      </p:sp>
      <p:sp>
        <p:nvSpPr>
          <p:cNvPr id="29" name="AutoShape 29"/>
          <p:cNvSpPr/>
          <p:nvPr/>
        </p:nvSpPr>
        <p:spPr>
          <a:xfrm>
            <a:off x="508000" y="5270500"/>
            <a:ext cx="5588000" cy="355600"/>
          </a:xfrm>
          <a:prstGeom prst="roundRect">
            <a:avLst>
              <a:gd name="adj" fmla="val 0"/>
            </a:avLst>
          </a:prstGeom>
          <a:solidFill>
            <a:srgbClr val="1E1E3A">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571500" y="53213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6B6D4"/>
                </a:solidFill>
                <a:latin typeface="Noto Sans SC"/>
                <a:ea typeface="Noto Sans SC"/>
                <a:cs typeface="Noto Sans SC"/>
                <a:sym typeface="Noto Sans SC"/>
              </a:rPr>
              <a:t>kill</a:t>
            </a:r>
            <a:endParaRPr lang="en-US" sz="1100"/>
          </a:p>
        </p:txBody>
      </p:sp>
      <p:sp>
        <p:nvSpPr>
          <p:cNvPr id="31" name="AutoShape 31"/>
          <p:cNvSpPr/>
          <p:nvPr/>
        </p:nvSpPr>
        <p:spPr>
          <a:xfrm>
            <a:off x="2222500" y="5321300"/>
            <a:ext cx="177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进程组 / 单个进程</a:t>
            </a:r>
            <a:endParaRPr lang="en-US" sz="1100"/>
          </a:p>
        </p:txBody>
      </p:sp>
      <p:sp>
        <p:nvSpPr>
          <p:cNvPr id="32" name="AutoShape 32"/>
          <p:cNvSpPr/>
          <p:nvPr/>
        </p:nvSpPr>
        <p:spPr>
          <a:xfrm>
            <a:off x="4127500" y="5321300"/>
            <a:ext cx="190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60000"/>
                  </a:srgbClr>
                </a:solidFill>
                <a:latin typeface="Noto Sans SC"/>
                <a:ea typeface="Noto Sans SC"/>
                <a:cs typeface="Noto Sans SC"/>
                <a:sym typeface="Noto Sans SC"/>
              </a:rPr>
              <a:t>标准 POSIX 接口，基础发送</a:t>
            </a:r>
            <a:endParaRPr lang="en-US" sz="1100"/>
          </a:p>
        </p:txBody>
      </p:sp>
      <p:sp>
        <p:nvSpPr>
          <p:cNvPr id="33" name="AutoShape 33"/>
          <p:cNvSpPr/>
          <p:nvPr/>
        </p:nvSpPr>
        <p:spPr>
          <a:xfrm>
            <a:off x="508000" y="5689600"/>
            <a:ext cx="5588000" cy="355600"/>
          </a:xfrm>
          <a:prstGeom prst="roundRect">
            <a:avLst>
              <a:gd name="adj" fmla="val 0"/>
            </a:avLst>
          </a:prstGeom>
          <a:solidFill>
            <a:srgbClr val="252545">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571500" y="57404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6B6D4"/>
                </a:solidFill>
                <a:latin typeface="Noto Sans SC"/>
                <a:ea typeface="Noto Sans SC"/>
                <a:cs typeface="Noto Sans SC"/>
                <a:sym typeface="Noto Sans SC"/>
              </a:rPr>
              <a:t>tkill / tgkill</a:t>
            </a:r>
            <a:endParaRPr lang="en-US" sz="1100"/>
          </a:p>
        </p:txBody>
      </p:sp>
      <p:sp>
        <p:nvSpPr>
          <p:cNvPr id="35" name="AutoShape 35"/>
          <p:cNvSpPr/>
          <p:nvPr/>
        </p:nvSpPr>
        <p:spPr>
          <a:xfrm>
            <a:off x="2222500" y="5740400"/>
            <a:ext cx="177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特定线程 / 线程组</a:t>
            </a:r>
            <a:endParaRPr lang="en-US" sz="1100"/>
          </a:p>
        </p:txBody>
      </p:sp>
      <p:sp>
        <p:nvSpPr>
          <p:cNvPr id="36" name="AutoShape 36"/>
          <p:cNvSpPr/>
          <p:nvPr/>
        </p:nvSpPr>
        <p:spPr>
          <a:xfrm>
            <a:off x="4127500" y="5740400"/>
            <a:ext cx="190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60000"/>
                  </a:srgbClr>
                </a:solidFill>
                <a:latin typeface="Noto Sans SC"/>
                <a:ea typeface="Noto Sans SC"/>
                <a:cs typeface="Noto Sans SC"/>
                <a:sym typeface="Noto Sans SC"/>
              </a:rPr>
              <a:t>线程级精确投递，避免误杀</a:t>
            </a:r>
            <a:endParaRPr lang="en-US" sz="1100"/>
          </a:p>
        </p:txBody>
      </p:sp>
      <p:sp>
        <p:nvSpPr>
          <p:cNvPr id="37" name="AutoShape 37"/>
          <p:cNvSpPr/>
          <p:nvPr/>
        </p:nvSpPr>
        <p:spPr>
          <a:xfrm>
            <a:off x="508000" y="6096000"/>
            <a:ext cx="5588000" cy="508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571500" y="6121400"/>
            <a:ext cx="546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200" b="0" i="0" u="none" strike="noStrike">
                <a:solidFill>
                  <a:srgbClr val="FFFFFF">
                    <a:alpha val="50196"/>
                  </a:srgbClr>
                </a:solidFill>
                <a:latin typeface="Noto Sans SC"/>
                <a:ea typeface="Noto Sans SC"/>
                <a:cs typeface="Noto Sans SC"/>
                <a:sym typeface="Noto Sans SC"/>
              </a:rPr>
              <a:t>补充：rt_sigqueueinfo 支持携带额外信息；pidfd_send_signal 通过文件描述符引用，彻底解决 PID 复用带来的 TOCTOU 竞态问题。</a:t>
            </a:r>
            <a:endParaRPr lang="en-US" sz="1100"/>
          </a:p>
        </p:txBody>
      </p:sp>
      <p:cxnSp>
        <p:nvCxnSpPr>
          <p:cNvPr id="39" name="Connector 39"/>
          <p:cNvCxnSpPr/>
          <p:nvPr/>
        </p:nvCxnSpPr>
        <p:spPr>
          <a:xfrm rot="5379165">
            <a:off x="5365750" y="5486419"/>
            <a:ext cx="20955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40" name="AutoShape 40"/>
          <p:cNvSpPr/>
          <p:nvPr/>
        </p:nvSpPr>
        <p:spPr>
          <a:xfrm>
            <a:off x="6731000" y="4381500"/>
            <a:ext cx="495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内核信号状态管理模型</a:t>
            </a:r>
            <a:endParaRPr lang="en-US" sz="1100"/>
          </a:p>
        </p:txBody>
      </p:sp>
      <p:sp>
        <p:nvSpPr>
          <p:cNvPr id="41" name="AutoShape 41"/>
          <p:cNvSpPr/>
          <p:nvPr/>
        </p:nvSpPr>
        <p:spPr>
          <a:xfrm>
            <a:off x="6731000" y="4826000"/>
            <a:ext cx="2413000" cy="825500"/>
          </a:xfrm>
          <a:prstGeom prst="roundRect">
            <a:avLst>
              <a:gd name="adj" fmla="val 0"/>
            </a:avLst>
          </a:prstGeom>
          <a:solidFill>
            <a:srgbClr val="06B6D4">
              <a:alpha val="8000"/>
            </a:srgbClr>
          </a:solidFill>
          <a:ln w="12700" cap="flat" cmpd="sng">
            <a:solidFill>
              <a:srgbClr val="06B6D4">
                <a:alpha val="30000"/>
              </a:srgbClr>
            </a:solid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6858000" y="4889500"/>
            <a:ext cx="228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6B6D4"/>
                </a:solidFill>
                <a:latin typeface="Noto Sans SC"/>
                <a:ea typeface="Noto Sans SC"/>
                <a:cs typeface="Noto Sans SC"/>
                <a:sym typeface="Noto Sans SC"/>
              </a:rPr>
              <a:t>私有状态</a:t>
            </a:r>
            <a:r>
              <a:rPr lang="en-US" sz="1400" b="1" i="0" u="none" strike="noStrike" dirty="0">
                <a:solidFill>
                  <a:srgbClr val="06B6D4"/>
                </a:solidFill>
                <a:latin typeface="Noto Sans SC"/>
                <a:ea typeface="Noto Sans SC"/>
                <a:cs typeface="Noto Sans SC"/>
                <a:sym typeface="Noto Sans SC"/>
              </a:rPr>
              <a:t> </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200" b="0" i="0" u="none" strike="noStrike" dirty="0" err="1">
                <a:solidFill>
                  <a:srgbClr val="FFFFFF">
                    <a:alpha val="60000"/>
                  </a:srgbClr>
                </a:solidFill>
                <a:latin typeface="Noto Sans SC"/>
                <a:ea typeface="Noto Sans SC"/>
                <a:cs typeface="Noto Sans SC"/>
                <a:sym typeface="Noto Sans SC"/>
              </a:rPr>
              <a:t>包含信号掩码</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挂起信号队列及备用栈信息，线程独立隔离</a:t>
            </a:r>
            <a:r>
              <a:rPr lang="en-US" sz="1200" b="0" i="0" u="none" strike="noStrike" dirty="0">
                <a:solidFill>
                  <a:srgbClr val="FFFFFF">
                    <a:alpha val="60000"/>
                  </a:srgbClr>
                </a:solidFill>
                <a:latin typeface="Noto Sans SC"/>
                <a:ea typeface="Noto Sans SC"/>
                <a:cs typeface="Noto Sans SC"/>
                <a:sym typeface="Noto Sans SC"/>
              </a:rPr>
              <a:t>。</a:t>
            </a:r>
            <a:endParaRPr lang="en-US" sz="1100" dirty="0"/>
          </a:p>
        </p:txBody>
      </p:sp>
      <p:sp>
        <p:nvSpPr>
          <p:cNvPr id="43" name="AutoShape 43"/>
          <p:cNvSpPr/>
          <p:nvPr/>
        </p:nvSpPr>
        <p:spPr>
          <a:xfrm>
            <a:off x="9271000" y="4826000"/>
            <a:ext cx="2413000" cy="825500"/>
          </a:xfrm>
          <a:prstGeom prst="roundRect">
            <a:avLst>
              <a:gd name="adj" fmla="val 0"/>
            </a:avLst>
          </a:prstGeom>
          <a:solidFill>
            <a:srgbClr val="F59E0B">
              <a:alpha val="8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9395460" y="4889500"/>
            <a:ext cx="216154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59E0B"/>
                </a:solidFill>
                <a:latin typeface="Noto Sans SC"/>
                <a:ea typeface="Noto Sans SC"/>
                <a:cs typeface="Noto Sans SC"/>
                <a:sym typeface="Noto Sans SC"/>
              </a:rPr>
              <a:t>共享状态</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200" b="0" i="0" u="none" strike="noStrike" dirty="0" err="1">
                <a:solidFill>
                  <a:srgbClr val="FFFFFF">
                    <a:alpha val="60000"/>
                  </a:srgbClr>
                </a:solidFill>
                <a:latin typeface="Noto Sans SC"/>
                <a:ea typeface="Noto Sans SC"/>
                <a:cs typeface="Noto Sans SC"/>
                <a:sym typeface="Noto Sans SC"/>
              </a:rPr>
              <a:t>统一管理信号处理动作及未决信号，保证进程视角一致性</a:t>
            </a:r>
            <a:r>
              <a:rPr lang="en-US" sz="1200" b="0" i="0" u="none" strike="noStrike" dirty="0">
                <a:solidFill>
                  <a:srgbClr val="FFFFFF">
                    <a:alpha val="60000"/>
                  </a:srgbClr>
                </a:solidFill>
                <a:latin typeface="Noto Sans SC"/>
                <a:ea typeface="Noto Sans SC"/>
                <a:cs typeface="Noto Sans SC"/>
                <a:sym typeface="Noto Sans SC"/>
              </a:rPr>
              <a:t>。</a:t>
            </a:r>
            <a:endParaRPr lang="en-US" sz="1100" dirty="0"/>
          </a:p>
        </p:txBody>
      </p:sp>
      <p:cxnSp>
        <p:nvCxnSpPr>
          <p:cNvPr id="45" name="Connector 45"/>
          <p:cNvCxnSpPr/>
          <p:nvPr/>
        </p:nvCxnSpPr>
        <p:spPr>
          <a:xfrm rot="-8814">
            <a:off x="6731008" y="5772150"/>
            <a:ext cx="4953000" cy="12700"/>
          </a:xfrm>
          <a:prstGeom prst="line">
            <a:avLst/>
          </a:prstGeom>
          <a:solidFill>
            <a:srgbClr val="DEE0E3">
              <a:alpha val="100000"/>
            </a:srgbClr>
          </a:solidFill>
          <a:ln w="12700" cap="flat" cmpd="sng">
            <a:solidFill>
              <a:srgbClr val="FFFFFF">
                <a:alpha val="10000"/>
              </a:srgbClr>
            </a:solidFill>
            <a:prstDash val="dot"/>
            <a:round/>
            <a:headEnd type="none" w="med" len="med"/>
            <a:tailEnd type="none" w="med" len="med"/>
          </a:ln>
        </p:spPr>
      </p:cxnSp>
      <p:sp>
        <p:nvSpPr>
          <p:cNvPr id="46" name="AutoShape 46"/>
          <p:cNvSpPr/>
          <p:nvPr/>
        </p:nvSpPr>
        <p:spPr>
          <a:xfrm>
            <a:off x="6731000" y="59055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err="1">
                <a:solidFill>
                  <a:srgbClr val="10B981"/>
                </a:solidFill>
                <a:latin typeface="Noto Sans SC"/>
                <a:ea typeface="Noto Sans SC"/>
                <a:cs typeface="Noto Sans SC"/>
                <a:sym typeface="Noto Sans SC"/>
              </a:rPr>
              <a:t>上下文原子恢复：</a:t>
            </a:r>
            <a:r>
              <a:rPr lang="en-US" sz="1200" b="0" i="0" u="none" strike="noStrike" dirty="0" err="1">
                <a:solidFill>
                  <a:srgbClr val="FFFFFF">
                    <a:alpha val="60000"/>
                  </a:srgbClr>
                </a:solidFill>
                <a:latin typeface="Noto Sans SC"/>
                <a:ea typeface="Noto Sans SC"/>
                <a:cs typeface="Noto Sans SC"/>
                <a:sym typeface="Noto Sans SC"/>
              </a:rPr>
              <a:t>利用</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rt_sigreturn</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统一入口恢复陷阱帧，finalize_frame</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接管收尾逻辑</a:t>
            </a:r>
            <a:r>
              <a:rPr lang="en-US" sz="1200" b="0" i="0" u="none" strike="noStrike" dirty="0">
                <a:solidFill>
                  <a:srgbClr val="FFFFFF">
                    <a:alpha val="60000"/>
                  </a:srgbClr>
                </a:solidFill>
                <a:latin typeface="Noto Sans SC"/>
                <a:ea typeface="Noto Sans SC"/>
                <a:cs typeface="Noto Sans SC"/>
                <a:sym typeface="Noto Sans SC"/>
              </a:rPr>
              <a:t>。</a:t>
            </a:r>
            <a:endParaRPr lang="en-US" sz="1100" dirty="0"/>
          </a:p>
        </p:txBody>
      </p:sp>
      <p:sp>
        <p:nvSpPr>
          <p:cNvPr id="47" name="AutoShape 47"/>
          <p:cNvSpPr/>
          <p:nvPr/>
        </p:nvSpPr>
        <p:spPr>
          <a:xfrm>
            <a:off x="9271000" y="5905500"/>
            <a:ext cx="2548255"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err="1">
                <a:solidFill>
                  <a:srgbClr val="10B981"/>
                </a:solidFill>
                <a:latin typeface="Noto Sans SC"/>
                <a:ea typeface="Noto Sans SC"/>
                <a:cs typeface="Noto Sans SC"/>
                <a:sym typeface="Noto Sans SC"/>
              </a:rPr>
              <a:t>健壮性与重启：</a:t>
            </a:r>
            <a:r>
              <a:rPr lang="en-US" sz="1200" b="0" i="0" u="none" strike="noStrike" dirty="0" err="1">
                <a:solidFill>
                  <a:srgbClr val="FFFFFF">
                    <a:alpha val="60000"/>
                  </a:srgbClr>
                </a:solidFill>
                <a:latin typeface="Noto Sans SC"/>
                <a:ea typeface="Noto Sans SC"/>
                <a:cs typeface="Noto Sans SC"/>
                <a:sym typeface="Noto Sans SC"/>
              </a:rPr>
              <a:t>支持</a:t>
            </a:r>
            <a:r>
              <a:rPr lang="en-US" sz="1200" b="0" i="0" u="none" strike="noStrike" dirty="0">
                <a:solidFill>
                  <a:srgbClr val="FFFFFF">
                    <a:alpha val="60000"/>
                  </a:srgbClr>
                </a:solidFill>
                <a:latin typeface="Noto Sans SC"/>
                <a:ea typeface="Noto Sans SC"/>
                <a:cs typeface="Noto Sans SC"/>
                <a:sym typeface="Noto Sans SC"/>
              </a:rPr>
              <a:t> SA_RESTART </a:t>
            </a:r>
            <a:r>
              <a:rPr lang="en-US" sz="1200" b="0" i="0" u="none" strike="noStrike" dirty="0" err="1">
                <a:solidFill>
                  <a:srgbClr val="FFFFFF">
                    <a:alpha val="60000"/>
                  </a:srgbClr>
                </a:solidFill>
                <a:latin typeface="Noto Sans SC"/>
                <a:ea typeface="Noto Sans SC"/>
                <a:cs typeface="Noto Sans SC"/>
                <a:sym typeface="Noto Sans SC"/>
              </a:rPr>
              <a:t>重启被中断的系统调用，分发器集中处理复杂的重启路径</a:t>
            </a:r>
            <a:r>
              <a:rPr lang="en-US" sz="1200" b="0" i="0" u="none" strike="noStrike" dirty="0">
                <a:solidFill>
                  <a:srgbClr val="FFFFFF">
                    <a:alpha val="60000"/>
                  </a:srgbClr>
                </a:solidFill>
                <a:latin typeface="Noto Sans SC"/>
                <a:ea typeface="Noto Sans SC"/>
                <a:cs typeface="Noto Sans SC"/>
                <a:sym typeface="Noto Sans SC"/>
              </a:rPr>
              <a: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4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日志、控制台与网络子系统</a:t>
            </a:r>
            <a:endParaRPr lang="en-US" sz="1100"/>
          </a:p>
        </p:txBody>
      </p:sp>
      <p:sp>
        <p:nvSpPr>
          <p:cNvPr id="3" name="AutoShape 3"/>
          <p:cNvSpPr/>
          <p:nvPr/>
        </p:nvSpPr>
        <p:spPr>
          <a:xfrm>
            <a:off x="508000" y="1143000"/>
            <a:ext cx="1016000" cy="508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4" name="Connector 4"/>
          <p:cNvCxnSpPr/>
          <p:nvPr/>
        </p:nvCxnSpPr>
        <p:spPr>
          <a:xfrm rot="5390953">
            <a:off x="3683000" y="4057658"/>
            <a:ext cx="4826000" cy="12700"/>
          </a:xfrm>
          <a:prstGeom prst="line">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5" name="AutoShape 5"/>
          <p:cNvSpPr/>
          <p:nvPr/>
        </p:nvSpPr>
        <p:spPr>
          <a:xfrm>
            <a:off x="508000" y="1651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日志与控制台输出链路</a:t>
            </a:r>
            <a:endParaRPr lang="en-US" sz="1100"/>
          </a:p>
        </p:txBody>
      </p:sp>
      <p:sp>
        <p:nvSpPr>
          <p:cNvPr id="6" name="AutoShape 6"/>
          <p:cNvSpPr/>
          <p:nvPr/>
        </p:nvSpPr>
        <p:spPr>
          <a:xfrm>
            <a:off x="508000" y="2159000"/>
            <a:ext cx="5207000" cy="25400"/>
          </a:xfrm>
          <a:prstGeom prst="roundRect">
            <a:avLst>
              <a:gd name="adj" fmla="val 0"/>
            </a:avLst>
          </a:prstGeom>
          <a:solidFill>
            <a:srgbClr val="00D9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2540000"/>
            <a:ext cx="5333998" cy="825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698500" y="2730500"/>
            <a:ext cx="406400" cy="406400"/>
          </a:xfrm>
          <a:prstGeom prst="rect">
            <a:avLst/>
          </a:prstGeom>
        </p:spPr>
      </p:pic>
      <p:sp>
        <p:nvSpPr>
          <p:cNvPr id="9" name="AutoShape 9"/>
          <p:cNvSpPr/>
          <p:nvPr/>
        </p:nvSpPr>
        <p:spPr>
          <a:xfrm>
            <a:off x="1270000" y="26035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FFFFF"/>
                </a:solidFill>
                <a:latin typeface="Noto Sans SC"/>
                <a:ea typeface="Noto Sans SC"/>
                <a:cs typeface="Noto Sans SC"/>
                <a:sym typeface="Noto Sans SC"/>
              </a:rPr>
              <a:t>阶段一：早期原始写入器</a:t>
            </a:r>
            <a:endParaRPr lang="en-US" sz="1600" b="1" i="0" u="none" strike="noStrike" dirty="0">
              <a:solidFill>
                <a:srgbClr val="FFFFFF"/>
              </a:solidFill>
              <a:latin typeface="Noto Sans SC"/>
              <a:ea typeface="Noto Sans SC"/>
              <a:cs typeface="Noto Sans SC"/>
              <a:sym typeface="Noto Sans SC"/>
            </a:endParaRPr>
          </a:p>
          <a:p>
            <a:pPr marL="0" indent="0" algn="l">
              <a:lnSpc>
                <a:spcPct val="100000"/>
              </a:lnSpc>
              <a:defRPr/>
            </a:pPr>
            <a:r>
              <a:rPr lang="en-US" sz="1200" b="0" i="0" u="none" strike="noStrike" dirty="0" err="1">
                <a:solidFill>
                  <a:srgbClr val="FFFFFF">
                    <a:alpha val="70196"/>
                  </a:srgbClr>
                </a:solidFill>
                <a:latin typeface="Noto Sans SC"/>
                <a:ea typeface="Noto Sans SC"/>
                <a:cs typeface="Noto Sans SC"/>
                <a:sym typeface="Noto Sans SC"/>
              </a:rPr>
              <a:t>系统初始化最早期的输出手段，绕过标准设备驱动，直接映射显存或串口寄存器进行字符输出</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0" name="AutoShape 10"/>
          <p:cNvSpPr/>
          <p:nvPr/>
        </p:nvSpPr>
        <p:spPr>
          <a:xfrm>
            <a:off x="508000" y="3619500"/>
            <a:ext cx="5333998" cy="825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98500" y="3810000"/>
            <a:ext cx="406400" cy="406400"/>
          </a:xfrm>
          <a:prstGeom prst="rect">
            <a:avLst/>
          </a:prstGeom>
        </p:spPr>
      </p:pic>
      <p:sp>
        <p:nvSpPr>
          <p:cNvPr id="12" name="AutoShape 12"/>
          <p:cNvSpPr/>
          <p:nvPr/>
        </p:nvSpPr>
        <p:spPr>
          <a:xfrm>
            <a:off x="1270000" y="36830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FFFFF"/>
                </a:solidFill>
                <a:latin typeface="Noto Sans SC"/>
                <a:ea typeface="Noto Sans SC"/>
                <a:cs typeface="Noto Sans SC"/>
                <a:sym typeface="Noto Sans SC"/>
              </a:rPr>
              <a:t>阶段二：正式字符设备</a:t>
            </a:r>
            <a:endParaRPr lang="en-US" sz="1100" dirty="0"/>
          </a:p>
          <a:p>
            <a:pPr marL="0" indent="0" algn="l">
              <a:lnSpc>
                <a:spcPct val="100000"/>
              </a:lnSpc>
            </a:pPr>
            <a:r>
              <a:rPr lang="en-US" sz="1200" b="0" i="0" u="none" strike="noStrike" dirty="0" err="1">
                <a:solidFill>
                  <a:srgbClr val="FFFFFF">
                    <a:alpha val="70196"/>
                  </a:srgbClr>
                </a:solidFill>
                <a:latin typeface="Noto Sans SC"/>
                <a:ea typeface="Noto Sans SC"/>
                <a:cs typeface="Noto Sans SC"/>
                <a:sym typeface="Noto Sans SC"/>
              </a:rPr>
              <a:t>设备模型就绪后，注册</a:t>
            </a:r>
            <a:r>
              <a:rPr lang="en-US" sz="1200" b="0" i="0" u="none" strike="noStrike" dirty="0">
                <a:solidFill>
                  <a:srgbClr val="FFFFFF">
                    <a:alpha val="70196"/>
                  </a:srgbClr>
                </a:solidFill>
                <a:latin typeface="Noto Sans SC"/>
                <a:ea typeface="Noto Sans SC"/>
                <a:cs typeface="Noto Sans SC"/>
                <a:sym typeface="Noto Sans SC"/>
              </a:rPr>
              <a:t> /dev/console </a:t>
            </a:r>
            <a:r>
              <a:rPr lang="en-US" sz="1200" b="0" i="0" u="none" strike="noStrike" dirty="0" err="1">
                <a:solidFill>
                  <a:srgbClr val="FFFFFF">
                    <a:alpha val="70196"/>
                  </a:srgbClr>
                </a:solidFill>
                <a:latin typeface="Noto Sans SC"/>
                <a:ea typeface="Noto Sans SC"/>
                <a:cs typeface="Noto Sans SC"/>
                <a:sym typeface="Noto Sans SC"/>
              </a:rPr>
              <a:t>等字符设备，通过标准驱动接口管理输出，支持多终端切换</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3" name="AutoShape 13"/>
          <p:cNvSpPr/>
          <p:nvPr/>
        </p:nvSpPr>
        <p:spPr>
          <a:xfrm>
            <a:off x="508000" y="4699000"/>
            <a:ext cx="5333998" cy="825500"/>
          </a:xfrm>
          <a:prstGeom prst="roundRect">
            <a:avLst>
              <a:gd name="adj" fmla="val 0"/>
            </a:avLst>
          </a:prstGeom>
          <a:solidFill>
            <a:srgbClr val="2A2A4A">
              <a:alpha val="100000"/>
            </a:srgbClr>
          </a:solidFill>
          <a:ln w="12700" cap="flat" cmpd="sng">
            <a:solidFill>
              <a:srgbClr val="00D9FF">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98500" y="4889500"/>
            <a:ext cx="406400" cy="406400"/>
          </a:xfrm>
          <a:prstGeom prst="rect">
            <a:avLst/>
          </a:prstGeom>
        </p:spPr>
      </p:pic>
      <p:sp>
        <p:nvSpPr>
          <p:cNvPr id="15" name="AutoShape 15"/>
          <p:cNvSpPr/>
          <p:nvPr/>
        </p:nvSpPr>
        <p:spPr>
          <a:xfrm>
            <a:off x="1270000" y="47625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FFFFF"/>
                </a:solidFill>
                <a:latin typeface="Noto Sans SC"/>
                <a:ea typeface="Noto Sans SC"/>
                <a:cs typeface="Noto Sans SC"/>
                <a:sym typeface="Noto Sans SC"/>
              </a:rPr>
              <a:t>阶段三：用户态终端交互</a:t>
            </a:r>
            <a:r>
              <a:rPr lang="en-US" sz="1600" b="1" i="0" u="none" strike="noStrike" dirty="0">
                <a:solidFill>
                  <a:srgbClr val="FFFFFF"/>
                </a:solidFill>
                <a:latin typeface="Noto Sans SC"/>
                <a:ea typeface="Noto Sans SC"/>
                <a:cs typeface="Noto Sans SC"/>
                <a:sym typeface="Noto Sans SC"/>
              </a:rPr>
              <a:t> </a:t>
            </a:r>
          </a:p>
          <a:p>
            <a:pPr marL="0" indent="0" algn="l">
              <a:lnSpc>
                <a:spcPct val="100000"/>
              </a:lnSpc>
              <a:defRPr/>
            </a:pPr>
            <a:r>
              <a:rPr lang="en-US" sz="1200" b="0" i="0" u="none" strike="noStrike" dirty="0" err="1">
                <a:solidFill>
                  <a:srgbClr val="FFFFFF">
                    <a:alpha val="70196"/>
                  </a:srgbClr>
                </a:solidFill>
                <a:latin typeface="Noto Sans SC"/>
                <a:ea typeface="Noto Sans SC"/>
                <a:cs typeface="Noto Sans SC"/>
                <a:sym typeface="Noto Sans SC"/>
              </a:rPr>
              <a:t>对接</a:t>
            </a:r>
            <a:r>
              <a:rPr lang="en-US" sz="1200" b="0" i="0" u="none" strike="noStrike" dirty="0">
                <a:solidFill>
                  <a:srgbClr val="FFFFFF">
                    <a:alpha val="70196"/>
                  </a:srgbClr>
                </a:solidFill>
                <a:latin typeface="Noto Sans SC"/>
                <a:ea typeface="Noto Sans SC"/>
                <a:cs typeface="Noto Sans SC"/>
                <a:sym typeface="Noto Sans SC"/>
              </a:rPr>
              <a:t> </a:t>
            </a:r>
            <a:r>
              <a:rPr lang="en-US" sz="1200" b="0" i="0" u="none" strike="noStrike" dirty="0" err="1">
                <a:solidFill>
                  <a:srgbClr val="FFFFFF">
                    <a:alpha val="70196"/>
                  </a:srgbClr>
                </a:solidFill>
                <a:latin typeface="Noto Sans SC"/>
                <a:ea typeface="Noto Sans SC"/>
                <a:cs typeface="Noto Sans SC"/>
                <a:sym typeface="Noto Sans SC"/>
              </a:rPr>
              <a:t>getty</a:t>
            </a:r>
            <a:r>
              <a:rPr lang="en-US" sz="1200" b="0" i="0" u="none" strike="noStrike" dirty="0">
                <a:solidFill>
                  <a:srgbClr val="FFFFFF">
                    <a:alpha val="70196"/>
                  </a:srgbClr>
                </a:solidFill>
                <a:latin typeface="Noto Sans SC"/>
                <a:ea typeface="Noto Sans SC"/>
                <a:cs typeface="Noto Sans SC"/>
                <a:sym typeface="Noto Sans SC"/>
              </a:rPr>
              <a:t>/login </a:t>
            </a:r>
            <a:r>
              <a:rPr lang="en-US" sz="1200" b="0" i="0" u="none" strike="noStrike" dirty="0" err="1">
                <a:solidFill>
                  <a:srgbClr val="FFFFFF">
                    <a:alpha val="70196"/>
                  </a:srgbClr>
                </a:solidFill>
                <a:latin typeface="Noto Sans SC"/>
                <a:ea typeface="Noto Sans SC"/>
                <a:cs typeface="Noto Sans SC"/>
                <a:sym typeface="Noto Sans SC"/>
              </a:rPr>
              <a:t>等用户进程，处理终端会话管理、信号传递及用户输入的规范模式转换</a:t>
            </a:r>
            <a:r>
              <a:rPr lang="en-US" sz="1200" b="0" i="0" u="none" strike="noStrike" dirty="0">
                <a:solidFill>
                  <a:srgbClr val="FFFFFF">
                    <a:alpha val="70196"/>
                  </a:srgbClr>
                </a:solidFill>
                <a:latin typeface="Noto Sans SC"/>
                <a:ea typeface="Noto Sans SC"/>
                <a:cs typeface="Noto Sans SC"/>
                <a:sym typeface="Noto Sans SC"/>
              </a:rPr>
              <a:t>。</a:t>
            </a:r>
          </a:p>
        </p:txBody>
      </p:sp>
      <p:sp>
        <p:nvSpPr>
          <p:cNvPr id="16" name="AutoShape 16"/>
          <p:cNvSpPr/>
          <p:nvPr/>
        </p:nvSpPr>
        <p:spPr>
          <a:xfrm>
            <a:off x="507999" y="5778500"/>
            <a:ext cx="5353045" cy="8255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83565" y="58420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00D9FF"/>
                </a:solidFill>
                <a:latin typeface="Noto Sans SC"/>
                <a:ea typeface="Noto Sans SC"/>
                <a:cs typeface="Noto Sans SC"/>
                <a:sym typeface="Noto Sans SC"/>
              </a:rPr>
              <a:t>TTY </a:t>
            </a:r>
            <a:r>
              <a:rPr lang="en-US" sz="1400" b="1" i="0" u="none" strike="noStrike" dirty="0" err="1">
                <a:solidFill>
                  <a:srgbClr val="00D9FF"/>
                </a:solidFill>
                <a:latin typeface="Noto Sans SC"/>
                <a:ea typeface="Noto Sans SC"/>
                <a:cs typeface="Noto Sans SC"/>
                <a:sym typeface="Noto Sans SC"/>
              </a:rPr>
              <a:t>输入泵核心</a:t>
            </a:r>
            <a:endParaRPr lang="en-US" sz="1100" dirty="0"/>
          </a:p>
          <a:p>
            <a:pPr marL="0" indent="0" algn="l">
              <a:lnSpc>
                <a:spcPct val="125000"/>
              </a:lnSpc>
            </a:pPr>
            <a:r>
              <a:rPr lang="en-US" sz="1100" b="0" i="0" u="none" strike="noStrike" dirty="0" err="1">
                <a:solidFill>
                  <a:srgbClr val="FFFFFF">
                    <a:alpha val="60000"/>
                  </a:srgbClr>
                </a:solidFill>
                <a:latin typeface="Noto Sans SC"/>
                <a:ea typeface="Noto Sans SC"/>
                <a:cs typeface="Noto Sans SC"/>
                <a:sym typeface="Noto Sans SC"/>
              </a:rPr>
              <a:t>中断触发原子位设置，内核线程接管行规程处理，确保数据安全不丢失</a:t>
            </a:r>
            <a:r>
              <a:rPr lang="en-US" sz="1100" b="0" i="0" u="none" strike="noStrike" dirty="0">
                <a:solidFill>
                  <a:srgbClr val="FFFFFF">
                    <a:alpha val="60000"/>
                  </a:srgbClr>
                </a:solidFill>
                <a:latin typeface="Noto Sans SC"/>
                <a:ea typeface="Noto Sans SC"/>
                <a:cs typeface="Noto Sans SC"/>
                <a:sym typeface="Noto Sans SC"/>
              </a:rPr>
              <a:t>。</a:t>
            </a:r>
          </a:p>
        </p:txBody>
      </p:sp>
      <p:cxnSp>
        <p:nvCxnSpPr>
          <p:cNvPr id="18" name="Connector 18"/>
          <p:cNvCxnSpPr>
            <a:cxnSpLocks/>
          </p:cNvCxnSpPr>
          <p:nvPr/>
        </p:nvCxnSpPr>
        <p:spPr>
          <a:xfrm>
            <a:off x="3048000" y="5846955"/>
            <a:ext cx="0" cy="698642"/>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9" name="AutoShape 19"/>
          <p:cNvSpPr/>
          <p:nvPr/>
        </p:nvSpPr>
        <p:spPr>
          <a:xfrm>
            <a:off x="3148963" y="5841946"/>
            <a:ext cx="2792095"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FACC15"/>
                </a:solidFill>
                <a:latin typeface="Noto Sans SC"/>
                <a:ea typeface="Noto Sans SC"/>
                <a:cs typeface="Noto Sans SC"/>
                <a:sym typeface="Noto Sans SC"/>
              </a:rPr>
              <a:t>信号与缓冲机制</a:t>
            </a:r>
            <a:endParaRPr lang="en-US" sz="1100" dirty="0"/>
          </a:p>
          <a:p>
            <a:pPr marL="0" indent="0" algn="l">
              <a:lnSpc>
                <a:spcPct val="125000"/>
              </a:lnSpc>
            </a:pPr>
            <a:r>
              <a:rPr lang="en-US" sz="1100" b="0" i="0" u="none" strike="noStrike" dirty="0">
                <a:solidFill>
                  <a:srgbClr val="FFFFFF">
                    <a:alpha val="60000"/>
                  </a:srgbClr>
                </a:solidFill>
                <a:latin typeface="Noto Sans SC"/>
                <a:ea typeface="Noto Sans SC"/>
                <a:cs typeface="Noto Sans SC"/>
                <a:sym typeface="Noto Sans SC"/>
              </a:rPr>
              <a:t>10ms兜底机制防死锁，Ctrl-C映射SIGINT，支持行缓冲、回显与编辑功能。</a:t>
            </a:r>
          </a:p>
        </p:txBody>
      </p:sp>
      <p:sp>
        <p:nvSpPr>
          <p:cNvPr id="20" name="AutoShape 20"/>
          <p:cNvSpPr/>
          <p:nvPr/>
        </p:nvSpPr>
        <p:spPr>
          <a:xfrm>
            <a:off x="6350000" y="1651000"/>
            <a:ext cx="533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网络子系统分层架构</a:t>
            </a:r>
            <a:endParaRPr lang="en-US" sz="1100"/>
          </a:p>
        </p:txBody>
      </p:sp>
      <p:sp>
        <p:nvSpPr>
          <p:cNvPr id="21" name="AutoShape 21"/>
          <p:cNvSpPr/>
          <p:nvPr/>
        </p:nvSpPr>
        <p:spPr>
          <a:xfrm>
            <a:off x="6350000" y="2159000"/>
            <a:ext cx="5334000" cy="25400"/>
          </a:xfrm>
          <a:prstGeom prst="roundRect">
            <a:avLst>
              <a:gd name="adj" fmla="val 0"/>
            </a:avLst>
          </a:prstGeom>
          <a:solidFill>
            <a:srgbClr val="00D9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350000" y="2540000"/>
            <a:ext cx="5334000" cy="571500"/>
          </a:xfrm>
          <a:prstGeom prst="roundRect">
            <a:avLst>
              <a:gd name="adj" fmla="val 0"/>
            </a:avLst>
          </a:prstGeom>
          <a:solidFill>
            <a:srgbClr val="8B5CF6">
              <a:alpha val="20000"/>
            </a:srgbClr>
          </a:solidFill>
          <a:ln w="12700" cap="flat" cmpd="sng">
            <a:solidFill>
              <a:srgbClr val="8B5CF6">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350000" y="2540000"/>
            <a:ext cx="76200" cy="571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540500" y="2603500"/>
            <a:ext cx="501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POSIX 网络系统调用层：</a:t>
            </a:r>
            <a:r>
              <a:rPr lang="en-US" sz="1200" b="0" i="0" u="none" strike="noStrike">
                <a:solidFill>
                  <a:srgbClr val="FFFFFF">
                    <a:alpha val="70196"/>
                  </a:srgbClr>
                </a:solidFill>
                <a:latin typeface="Noto Sans SC"/>
                <a:ea typeface="Noto Sans SC"/>
                <a:cs typeface="Noto Sans SC"/>
                <a:sym typeface="Noto Sans SC"/>
              </a:rPr>
              <a:t>socket() / bind() / listen() / accept() 标准接口抽象。</a:t>
            </a:r>
            <a:endParaRPr lang="en-US" sz="1100"/>
          </a:p>
        </p:txBody>
      </p:sp>
      <p:sp>
        <p:nvSpPr>
          <p:cNvPr id="25" name="AutoShape 25"/>
          <p:cNvSpPr/>
          <p:nvPr/>
        </p:nvSpPr>
        <p:spPr>
          <a:xfrm>
            <a:off x="6350000" y="3302000"/>
            <a:ext cx="5334000" cy="571500"/>
          </a:xfrm>
          <a:prstGeom prst="roundRect">
            <a:avLst>
              <a:gd name="adj" fmla="val 0"/>
            </a:avLst>
          </a:prstGeom>
          <a:solidFill>
            <a:srgbClr val="06B6D4">
              <a:alpha val="20000"/>
            </a:srgbClr>
          </a:solidFill>
          <a:ln w="12700" cap="flat" cmpd="sng">
            <a:solidFill>
              <a:srgbClr val="06B6D4">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350000" y="3302000"/>
            <a:ext cx="76200" cy="5715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40500" y="3365500"/>
            <a:ext cx="501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VFS 套接字管理层：</a:t>
            </a:r>
            <a:r>
              <a:rPr lang="en-US" sz="1200" b="0" i="0" u="none" strike="noStrike">
                <a:solidFill>
                  <a:srgbClr val="FFFFFF">
                    <a:alpha val="70196"/>
                  </a:srgbClr>
                </a:solidFill>
                <a:latin typeface="Noto Sans SC"/>
                <a:ea typeface="Noto Sans SC"/>
                <a:cs typeface="Noto Sans SC"/>
                <a:sym typeface="Noto Sans SC"/>
              </a:rPr>
              <a:t>将套接字抽象为文件描述符，复用文件系统的 read/write/poll 机制。</a:t>
            </a:r>
            <a:endParaRPr lang="en-US" sz="1100"/>
          </a:p>
        </p:txBody>
      </p:sp>
      <p:sp>
        <p:nvSpPr>
          <p:cNvPr id="28" name="AutoShape 28"/>
          <p:cNvSpPr/>
          <p:nvPr/>
        </p:nvSpPr>
        <p:spPr>
          <a:xfrm>
            <a:off x="6350000" y="4064000"/>
            <a:ext cx="5334000" cy="571500"/>
          </a:xfrm>
          <a:prstGeom prst="roundRect">
            <a:avLst>
              <a:gd name="adj" fmla="val 0"/>
            </a:avLst>
          </a:prstGeom>
          <a:solidFill>
            <a:srgbClr val="10B981">
              <a:alpha val="20000"/>
            </a:srgbClr>
          </a:solidFill>
          <a:ln w="127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350000" y="4064000"/>
            <a:ext cx="76200" cy="57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40500" y="4127500"/>
            <a:ext cx="501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FFFFFF"/>
                </a:solidFill>
                <a:latin typeface="Noto Sans SC"/>
                <a:ea typeface="Noto Sans SC"/>
                <a:cs typeface="Noto Sans SC"/>
                <a:sym typeface="Noto Sans SC"/>
              </a:rPr>
              <a:t>核心协议栈</a:t>
            </a:r>
            <a:r>
              <a:rPr lang="zh-CN" altLang="en-US" sz="1500" b="1" dirty="0">
                <a:solidFill>
                  <a:srgbClr val="FFFFFF"/>
                </a:solidFill>
                <a:latin typeface="Noto Sans SC"/>
                <a:ea typeface="Noto Sans SC"/>
                <a:cs typeface="Noto Sans SC"/>
                <a:sym typeface="Noto Sans SC"/>
              </a:rPr>
              <a:t>：</a:t>
            </a:r>
            <a:r>
              <a:rPr lang="en-US" sz="1200" b="0" i="0" u="none" strike="noStrike" dirty="0" err="1">
                <a:solidFill>
                  <a:srgbClr val="FFFFFF">
                    <a:alpha val="70196"/>
                  </a:srgbClr>
                </a:solidFill>
                <a:latin typeface="Noto Sans SC"/>
                <a:ea typeface="Noto Sans SC"/>
                <a:cs typeface="Noto Sans SC"/>
                <a:sym typeface="Noto Sans SC"/>
              </a:rPr>
              <a:t>集成</a:t>
            </a:r>
            <a:r>
              <a:rPr lang="en-US" sz="1200" b="0" i="0" u="none" strike="noStrike" dirty="0">
                <a:solidFill>
                  <a:srgbClr val="FFFFFF">
                    <a:alpha val="70196"/>
                  </a:srgbClr>
                </a:solidFill>
                <a:latin typeface="Noto Sans SC"/>
                <a:ea typeface="Noto Sans SC"/>
                <a:cs typeface="Noto Sans SC"/>
                <a:sym typeface="Noto Sans SC"/>
              </a:rPr>
              <a:t> </a:t>
            </a:r>
            <a:r>
              <a:rPr lang="en-US" sz="1200" b="0" i="0" u="none" strike="noStrike" dirty="0" err="1">
                <a:solidFill>
                  <a:srgbClr val="FFFFFF">
                    <a:alpha val="70196"/>
                  </a:srgbClr>
                </a:solidFill>
                <a:latin typeface="Noto Sans SC"/>
                <a:ea typeface="Noto Sans SC"/>
                <a:cs typeface="Noto Sans SC"/>
                <a:sym typeface="Noto Sans SC"/>
              </a:rPr>
              <a:t>smoltcp</a:t>
            </a:r>
            <a:r>
              <a:rPr lang="en-US" sz="1200" b="0" i="0" u="none" strike="noStrike" dirty="0">
                <a:solidFill>
                  <a:srgbClr val="FFFFFF">
                    <a:alpha val="70196"/>
                  </a:srgbClr>
                </a:solidFill>
                <a:latin typeface="Noto Sans SC"/>
                <a:ea typeface="Noto Sans SC"/>
                <a:cs typeface="Noto Sans SC"/>
                <a:sym typeface="Noto Sans SC"/>
              </a:rPr>
              <a:t> </a:t>
            </a:r>
            <a:r>
              <a:rPr lang="en-US" sz="1200" b="0" i="0" u="none" strike="noStrike" dirty="0" err="1">
                <a:solidFill>
                  <a:srgbClr val="FFFFFF">
                    <a:alpha val="70196"/>
                  </a:srgbClr>
                </a:solidFill>
                <a:latin typeface="Noto Sans SC"/>
                <a:ea typeface="Noto Sans SC"/>
                <a:cs typeface="Noto Sans SC"/>
                <a:sym typeface="Noto Sans SC"/>
              </a:rPr>
              <a:t>协议栈，处理路由查表、分片重组及</a:t>
            </a:r>
            <a:r>
              <a:rPr lang="en-US" sz="1200" b="0" i="0" u="none" strike="noStrike" dirty="0">
                <a:solidFill>
                  <a:srgbClr val="FFFFFF">
                    <a:alpha val="70196"/>
                  </a:srgbClr>
                </a:solidFill>
                <a:latin typeface="Noto Sans SC"/>
                <a:ea typeface="Noto Sans SC"/>
                <a:cs typeface="Noto Sans SC"/>
                <a:sym typeface="Noto Sans SC"/>
              </a:rPr>
              <a:t> TCP/UDP </a:t>
            </a:r>
            <a:r>
              <a:rPr lang="en-US" sz="1200" b="0" i="0" u="none" strike="noStrike" dirty="0" err="1">
                <a:solidFill>
                  <a:srgbClr val="FFFFFF">
                    <a:alpha val="70196"/>
                  </a:srgbClr>
                </a:solidFill>
                <a:latin typeface="Noto Sans SC"/>
                <a:ea typeface="Noto Sans SC"/>
                <a:cs typeface="Noto Sans SC"/>
                <a:sym typeface="Noto Sans SC"/>
              </a:rPr>
              <a:t>状态机</a:t>
            </a:r>
            <a:r>
              <a:rPr lang="en-US" sz="1200" b="0" i="0" u="none" strike="noStrike" dirty="0">
                <a:solidFill>
                  <a:srgbClr val="FFFFFF">
                    <a:alpha val="70196"/>
                  </a:srgbClr>
                </a:solidFill>
                <a:latin typeface="Noto Sans SC"/>
                <a:ea typeface="Noto Sans SC"/>
                <a:cs typeface="Noto Sans SC"/>
                <a:sym typeface="Noto Sans SC"/>
              </a:rPr>
              <a:t>。</a:t>
            </a:r>
            <a:endParaRPr lang="en-US" sz="1100" dirty="0"/>
          </a:p>
        </p:txBody>
      </p:sp>
      <p:sp>
        <p:nvSpPr>
          <p:cNvPr id="31" name="AutoShape 31"/>
          <p:cNvSpPr/>
          <p:nvPr/>
        </p:nvSpPr>
        <p:spPr>
          <a:xfrm>
            <a:off x="6350000" y="4953000"/>
            <a:ext cx="2603500" cy="1079500"/>
          </a:xfrm>
          <a:prstGeom prst="roundRect">
            <a:avLst>
              <a:gd name="adj" fmla="val 0"/>
            </a:avLst>
          </a:prstGeom>
          <a:solidFill>
            <a:srgbClr val="84CC16">
              <a:alpha val="15000"/>
            </a:srgbClr>
          </a:solidFill>
          <a:ln w="12700" cap="flat" cmpd="sng">
            <a:solidFill>
              <a:srgbClr val="84CC16">
                <a:alpha val="100000"/>
              </a:srgbClr>
            </a:solid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413500" y="50165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84CC16"/>
                </a:solidFill>
                <a:latin typeface="Noto Sans SC"/>
                <a:ea typeface="Noto Sans SC"/>
                <a:cs typeface="Noto Sans SC"/>
                <a:sym typeface="Noto Sans SC"/>
              </a:rPr>
              <a:t>ManagedInterface</a:t>
            </a:r>
            <a:endParaRPr lang="en-US" sz="1100"/>
          </a:p>
          <a:p>
            <a:pPr marL="0" indent="0" algn="l">
              <a:lnSpc>
                <a:spcPct val="100000"/>
              </a:lnSpc>
            </a:pPr>
            <a:r>
              <a:rPr lang="en-US" sz="1100" b="0" i="0" u="none" strike="noStrike">
                <a:solidFill>
                  <a:srgbClr val="FFFFFF">
                    <a:alpha val="60000"/>
                  </a:srgbClr>
                </a:solidFill>
                <a:latin typeface="Noto Sans SC"/>
                <a:ea typeface="Noto Sans SC"/>
                <a:cs typeface="Noto Sans SC"/>
                <a:sym typeface="Noto Sans SC"/>
              </a:rPr>
              <a:t>逻辑接口层，负责IP地址管理、ARP解析、流量统计与接口状态机维护。</a:t>
            </a:r>
          </a:p>
        </p:txBody>
      </p:sp>
      <p:sp>
        <p:nvSpPr>
          <p:cNvPr id="33" name="AutoShape 33"/>
          <p:cNvSpPr/>
          <p:nvPr/>
        </p:nvSpPr>
        <p:spPr>
          <a:xfrm>
            <a:off x="9080500" y="4953000"/>
            <a:ext cx="2603500" cy="1079500"/>
          </a:xfrm>
          <a:prstGeom prst="roundRect">
            <a:avLst>
              <a:gd name="adj" fmla="val 0"/>
            </a:avLst>
          </a:prstGeom>
          <a:solidFill>
            <a:srgbClr val="F59E0B">
              <a:alpha val="15000"/>
            </a:srgbClr>
          </a:solidFill>
          <a:ln w="12700" cap="flat" cmpd="sng">
            <a:solidFill>
              <a:srgbClr val="F59E0B">
                <a:alpha val="100000"/>
              </a:srgbClr>
            </a:solid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144000" y="50165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59E0B"/>
                </a:solidFill>
                <a:latin typeface="Noto Sans SC"/>
                <a:ea typeface="Noto Sans SC"/>
                <a:cs typeface="Noto Sans SC"/>
                <a:sym typeface="Noto Sans SC"/>
              </a:rPr>
              <a:t>NetDriver / Device</a:t>
            </a:r>
            <a:endParaRPr lang="en-US" sz="1100"/>
          </a:p>
          <a:p>
            <a:pPr marL="0" indent="0" algn="l">
              <a:lnSpc>
                <a:spcPct val="100000"/>
              </a:lnSpc>
            </a:pPr>
            <a:r>
              <a:rPr lang="en-US" sz="1100" b="0" i="0" u="none" strike="noStrike">
                <a:solidFill>
                  <a:srgbClr val="FFFFFF">
                    <a:alpha val="60000"/>
                  </a:srgbClr>
                </a:solidFill>
                <a:latin typeface="Noto Sans SC"/>
                <a:ea typeface="Noto Sans SC"/>
                <a:cs typeface="Noto Sans SC"/>
                <a:sym typeface="Noto Sans SC"/>
              </a:rPr>
              <a:t>硬件驱动层，对接 VirtIO-Net 或物理网卡，负责帧的发送与接收中断处理。</a:t>
            </a:r>
          </a:p>
        </p:txBody>
      </p:sp>
      <p:sp>
        <p:nvSpPr>
          <p:cNvPr id="35" name="AutoShape 35"/>
          <p:cNvSpPr/>
          <p:nvPr/>
        </p:nvSpPr>
        <p:spPr>
          <a:xfrm>
            <a:off x="6350000" y="6159500"/>
            <a:ext cx="5334000" cy="508000"/>
          </a:xfrm>
          <a:prstGeom prst="roundRect">
            <a:avLst>
              <a:gd name="adj" fmla="val 0"/>
            </a:avLst>
          </a:prstGeom>
          <a:solidFill>
            <a:srgbClr val="2A2A4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413500" y="6197600"/>
            <a:ext cx="127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a:solidFill>
                  <a:srgbClr val="00D9FF"/>
                </a:solidFill>
                <a:latin typeface="Noto Sans SC"/>
                <a:ea typeface="Noto Sans SC"/>
                <a:cs typeface="Noto Sans SC"/>
                <a:sym typeface="Noto Sans SC"/>
              </a:rPr>
              <a:t>TCP</a:t>
            </a:r>
            <a:r>
              <a:rPr lang="zh-CN" altLang="en-US" sz="1100" b="1" i="0" u="none" strike="noStrike" dirty="0">
                <a:solidFill>
                  <a:srgbClr val="00D9FF"/>
                </a:solidFill>
                <a:latin typeface="Noto Sans SC"/>
                <a:ea typeface="Noto Sans SC"/>
                <a:cs typeface="Noto Sans SC"/>
                <a:sym typeface="Noto Sans SC"/>
              </a:rPr>
              <a:t>：</a:t>
            </a:r>
            <a:r>
              <a:rPr lang="en-US" sz="1000" b="0" i="0" u="none" strike="noStrike" dirty="0" err="1">
                <a:solidFill>
                  <a:srgbClr val="FFFFFF">
                    <a:alpha val="70196"/>
                  </a:srgbClr>
                </a:solidFill>
                <a:latin typeface="Noto Sans SC"/>
                <a:ea typeface="Noto Sans SC"/>
                <a:cs typeface="Noto Sans SC"/>
                <a:sym typeface="Noto Sans SC"/>
              </a:rPr>
              <a:t>可靠字节流</a:t>
            </a:r>
            <a:endParaRPr lang="en-US" sz="1100" dirty="0"/>
          </a:p>
        </p:txBody>
      </p:sp>
      <p:cxnSp>
        <p:nvCxnSpPr>
          <p:cNvPr id="37" name="Connector 37"/>
          <p:cNvCxnSpPr/>
          <p:nvPr/>
        </p:nvCxnSpPr>
        <p:spPr>
          <a:xfrm rot="5262563">
            <a:off x="7524750" y="6375527"/>
            <a:ext cx="3175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8" name="AutoShape 38"/>
          <p:cNvSpPr/>
          <p:nvPr/>
        </p:nvSpPr>
        <p:spPr>
          <a:xfrm>
            <a:off x="7747000" y="6197600"/>
            <a:ext cx="127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a:solidFill>
                  <a:srgbClr val="10B981"/>
                </a:solidFill>
                <a:latin typeface="Noto Sans SC"/>
                <a:ea typeface="Noto Sans SC"/>
                <a:cs typeface="Noto Sans SC"/>
                <a:sym typeface="Noto Sans SC"/>
              </a:rPr>
              <a:t>UDP</a:t>
            </a:r>
            <a:r>
              <a:rPr lang="zh-CN" altLang="en-US" sz="1100" b="1" i="0" u="none" strike="noStrike" dirty="0">
                <a:solidFill>
                  <a:srgbClr val="10B981"/>
                </a:solidFill>
                <a:latin typeface="Noto Sans SC"/>
                <a:ea typeface="Noto Sans SC"/>
                <a:cs typeface="Noto Sans SC"/>
                <a:sym typeface="Noto Sans SC"/>
              </a:rPr>
              <a:t>：</a:t>
            </a:r>
            <a:r>
              <a:rPr lang="en-US" sz="1000" b="0" i="0" u="none" strike="noStrike" dirty="0" err="1">
                <a:solidFill>
                  <a:srgbClr val="FFFFFF">
                    <a:alpha val="70196"/>
                  </a:srgbClr>
                </a:solidFill>
                <a:latin typeface="Noto Sans SC"/>
                <a:ea typeface="Noto Sans SC"/>
                <a:cs typeface="Noto Sans SC"/>
                <a:sym typeface="Noto Sans SC"/>
              </a:rPr>
              <a:t>无连接消息</a:t>
            </a:r>
            <a:endParaRPr lang="en-US" sz="1100" dirty="0"/>
          </a:p>
        </p:txBody>
      </p:sp>
      <p:cxnSp>
        <p:nvCxnSpPr>
          <p:cNvPr id="39" name="Connector 39"/>
          <p:cNvCxnSpPr/>
          <p:nvPr/>
        </p:nvCxnSpPr>
        <p:spPr>
          <a:xfrm rot="5262563">
            <a:off x="8858250" y="6375527"/>
            <a:ext cx="3175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40" name="AutoShape 40"/>
          <p:cNvSpPr/>
          <p:nvPr/>
        </p:nvSpPr>
        <p:spPr>
          <a:xfrm>
            <a:off x="9080500" y="6197600"/>
            <a:ext cx="254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a:solidFill>
                  <a:srgbClr val="F59E0B"/>
                </a:solidFill>
                <a:latin typeface="Noto Sans SC"/>
                <a:ea typeface="Noto Sans SC"/>
                <a:cs typeface="Noto Sans SC"/>
                <a:sym typeface="Noto Sans SC"/>
              </a:rPr>
              <a:t>Unix</a:t>
            </a:r>
            <a:r>
              <a:rPr lang="zh-CN" altLang="en-US" sz="1100" b="1" i="0" u="none" strike="noStrike" dirty="0">
                <a:solidFill>
                  <a:srgbClr val="F59E0B"/>
                </a:solidFill>
                <a:latin typeface="Noto Sans SC"/>
                <a:ea typeface="Noto Sans SC"/>
                <a:cs typeface="Noto Sans SC"/>
                <a:sym typeface="Noto Sans SC"/>
              </a:rPr>
              <a:t>：</a:t>
            </a:r>
            <a:r>
              <a:rPr lang="en-US" sz="1000" b="0" i="0" u="none" strike="noStrike" dirty="0" err="1">
                <a:solidFill>
                  <a:srgbClr val="FFFFFF">
                    <a:alpha val="70196"/>
                  </a:srgbClr>
                </a:solidFill>
                <a:latin typeface="Noto Sans SC"/>
                <a:ea typeface="Noto Sans SC"/>
                <a:cs typeface="Noto Sans SC"/>
                <a:sym typeface="Noto Sans SC"/>
              </a:rPr>
              <a:t>本地内存套接字，零拷贝</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工程总结与创新点</a:t>
            </a:r>
            <a:endParaRPr lang="en-US" sz="1100"/>
          </a:p>
        </p:txBody>
      </p:sp>
      <p:sp>
        <p:nvSpPr>
          <p:cNvPr id="3" name="AutoShape 3"/>
          <p:cNvSpPr/>
          <p:nvPr/>
        </p:nvSpPr>
        <p:spPr>
          <a:xfrm>
            <a:off x="508000" y="1143000"/>
            <a:ext cx="10160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4605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FFFFFF"/>
                </a:solidFill>
                <a:latin typeface="Noto Sans SC"/>
                <a:ea typeface="Noto Sans SC"/>
                <a:cs typeface="Noto Sans SC"/>
                <a:sym typeface="Noto Sans SC"/>
              </a:rPr>
              <a:t>四大核心创新</a:t>
            </a:r>
            <a:endParaRPr lang="en-US" sz="1100"/>
          </a:p>
        </p:txBody>
      </p:sp>
      <p:sp>
        <p:nvSpPr>
          <p:cNvPr id="5" name="AutoShape 5"/>
          <p:cNvSpPr/>
          <p:nvPr/>
        </p:nvSpPr>
        <p:spPr>
          <a:xfrm>
            <a:off x="508000" y="2032000"/>
            <a:ext cx="5524500" cy="14605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032000"/>
            <a:ext cx="5524500" cy="508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2159000"/>
            <a:ext cx="527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01. 启动上下文</a:t>
            </a:r>
            <a:endParaRPr lang="en-US" sz="1100"/>
          </a:p>
          <a:p>
            <a:pPr marL="0" indent="0" algn="l">
              <a:lnSpc>
                <a:spcPct val="133333"/>
              </a:lnSpc>
            </a:pPr>
            <a:r>
              <a:rPr lang="en-US" sz="1400" b="0" i="0" u="none" strike="noStrike">
                <a:solidFill>
                  <a:srgbClr val="FFFFFF">
                    <a:alpha val="85098"/>
                  </a:srgbClr>
                </a:solidFill>
                <a:latin typeface="Noto Sans SC"/>
                <a:ea typeface="Noto Sans SC"/>
                <a:cs typeface="Noto Sans SC"/>
                <a:sym typeface="Noto Sans SC"/>
              </a:rPr>
              <a:t>一次性交接边界，把启动变成可验证的单次事务，架构差异收束在上下文构造侧，避免了传统启动流程中状态扩散导致的维护难题。</a:t>
            </a:r>
          </a:p>
        </p:txBody>
      </p:sp>
      <p:sp>
        <p:nvSpPr>
          <p:cNvPr id="8" name="AutoShape 8"/>
          <p:cNvSpPr/>
          <p:nvPr/>
        </p:nvSpPr>
        <p:spPr>
          <a:xfrm>
            <a:off x="6159500" y="2032000"/>
            <a:ext cx="5524500" cy="14605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159500" y="2032000"/>
            <a:ext cx="5524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86500" y="2159000"/>
            <a:ext cx="527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02. 设备功能模块</a:t>
            </a:r>
            <a:endParaRPr lang="en-US" sz="1100"/>
          </a:p>
          <a:p>
            <a:pPr marL="0" indent="0" algn="l">
              <a:lnSpc>
                <a:spcPct val="133333"/>
              </a:lnSpc>
            </a:pPr>
            <a:r>
              <a:rPr sz="1150">
                <a:solidFill>
                  <a:srgbClr val="D1D5DB"/>
                </a:solidFill>
              </a:rPr>
              <a:t>根概念从「设备文件类型」上移到「开放能力类型」；DeviceFunction 核心 trait 仅 5 个方法，PnP / 注册表 / devtmpfs 三层核心均不感知具体设备语义，新增设备类型时无需重写 —— 实现了前所未有的高度可拓展性。</a:t>
            </a:r>
          </a:p>
        </p:txBody>
      </p:sp>
      <p:sp>
        <p:nvSpPr>
          <p:cNvPr id="11" name="AutoShape 11"/>
          <p:cNvSpPr/>
          <p:nvPr/>
        </p:nvSpPr>
        <p:spPr>
          <a:xfrm>
            <a:off x="508000" y="3683000"/>
            <a:ext cx="5524500" cy="14605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 y="3683000"/>
            <a:ext cx="5524500" cy="508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5000" y="3810000"/>
            <a:ext cx="527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03. 内存分配链</a:t>
            </a:r>
            <a:endParaRPr lang="en-US" sz="1100"/>
          </a:p>
          <a:p>
            <a:pPr marL="0" indent="0" algn="l">
              <a:lnSpc>
                <a:spcPct val="133333"/>
              </a:lnSpc>
            </a:pPr>
            <a:r>
              <a:rPr lang="en-US" sz="1400" b="0" i="0" u="none" strike="noStrike">
                <a:solidFill>
                  <a:srgbClr val="FFFFFF">
                    <a:alpha val="85098"/>
                  </a:srgbClr>
                </a:solidFill>
                <a:latin typeface="Noto Sans SC"/>
                <a:ea typeface="Noto Sans SC"/>
                <a:cs typeface="Noto Sans SC"/>
                <a:sym typeface="Noto Sans SC"/>
              </a:rPr>
              <a:t>构建“启动分配器封存→伙伴系统→地址空间→Slab/内核堆/受管堆”的单向流动链条，确保内存资源逐级交接，杜绝非法越界访问。</a:t>
            </a:r>
          </a:p>
        </p:txBody>
      </p:sp>
      <p:sp>
        <p:nvSpPr>
          <p:cNvPr id="14" name="AutoShape 14"/>
          <p:cNvSpPr/>
          <p:nvPr/>
        </p:nvSpPr>
        <p:spPr>
          <a:xfrm>
            <a:off x="6159500" y="3683000"/>
            <a:ext cx="5524500" cy="1460500"/>
          </a:xfrm>
          <a:prstGeom prst="roundRect">
            <a:avLst>
              <a:gd name="adj" fmla="val 0"/>
            </a:avLst>
          </a:prstGeom>
          <a:solidFill>
            <a:srgbClr val="2A2A4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159500" y="3683000"/>
            <a:ext cx="55245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286500" y="3810000"/>
            <a:ext cx="527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04. 类型安全 + POSIX兼容</a:t>
            </a:r>
            <a:endParaRPr lang="en-US" sz="1100"/>
          </a:p>
          <a:p>
            <a:pPr marL="0" indent="0" algn="l">
              <a:lnSpc>
                <a:spcPct val="133333"/>
              </a:lnSpc>
            </a:pPr>
            <a:r>
              <a:rPr lang="en-US" sz="1400" b="0" i="0" u="none" strike="noStrike">
                <a:solidFill>
                  <a:srgbClr val="FFFFFF">
                    <a:alpha val="85098"/>
                  </a:srgbClr>
                </a:solidFill>
                <a:latin typeface="Noto Sans SC"/>
                <a:ea typeface="Noto Sans SC"/>
                <a:cs typeface="Noto Sans SC"/>
                <a:sym typeface="Noto Sans SC"/>
              </a:rPr>
              <a:t>内核内部利用trait契约与枚举不变量严格保证类型安全，仅在VFS层作为唯一非类型安全边界对接POSIX标准，平衡了安全与兼容性。</a:t>
            </a:r>
          </a:p>
        </p:txBody>
      </p:sp>
      <p:cxnSp>
        <p:nvCxnSpPr>
          <p:cNvPr id="17" name="Connector 17"/>
          <p:cNvCxnSpPr/>
          <p:nvPr/>
        </p:nvCxnSpPr>
        <p:spPr>
          <a:xfrm rot="-3906">
            <a:off x="508004" y="5327650"/>
            <a:ext cx="1117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p:cNvSpPr/>
          <p:nvPr/>
        </p:nvSpPr>
        <p:spPr>
          <a:xfrm>
            <a:off x="508000" y="5461000"/>
            <a:ext cx="508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已知不足与改进方向</a:t>
            </a:r>
            <a:endParaRPr lang="en-US" sz="1100"/>
          </a:p>
        </p:txBody>
      </p:sp>
      <p:sp>
        <p:nvSpPr>
          <p:cNvPr id="19" name="AutoShape 19"/>
          <p:cNvSpPr/>
          <p:nvPr/>
        </p:nvSpPr>
        <p:spPr>
          <a:xfrm>
            <a:off x="508000" y="5905500"/>
            <a:ext cx="2692400" cy="8255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08000" y="5905500"/>
            <a:ext cx="50800" cy="8255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35000" y="59436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500" b="1" i="0" u="none" strike="noStrike">
                <a:solidFill>
                  <a:srgbClr val="FFFFFF"/>
                </a:solidFill>
                <a:latin typeface="Noto Sans SC"/>
                <a:ea typeface="Noto Sans SC"/>
                <a:cs typeface="Noto Sans SC"/>
                <a:sym typeface="Noto Sans SC"/>
              </a:rPr>
              <a:t>设备抽象层</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部分内置驱动缺快速路径，I/O热路径仍有优化空间，需重构数据流转。</a:t>
            </a:r>
          </a:p>
        </p:txBody>
      </p:sp>
      <p:sp>
        <p:nvSpPr>
          <p:cNvPr id="22" name="AutoShape 22"/>
          <p:cNvSpPr/>
          <p:nvPr/>
        </p:nvSpPr>
        <p:spPr>
          <a:xfrm>
            <a:off x="3365500" y="5905500"/>
            <a:ext cx="2692400" cy="8255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365500" y="5905500"/>
            <a:ext cx="50800" cy="82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3492500" y="59436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500" b="1" i="0" u="none" strike="noStrike">
                <a:solidFill>
                  <a:srgbClr val="FFFFFF"/>
                </a:solidFill>
                <a:latin typeface="Noto Sans SC"/>
                <a:ea typeface="Noto Sans SC"/>
                <a:cs typeface="Noto Sans SC"/>
                <a:sym typeface="Noto Sans SC"/>
              </a:rPr>
              <a:t>进程调度器</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多核支持未完全实现，负载均衡策略及NUMA节点感知能力尚待完善。</a:t>
            </a:r>
          </a:p>
        </p:txBody>
      </p:sp>
      <p:sp>
        <p:nvSpPr>
          <p:cNvPr id="25" name="AutoShape 25"/>
          <p:cNvSpPr/>
          <p:nvPr/>
        </p:nvSpPr>
        <p:spPr>
          <a:xfrm>
            <a:off x="6223000" y="5905500"/>
            <a:ext cx="2692400" cy="825500"/>
          </a:xfrm>
          <a:prstGeom prst="roundRect">
            <a:avLst>
              <a:gd name="adj" fmla="val 0"/>
            </a:avLst>
          </a:prstGeom>
          <a:solidFill>
            <a:srgbClr val="1E1E3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223000" y="5905500"/>
            <a:ext cx="50800" cy="825500"/>
          </a:xfrm>
          <a:prstGeom prst="roundRect">
            <a:avLst>
              <a:gd name="adj" fmla="val 0"/>
            </a:avLst>
          </a:pr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350000" y="59436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500" b="1" i="0" u="none" strike="noStrike">
                <a:solidFill>
                  <a:srgbClr val="FFFFFF"/>
                </a:solidFill>
                <a:latin typeface="Noto Sans SC"/>
                <a:ea typeface="Noto Sans SC"/>
                <a:cs typeface="Noto Sans SC"/>
                <a:sym typeface="Noto Sans SC"/>
              </a:rPr>
              <a:t>网络协议栈</a:t>
            </a:r>
            <a:endParaRPr lang="en-US" sz="1100"/>
          </a:p>
          <a:p>
            <a:pPr marL="0" indent="0" algn="l">
              <a:lnSpc>
                <a:spcPct val="100000"/>
              </a:lnSpc>
            </a:pPr>
            <a:r>
              <a:rPr lang="en-US" sz="1200" b="0" i="0" u="none" strike="noStrike">
                <a:solidFill>
                  <a:srgbClr val="FFFFFF">
                    <a:alpha val="70196"/>
                  </a:srgbClr>
                </a:solidFill>
                <a:latin typeface="Noto Sans SC"/>
                <a:ea typeface="Noto Sans SC"/>
                <a:cs typeface="Noto Sans SC"/>
                <a:sym typeface="Noto Sans SC"/>
              </a:rPr>
              <a:t>推进机制较简单，全局唤醒引发惊群效应，收发吞吐量仍有提升潜力。</a:t>
            </a:r>
          </a:p>
        </p:txBody>
      </p:sp>
      <p:sp>
        <p:nvSpPr>
          <p:cNvPr id="28" name="AutoShape 28"/>
          <p:cNvSpPr/>
          <p:nvPr/>
        </p:nvSpPr>
        <p:spPr>
          <a:xfrm>
            <a:off x="9080500" y="5905500"/>
            <a:ext cx="2692400" cy="825500"/>
          </a:xfrm>
          <a:prstGeom prst="roundRect">
            <a:avLst>
              <a:gd name="adj" fmla="val 0"/>
            </a:avLst>
          </a:prstGeom>
          <a:solidFill>
            <a:srgbClr val="25254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9080500" y="5905500"/>
            <a:ext cx="50800" cy="825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207500" y="5943600"/>
            <a:ext cx="2565400" cy="762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500" b="1" i="0" u="none" strike="noStrike" dirty="0">
                <a:solidFill>
                  <a:srgbClr val="FFFFFF"/>
                </a:solidFill>
                <a:latin typeface="Noto Sans SC"/>
                <a:ea typeface="Noto Sans SC"/>
                <a:cs typeface="Noto Sans SC"/>
                <a:sym typeface="Noto Sans SC"/>
              </a:rPr>
              <a:t>VFS </a:t>
            </a:r>
            <a:r>
              <a:rPr lang="en-US" sz="1500" b="1" i="0" u="none" strike="noStrike" dirty="0" err="1">
                <a:solidFill>
                  <a:srgbClr val="FFFFFF"/>
                </a:solidFill>
                <a:latin typeface="Noto Sans SC"/>
                <a:ea typeface="Noto Sans SC"/>
                <a:cs typeface="Noto Sans SC"/>
                <a:sym typeface="Noto Sans SC"/>
              </a:rPr>
              <a:t>兼容性</a:t>
            </a:r>
            <a:endParaRPr lang="en-US" sz="1100" dirty="0"/>
          </a:p>
          <a:p>
            <a:pPr marL="0" indent="0" algn="l">
              <a:lnSpc>
                <a:spcPct val="100000"/>
              </a:lnSpc>
            </a:pPr>
            <a:r>
              <a:rPr lang="en-US" sz="1200" b="0" i="0" u="none" strike="noStrike" dirty="0" err="1">
                <a:solidFill>
                  <a:srgbClr val="FFFFFF">
                    <a:alpha val="70196"/>
                  </a:srgbClr>
                </a:solidFill>
                <a:latin typeface="Noto Sans SC"/>
                <a:ea typeface="Noto Sans SC"/>
                <a:cs typeface="Noto Sans SC"/>
                <a:sym typeface="Noto Sans SC"/>
              </a:rPr>
              <a:t>边界条件覆盖不足，部分错误处理路径的语义与Linux标准存在细微偏差</a:t>
            </a:r>
            <a:r>
              <a:rPr lang="en-US" sz="1200" b="0" i="0" u="none" strike="noStrike" dirty="0">
                <a:solidFill>
                  <a:srgbClr val="FFFFFF">
                    <a:alpha val="70196"/>
                  </a:srgbClr>
                </a:solidFill>
                <a:latin typeface="Noto Sans SC"/>
                <a:ea typeface="Noto Sans SC"/>
                <a:cs typeface="Noto Sans SC"/>
                <a:sym typeface="Noto Sans SC"/>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1A2E">
                <a:alpha val="100000"/>
              </a:srgbClr>
            </a:gs>
            <a:gs pos="100000">
              <a:srgbClr val="16213E">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890000" y="-1270000"/>
            <a:ext cx="5080000" cy="5080000"/>
          </a:xfrm>
          <a:prstGeom prst="ellipse">
            <a:avLst/>
          </a:prstGeom>
          <a:solidFill>
            <a:srgbClr val="00D9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6350000" cy="3810000"/>
          </a:xfrm>
          <a:prstGeom prst="ellipse">
            <a:avLst/>
          </a:prstGeom>
          <a:solidFill>
            <a:srgbClr val="00D9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762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spc="400">
                <a:solidFill>
                  <a:srgbClr val="FFFFFF"/>
                </a:solidFill>
                <a:latin typeface="Noto Sans SC"/>
                <a:ea typeface="Noto Sans SC"/>
                <a:cs typeface="Noto Sans SC"/>
                <a:sym typeface="Noto Sans SC"/>
              </a:rPr>
              <a:t>感谢聆听</a:t>
            </a:r>
            <a:endParaRPr lang="en-US" sz="1100"/>
          </a:p>
        </p:txBody>
      </p:sp>
      <p:sp>
        <p:nvSpPr>
          <p:cNvPr id="5" name="AutoShape 5"/>
          <p:cNvSpPr/>
          <p:nvPr/>
        </p:nvSpPr>
        <p:spPr>
          <a:xfrm>
            <a:off x="0" y="190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00D9FF"/>
                </a:solidFill>
                <a:latin typeface="Noto Sans SC"/>
                <a:ea typeface="Noto Sans SC"/>
                <a:cs typeface="Noto Sans SC"/>
                <a:sym typeface="Noto Sans SC"/>
              </a:rPr>
              <a:t>Q &amp; A</a:t>
            </a:r>
            <a:endParaRPr lang="en-US" sz="1100"/>
          </a:p>
        </p:txBody>
      </p:sp>
      <p:cxnSp>
        <p:nvCxnSpPr>
          <p:cNvPr id="6" name="Connector 6"/>
          <p:cNvCxnSpPr/>
          <p:nvPr/>
        </p:nvCxnSpPr>
        <p:spPr>
          <a:xfrm rot="-34376">
            <a:off x="5461032" y="2787650"/>
            <a:ext cx="1270000" cy="12700"/>
          </a:xfrm>
          <a:prstGeom prst="straightConnector1">
            <a:avLst/>
          </a:prstGeom>
          <a:solidFill>
            <a:srgbClr val="DEE0E3">
              <a:alpha val="100000"/>
            </a:srgbClr>
          </a:solidFill>
          <a:ln w="25400" cap="flat" cmpd="sng">
            <a:solidFill>
              <a:srgbClr val="00D9FF">
                <a:alpha val="50000"/>
              </a:srgbClr>
            </a:solidFill>
            <a:prstDash val="solid"/>
            <a:round/>
            <a:headEnd type="none" w="lg" len="lg"/>
            <a:tailEnd type="none" w="lg" len="lg"/>
          </a:ln>
        </p:spPr>
      </p:cxnSp>
      <p:sp>
        <p:nvSpPr>
          <p:cNvPr id="7" name="AutoShape 7"/>
          <p:cNvSpPr/>
          <p:nvPr/>
        </p:nvSpPr>
        <p:spPr>
          <a:xfrm>
            <a:off x="508000" y="31750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致谢</a:t>
            </a:r>
            <a:endParaRPr lang="en-US" sz="1100"/>
          </a:p>
        </p:txBody>
      </p:sp>
      <p:sp>
        <p:nvSpPr>
          <p:cNvPr id="8" name="AutoShape 8"/>
          <p:cNvSpPr/>
          <p:nvPr/>
        </p:nvSpPr>
        <p:spPr>
          <a:xfrm>
            <a:off x="508000" y="3683000"/>
            <a:ext cx="762000" cy="381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08000" y="4000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FFFFFF">
                    <a:alpha val="85098"/>
                  </a:srgbClr>
                </a:solidFill>
                <a:latin typeface="Noto Sans SC"/>
                <a:ea typeface="Noto Sans SC"/>
                <a:cs typeface="Noto Sans SC"/>
                <a:sym typeface="Noto Sans SC"/>
              </a:rPr>
              <a:t>感谢李欣老师在系统架构设计与核心算法实现上的悉心指导；感谢太原理工大学提供的高性能计算资源与开放学术环境；特别感谢全国大学生计算机系统能力大赛组委会提供宝贵的展示与交流平台。</a:t>
            </a:r>
            <a:endParaRPr lang="en-US" sz="1100"/>
          </a:p>
        </p:txBody>
      </p:sp>
      <p:cxnSp>
        <p:nvCxnSpPr>
          <p:cNvPr id="10" name="Connector 10"/>
          <p:cNvCxnSpPr/>
          <p:nvPr/>
        </p:nvCxnSpPr>
        <p:spPr>
          <a:xfrm rot="5379778">
            <a:off x="3175000" y="4375169"/>
            <a:ext cx="2159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1" name="AutoShape 11"/>
          <p:cNvSpPr/>
          <p:nvPr/>
        </p:nvSpPr>
        <p:spPr>
          <a:xfrm>
            <a:off x="4445000" y="31750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技术参考</a:t>
            </a:r>
            <a:endParaRPr lang="en-US" sz="1100"/>
          </a:p>
        </p:txBody>
      </p:sp>
      <p:sp>
        <p:nvSpPr>
          <p:cNvPr id="12" name="AutoShape 12"/>
          <p:cNvSpPr/>
          <p:nvPr/>
        </p:nvSpPr>
        <p:spPr>
          <a:xfrm>
            <a:off x="4445000" y="3683000"/>
            <a:ext cx="1016000" cy="381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445000" y="4000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FFFFFF">
                    <a:alpha val="85098"/>
                  </a:srgbClr>
                </a:solidFill>
                <a:latin typeface="Noto Sans SC"/>
                <a:ea typeface="Noto Sans SC"/>
                <a:cs typeface="Noto Sans SC"/>
                <a:sym typeface="Noto Sans SC"/>
              </a:rPr>
              <a:t>内存管理模块参考 FreeBSD UMA 分配器架构；进程调度器基于 Linux 6.10+ 引入 EEVDF 公平调度算法；网络层采用 smoltcp 轻量级协议栈进行深度裁剪与移植适配。</a:t>
            </a:r>
            <a:endParaRPr lang="en-US" sz="1100"/>
          </a:p>
        </p:txBody>
      </p:sp>
      <p:cxnSp>
        <p:nvCxnSpPr>
          <p:cNvPr id="14" name="Connector 14"/>
          <p:cNvCxnSpPr/>
          <p:nvPr/>
        </p:nvCxnSpPr>
        <p:spPr>
          <a:xfrm rot="5379778">
            <a:off x="6985000" y="4375169"/>
            <a:ext cx="2159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5" name="AutoShape 15"/>
          <p:cNvSpPr/>
          <p:nvPr/>
        </p:nvSpPr>
        <p:spPr>
          <a:xfrm>
            <a:off x="8255000" y="3175000"/>
            <a:ext cx="355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AI 工具使用声明</a:t>
            </a:r>
            <a:endParaRPr lang="en-US" sz="1100"/>
          </a:p>
        </p:txBody>
      </p:sp>
      <p:sp>
        <p:nvSpPr>
          <p:cNvPr id="16" name="AutoShape 16"/>
          <p:cNvSpPr/>
          <p:nvPr/>
        </p:nvSpPr>
        <p:spPr>
          <a:xfrm>
            <a:off x="8255000" y="3683000"/>
            <a:ext cx="1524000" cy="38100"/>
          </a:xfrm>
          <a:prstGeom prst="roundRect">
            <a:avLst>
              <a:gd name="adj" fmla="val 0"/>
            </a:avLst>
          </a:prstGeom>
          <a:solidFill>
            <a:srgbClr val="00D9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55000" y="4000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FFFFFF">
                    <a:alpha val="85098"/>
                  </a:srgbClr>
                </a:solidFill>
                <a:latin typeface="Noto Sans SC"/>
                <a:ea typeface="Noto Sans SC"/>
                <a:cs typeface="Noto Sans SC"/>
                <a:sym typeface="Noto Sans SC"/>
              </a:rPr>
              <a:t>项目中 extfs/fatfs 文件系统基础框架由 GPT-5.5 辅助生成原型；核心代码的规范性注释由 Deepseek v4 协助完善；RISC-V64 架构底层适配部分借助 Claude Opus 4.6 完成验证。</a:t>
            </a:r>
            <a:endParaRPr lang="en-US" sz="1100"/>
          </a:p>
        </p:txBody>
      </p:sp>
      <p:cxnSp>
        <p:nvCxnSpPr>
          <p:cNvPr id="18" name="Connector 18"/>
          <p:cNvCxnSpPr/>
          <p:nvPr/>
        </p:nvCxnSpPr>
        <p:spPr>
          <a:xfrm rot="-3906">
            <a:off x="508004" y="5835650"/>
            <a:ext cx="1117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9"/>
          <p:cNvSpPr/>
          <p:nvPr/>
        </p:nvSpPr>
        <p:spPr>
          <a:xfrm>
            <a:off x="0" y="5994400"/>
            <a:ext cx="12192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solidFill>
                <a:latin typeface="Noto Sans SC"/>
                <a:ea typeface="Noto Sans SC"/>
                <a:cs typeface="Noto Sans SC"/>
                <a:sym typeface="Noto Sans SC"/>
              </a:rPr>
              <a:t>太原理工大学 · MyGO!!!!! 团队</a:t>
            </a:r>
            <a:endParaRPr lang="en-US" sz="1100"/>
          </a:p>
        </p:txBody>
      </p:sp>
      <p:sp>
        <p:nvSpPr>
          <p:cNvPr id="20" name="AutoShape 20"/>
          <p:cNvSpPr/>
          <p:nvPr/>
        </p:nvSpPr>
        <p:spPr>
          <a:xfrm>
            <a:off x="0" y="6375400"/>
            <a:ext cx="1219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70196"/>
                  </a:srgbClr>
                </a:solidFill>
                <a:latin typeface="Noto Sans SC"/>
                <a:ea typeface="Noto Sans SC"/>
                <a:cs typeface="Noto Sans SC"/>
                <a:sym typeface="Noto Sans SC"/>
              </a:rPr>
              <a:t>内核技术汇报 · 2026</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714</TotalTime>
  <Words>2634</Words>
  <Application>Microsoft Office PowerPoint</Application>
  <PresentationFormat>宽屏</PresentationFormat>
  <Paragraphs>493</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15</vt:i4>
      </vt:variant>
    </vt:vector>
  </HeadingPairs>
  <TitlesOfParts>
    <vt:vector size="21" baseType="lpstr">
      <vt:lpstr>Inter</vt:lpstr>
      <vt:lpstr>Noto Sans SC</vt:lpstr>
      <vt:lpstr>宋体</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丁一</dc:creator>
  <cp:lastModifiedBy>SkyNight</cp:lastModifiedBy>
  <cp:revision>5</cp:revision>
  <dcterms:modified xsi:type="dcterms:W3CDTF">2026-06-28T09:10:31Z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{"Label":"1","ContentProducer":"001191110102MACQD9K64010000","ProduceID":"7655741361312419020","ReservedCode1":"","ContentPropagator":"","PropagateID":"","ReservedCode2":""}</vt:lpwstr>
  </property>
</Properties>
</file>